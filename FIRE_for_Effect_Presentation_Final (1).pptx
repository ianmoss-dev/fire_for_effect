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m" ContentType="video/webm"/>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webextensions/webextension1.xml" ContentType="application/vnd.ms-office.webextension+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76" r:id="rId2"/>
    <p:sldId id="256" r:id="rId3"/>
    <p:sldId id="275" r:id="rId4"/>
    <p:sldId id="297" r:id="rId5"/>
    <p:sldId id="258" r:id="rId6"/>
    <p:sldId id="259" r:id="rId7"/>
    <p:sldId id="290" r:id="rId8"/>
    <p:sldId id="270" r:id="rId9"/>
    <p:sldId id="295" r:id="rId10"/>
    <p:sldId id="296" r:id="rId11"/>
    <p:sldId id="261" r:id="rId12"/>
    <p:sldId id="288" r:id="rId13"/>
    <p:sldId id="257" r:id="rId14"/>
    <p:sldId id="282" r:id="rId15"/>
    <p:sldId id="262" r:id="rId16"/>
    <p:sldId id="289" r:id="rId17"/>
    <p:sldId id="266" r:id="rId18"/>
    <p:sldId id="286" r:id="rId19"/>
    <p:sldId id="281" r:id="rId20"/>
    <p:sldId id="278" r:id="rId21"/>
    <p:sldId id="277" r:id="rId22"/>
    <p:sldId id="273" r:id="rId23"/>
    <p:sldId id="293" r:id="rId24"/>
    <p:sldId id="268" r:id="rId25"/>
    <p:sldId id="267" r:id="rId26"/>
    <p:sldId id="294" r:id="rId27"/>
  </p:sldIdLst>
  <p:sldSz cx="9144000" cy="5143500" type="screen16x9"/>
  <p:notesSz cx="5143500" cy="9144000"/>
  <p:custDataLst>
    <p:tags r:id="rId29"/>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9E2E3C-19C2-833A-7E64-C2733464BB86}" v="8" dt="2026-03-11T23:46:49.177"/>
    <p1510:client id="{475DEB5F-E0DB-5C45-8ACE-349911360A5A}" v="925" dt="2026-03-12T20:58:24.983"/>
    <p1510:client id="{64DCABBD-DCC8-4492-822B-66F09906FC2E}" v="1187" dt="2026-03-12T19:12:39.834"/>
    <p1510:client id="{6B3B46F0-0B84-3748-969B-F61CB3380393}" v="31" dt="2026-03-11T23:33:59.567"/>
    <p1510:client id="{74FC375C-DF9D-4D1B-B5A9-52A547EDD8EF}" v="12" dt="2026-03-12T03:51:06.3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ss, Ian (MAJ)" userId="9b5ae348-2d4c-4531-ab4d-228d1c1d8cb5" providerId="ADAL" clId="{1A35070D-6FB0-4610-BBD3-AFF6784A4AE3}"/>
    <pc:docChg chg="undo custSel mod addSld delSld modSld sldOrd">
      <pc:chgData name="Moss, Ian (MAJ)" userId="9b5ae348-2d4c-4531-ab4d-228d1c1d8cb5" providerId="ADAL" clId="{1A35070D-6FB0-4610-BBD3-AFF6784A4AE3}" dt="2026-03-12T19:56:32.418" v="3068" actId="1076"/>
      <pc:docMkLst>
        <pc:docMk/>
      </pc:docMkLst>
      <pc:sldChg chg="modSp mod">
        <pc:chgData name="Moss, Ian (MAJ)" userId="9b5ae348-2d4c-4531-ab4d-228d1c1d8cb5" providerId="ADAL" clId="{1A35070D-6FB0-4610-BBD3-AFF6784A4AE3}" dt="2026-03-10T17:43:45.486" v="3"/>
        <pc:sldMkLst>
          <pc:docMk/>
          <pc:sldMk cId="0" sldId="256"/>
        </pc:sldMkLst>
        <pc:spChg chg="mod">
          <ac:chgData name="Moss, Ian (MAJ)" userId="9b5ae348-2d4c-4531-ab4d-228d1c1d8cb5" providerId="ADAL" clId="{1A35070D-6FB0-4610-BBD3-AFF6784A4AE3}" dt="2026-03-10T17:43:45.486" v="3"/>
          <ac:spMkLst>
            <pc:docMk/>
            <pc:sldMk cId="0" sldId="256"/>
            <ac:spMk id="7" creationId="{00000000-0000-0000-0000-000000000000}"/>
          </ac:spMkLst>
        </pc:spChg>
      </pc:sldChg>
      <pc:sldChg chg="modSp add del mod ord">
        <pc:chgData name="Moss, Ian (MAJ)" userId="9b5ae348-2d4c-4531-ab4d-228d1c1d8cb5" providerId="ADAL" clId="{1A35070D-6FB0-4610-BBD3-AFF6784A4AE3}" dt="2026-03-12T19:56:32.418" v="3068" actId="1076"/>
        <pc:sldMkLst>
          <pc:docMk/>
          <pc:sldMk cId="0" sldId="257"/>
        </pc:sldMkLst>
        <pc:spChg chg="mod">
          <ac:chgData name="Moss, Ian (MAJ)" userId="9b5ae348-2d4c-4531-ab4d-228d1c1d8cb5" providerId="ADAL" clId="{1A35070D-6FB0-4610-BBD3-AFF6784A4AE3}" dt="2026-03-10T23:04:41.526" v="1458" actId="20577"/>
          <ac:spMkLst>
            <pc:docMk/>
            <pc:sldMk cId="0" sldId="257"/>
            <ac:spMk id="3" creationId="{00000000-0000-0000-0000-000000000000}"/>
          </ac:spMkLst>
        </pc:spChg>
        <pc:spChg chg="mod">
          <ac:chgData name="Moss, Ian (MAJ)" userId="9b5ae348-2d4c-4531-ab4d-228d1c1d8cb5" providerId="ADAL" clId="{1A35070D-6FB0-4610-BBD3-AFF6784A4AE3}" dt="2026-03-12T19:56:32.418" v="3068" actId="1076"/>
          <ac:spMkLst>
            <pc:docMk/>
            <pc:sldMk cId="0" sldId="257"/>
            <ac:spMk id="4" creationId="{00000000-0000-0000-0000-000000000000}"/>
          </ac:spMkLst>
        </pc:spChg>
        <pc:picChg chg="mod modCrop">
          <ac:chgData name="Moss, Ian (MAJ)" userId="9b5ae348-2d4c-4531-ab4d-228d1c1d8cb5" providerId="ADAL" clId="{1A35070D-6FB0-4610-BBD3-AFF6784A4AE3}" dt="2026-03-12T19:56:22.887" v="3067" actId="732"/>
          <ac:picMkLst>
            <pc:docMk/>
            <pc:sldMk cId="0" sldId="257"/>
            <ac:picMk id="2" creationId="{00000000-0000-0000-0000-000000000000}"/>
          </ac:picMkLst>
        </pc:picChg>
      </pc:sldChg>
      <pc:sldChg chg="modSp mod">
        <pc:chgData name="Moss, Ian (MAJ)" userId="9b5ae348-2d4c-4531-ab4d-228d1c1d8cb5" providerId="ADAL" clId="{1A35070D-6FB0-4610-BBD3-AFF6784A4AE3}" dt="2026-03-12T18:54:14.727" v="3063" actId="20577"/>
        <pc:sldMkLst>
          <pc:docMk/>
          <pc:sldMk cId="0" sldId="258"/>
        </pc:sldMkLst>
        <pc:spChg chg="mod">
          <ac:chgData name="Moss, Ian (MAJ)" userId="9b5ae348-2d4c-4531-ab4d-228d1c1d8cb5" providerId="ADAL" clId="{1A35070D-6FB0-4610-BBD3-AFF6784A4AE3}" dt="2026-03-12T18:54:14.727" v="3063" actId="20577"/>
          <ac:spMkLst>
            <pc:docMk/>
            <pc:sldMk cId="0" sldId="258"/>
            <ac:spMk id="3" creationId="{00000000-0000-0000-0000-000000000000}"/>
          </ac:spMkLst>
        </pc:spChg>
        <pc:spChg chg="mod">
          <ac:chgData name="Moss, Ian (MAJ)" userId="9b5ae348-2d4c-4531-ab4d-228d1c1d8cb5" providerId="ADAL" clId="{1A35070D-6FB0-4610-BBD3-AFF6784A4AE3}" dt="2026-03-12T15:16:12.573" v="2105" actId="20577"/>
          <ac:spMkLst>
            <pc:docMk/>
            <pc:sldMk cId="0" sldId="258"/>
            <ac:spMk id="6" creationId="{00000000-0000-0000-0000-000000000000}"/>
          </ac:spMkLst>
        </pc:spChg>
        <pc:graphicFrameChg chg="modGraphic">
          <ac:chgData name="Moss, Ian (MAJ)" userId="9b5ae348-2d4c-4531-ab4d-228d1c1d8cb5" providerId="ADAL" clId="{1A35070D-6FB0-4610-BBD3-AFF6784A4AE3}" dt="2026-03-10T17:48:09.082" v="161" actId="20577"/>
          <ac:graphicFrameMkLst>
            <pc:docMk/>
            <pc:sldMk cId="0" sldId="258"/>
            <ac:graphicFrameMk id="4" creationId="{00000000-0000-0000-0000-000000000000}"/>
          </ac:graphicFrameMkLst>
        </pc:graphicFrameChg>
      </pc:sldChg>
      <pc:sldChg chg="addSp modSp mod">
        <pc:chgData name="Moss, Ian (MAJ)" userId="9b5ae348-2d4c-4531-ab4d-228d1c1d8cb5" providerId="ADAL" clId="{1A35070D-6FB0-4610-BBD3-AFF6784A4AE3}" dt="2026-03-12T15:16:54.700" v="2106" actId="20577"/>
        <pc:sldMkLst>
          <pc:docMk/>
          <pc:sldMk cId="0" sldId="259"/>
        </pc:sldMkLst>
        <pc:spChg chg="mod">
          <ac:chgData name="Moss, Ian (MAJ)" userId="9b5ae348-2d4c-4531-ab4d-228d1c1d8cb5" providerId="ADAL" clId="{1A35070D-6FB0-4610-BBD3-AFF6784A4AE3}" dt="2026-03-12T15:16:54.700" v="2106" actId="20577"/>
          <ac:spMkLst>
            <pc:docMk/>
            <pc:sldMk cId="0" sldId="259"/>
            <ac:spMk id="3" creationId="{00000000-0000-0000-0000-000000000000}"/>
          </ac:spMkLst>
        </pc:spChg>
        <pc:spChg chg="mod">
          <ac:chgData name="Moss, Ian (MAJ)" userId="9b5ae348-2d4c-4531-ab4d-228d1c1d8cb5" providerId="ADAL" clId="{1A35070D-6FB0-4610-BBD3-AFF6784A4AE3}" dt="2026-03-12T02:37:31.052" v="1686"/>
          <ac:spMkLst>
            <pc:docMk/>
            <pc:sldMk cId="0" sldId="259"/>
            <ac:spMk id="6" creationId="{00000000-0000-0000-0000-000000000000}"/>
          </ac:spMkLst>
        </pc:spChg>
        <pc:spChg chg="mod">
          <ac:chgData name="Moss, Ian (MAJ)" userId="9b5ae348-2d4c-4531-ab4d-228d1c1d8cb5" providerId="ADAL" clId="{1A35070D-6FB0-4610-BBD3-AFF6784A4AE3}" dt="2026-03-10T17:52:25.580" v="608" actId="20577"/>
          <ac:spMkLst>
            <pc:docMk/>
            <pc:sldMk cId="0" sldId="259"/>
            <ac:spMk id="7" creationId="{00000000-0000-0000-0000-000000000000}"/>
          </ac:spMkLst>
        </pc:spChg>
        <pc:spChg chg="mod">
          <ac:chgData name="Moss, Ian (MAJ)" userId="9b5ae348-2d4c-4531-ab4d-228d1c1d8cb5" providerId="ADAL" clId="{1A35070D-6FB0-4610-BBD3-AFF6784A4AE3}" dt="2026-03-12T02:37:38.191" v="1707" actId="20577"/>
          <ac:spMkLst>
            <pc:docMk/>
            <pc:sldMk cId="0" sldId="259"/>
            <ac:spMk id="10" creationId="{00000000-0000-0000-0000-000000000000}"/>
          </ac:spMkLst>
        </pc:spChg>
        <pc:spChg chg="mod">
          <ac:chgData name="Moss, Ian (MAJ)" userId="9b5ae348-2d4c-4531-ab4d-228d1c1d8cb5" providerId="ADAL" clId="{1A35070D-6FB0-4610-BBD3-AFF6784A4AE3}" dt="2026-03-11T23:51:01.346" v="1655" actId="20577"/>
          <ac:spMkLst>
            <pc:docMk/>
            <pc:sldMk cId="0" sldId="259"/>
            <ac:spMk id="11" creationId="{00000000-0000-0000-0000-000000000000}"/>
          </ac:spMkLst>
        </pc:spChg>
        <pc:spChg chg="add">
          <ac:chgData name="Moss, Ian (MAJ)" userId="9b5ae348-2d4c-4531-ab4d-228d1c1d8cb5" providerId="ADAL" clId="{1A35070D-6FB0-4610-BBD3-AFF6784A4AE3}" dt="2026-03-11T23:49:28.733" v="1637"/>
          <ac:spMkLst>
            <pc:docMk/>
            <pc:sldMk cId="0" sldId="259"/>
            <ac:spMk id="18" creationId="{2ACAFDC1-6928-31CA-A090-C32349F40A18}"/>
          </ac:spMkLst>
        </pc:spChg>
        <pc:picChg chg="add mod modCrop">
          <ac:chgData name="Moss, Ian (MAJ)" userId="9b5ae348-2d4c-4531-ab4d-228d1c1d8cb5" providerId="ADAL" clId="{1A35070D-6FB0-4610-BBD3-AFF6784A4AE3}" dt="2026-03-12T02:37:45.842" v="1710" actId="1076"/>
          <ac:picMkLst>
            <pc:docMk/>
            <pc:sldMk cId="0" sldId="259"/>
            <ac:picMk id="19" creationId="{11E777F3-6761-3B2D-0BEF-F3125C146093}"/>
          </ac:picMkLst>
        </pc:picChg>
        <pc:picChg chg="add mod modCrop">
          <ac:chgData name="Moss, Ian (MAJ)" userId="9b5ae348-2d4c-4531-ab4d-228d1c1d8cb5" providerId="ADAL" clId="{1A35070D-6FB0-4610-BBD3-AFF6784A4AE3}" dt="2026-03-12T02:37:43.311" v="1709" actId="1076"/>
          <ac:picMkLst>
            <pc:docMk/>
            <pc:sldMk cId="0" sldId="259"/>
            <ac:picMk id="20" creationId="{9122598D-9ABD-B8B0-216C-85627A1B91D6}"/>
          </ac:picMkLst>
        </pc:picChg>
        <pc:picChg chg="add mod modCrop">
          <ac:chgData name="Moss, Ian (MAJ)" userId="9b5ae348-2d4c-4531-ab4d-228d1c1d8cb5" providerId="ADAL" clId="{1A35070D-6FB0-4610-BBD3-AFF6784A4AE3}" dt="2026-03-11T23:51:28.512" v="1661" actId="1076"/>
          <ac:picMkLst>
            <pc:docMk/>
            <pc:sldMk cId="0" sldId="259"/>
            <ac:picMk id="21" creationId="{8A2FF47E-F6EE-2C8F-FC48-368BFA2768DE}"/>
          </ac:picMkLst>
        </pc:picChg>
      </pc:sldChg>
      <pc:sldChg chg="modSp mod ord">
        <pc:chgData name="Moss, Ian (MAJ)" userId="9b5ae348-2d4c-4531-ab4d-228d1c1d8cb5" providerId="ADAL" clId="{1A35070D-6FB0-4610-BBD3-AFF6784A4AE3}" dt="2026-03-12T15:32:58.958" v="2605" actId="20577"/>
        <pc:sldMkLst>
          <pc:docMk/>
          <pc:sldMk cId="0" sldId="261"/>
        </pc:sldMkLst>
        <pc:spChg chg="mod">
          <ac:chgData name="Moss, Ian (MAJ)" userId="9b5ae348-2d4c-4531-ab4d-228d1c1d8cb5" providerId="ADAL" clId="{1A35070D-6FB0-4610-BBD3-AFF6784A4AE3}" dt="2026-03-12T15:32:58.958" v="2605" actId="20577"/>
          <ac:spMkLst>
            <pc:docMk/>
            <pc:sldMk cId="0" sldId="261"/>
            <ac:spMk id="3" creationId="{00000000-0000-0000-0000-000000000000}"/>
          </ac:spMkLst>
        </pc:spChg>
        <pc:spChg chg="mod">
          <ac:chgData name="Moss, Ian (MAJ)" userId="9b5ae348-2d4c-4531-ab4d-228d1c1d8cb5" providerId="ADAL" clId="{1A35070D-6FB0-4610-BBD3-AFF6784A4AE3}" dt="2026-03-12T15:31:42.384" v="2536" actId="20577"/>
          <ac:spMkLst>
            <pc:docMk/>
            <pc:sldMk cId="0" sldId="261"/>
            <ac:spMk id="8" creationId="{00000000-0000-0000-0000-000000000000}"/>
          </ac:spMkLst>
        </pc:spChg>
        <pc:spChg chg="mod">
          <ac:chgData name="Moss, Ian (MAJ)" userId="9b5ae348-2d4c-4531-ab4d-228d1c1d8cb5" providerId="ADAL" clId="{1A35070D-6FB0-4610-BBD3-AFF6784A4AE3}" dt="2026-03-12T15:32:32.262" v="2567" actId="20577"/>
          <ac:spMkLst>
            <pc:docMk/>
            <pc:sldMk cId="0" sldId="261"/>
            <ac:spMk id="11" creationId="{00000000-0000-0000-0000-000000000000}"/>
          </ac:spMkLst>
        </pc:spChg>
      </pc:sldChg>
      <pc:sldChg chg="mod modShow">
        <pc:chgData name="Moss, Ian (MAJ)" userId="9b5ae348-2d4c-4531-ab4d-228d1c1d8cb5" providerId="ADAL" clId="{1A35070D-6FB0-4610-BBD3-AFF6784A4AE3}" dt="2026-03-10T23:27:38.174" v="1635" actId="729"/>
        <pc:sldMkLst>
          <pc:docMk/>
          <pc:sldMk cId="0" sldId="268"/>
        </pc:sldMkLst>
      </pc:sldChg>
      <pc:sldChg chg="del ord">
        <pc:chgData name="Moss, Ian (MAJ)" userId="9b5ae348-2d4c-4531-ab4d-228d1c1d8cb5" providerId="ADAL" clId="{1A35070D-6FB0-4610-BBD3-AFF6784A4AE3}" dt="2026-03-11T23:54:29.789" v="1685" actId="47"/>
        <pc:sldMkLst>
          <pc:docMk/>
          <pc:sldMk cId="0" sldId="269"/>
        </pc:sldMkLst>
      </pc:sldChg>
      <pc:sldChg chg="addSp delSp modSp mod ord modShow">
        <pc:chgData name="Moss, Ian (MAJ)" userId="9b5ae348-2d4c-4531-ab4d-228d1c1d8cb5" providerId="ADAL" clId="{1A35070D-6FB0-4610-BBD3-AFF6784A4AE3}" dt="2026-03-12T15:40:34.240" v="2804" actId="729"/>
        <pc:sldMkLst>
          <pc:docMk/>
          <pc:sldMk cId="2309673791" sldId="270"/>
        </pc:sldMkLst>
        <pc:spChg chg="add del">
          <ac:chgData name="Moss, Ian (MAJ)" userId="9b5ae348-2d4c-4531-ab4d-228d1c1d8cb5" providerId="ADAL" clId="{1A35070D-6FB0-4610-BBD3-AFF6784A4AE3}" dt="2026-03-10T17:52:39.048" v="610" actId="478"/>
          <ac:spMkLst>
            <pc:docMk/>
            <pc:sldMk cId="2309673791" sldId="270"/>
            <ac:spMk id="4" creationId="{69DB6B40-2D9E-A670-B173-C36F0CCF7319}"/>
          </ac:spMkLst>
        </pc:spChg>
        <pc:spChg chg="add mod">
          <ac:chgData name="Moss, Ian (MAJ)" userId="9b5ae348-2d4c-4531-ab4d-228d1c1d8cb5" providerId="ADAL" clId="{1A35070D-6FB0-4610-BBD3-AFF6784A4AE3}" dt="2026-03-10T17:52:46.137" v="613"/>
          <ac:spMkLst>
            <pc:docMk/>
            <pc:sldMk cId="2309673791" sldId="270"/>
            <ac:spMk id="18" creationId="{1AE1C12F-54DB-22F1-EB3F-369BC594782B}"/>
          </ac:spMkLst>
        </pc:spChg>
        <pc:spChg chg="add mod">
          <ac:chgData name="Moss, Ian (MAJ)" userId="9b5ae348-2d4c-4531-ab4d-228d1c1d8cb5" providerId="ADAL" clId="{1A35070D-6FB0-4610-BBD3-AFF6784A4AE3}" dt="2026-03-10T17:52:46.137" v="613"/>
          <ac:spMkLst>
            <pc:docMk/>
            <pc:sldMk cId="2309673791" sldId="270"/>
            <ac:spMk id="19" creationId="{0B2474CB-DD37-B3E2-294A-9FB51FFF4855}"/>
          </ac:spMkLst>
        </pc:spChg>
      </pc:sldChg>
      <pc:sldChg chg="addSp delSp modSp mod ord">
        <pc:chgData name="Moss, Ian (MAJ)" userId="9b5ae348-2d4c-4531-ab4d-228d1c1d8cb5" providerId="ADAL" clId="{1A35070D-6FB0-4610-BBD3-AFF6784A4AE3}" dt="2026-03-11T23:54:21.722" v="1682" actId="1076"/>
        <pc:sldMkLst>
          <pc:docMk/>
          <pc:sldMk cId="4170435000" sldId="273"/>
        </pc:sldMkLst>
        <pc:spChg chg="mod">
          <ac:chgData name="Moss, Ian (MAJ)" userId="9b5ae348-2d4c-4531-ab4d-228d1c1d8cb5" providerId="ADAL" clId="{1A35070D-6FB0-4610-BBD3-AFF6784A4AE3}" dt="2026-03-11T23:54:09.858" v="1678" actId="1076"/>
          <ac:spMkLst>
            <pc:docMk/>
            <pc:sldMk cId="4170435000" sldId="273"/>
            <ac:spMk id="6" creationId="{2BECE175-9C8D-3F32-D9F2-E1E260D3B613}"/>
          </ac:spMkLst>
        </pc:spChg>
        <pc:spChg chg="del">
          <ac:chgData name="Moss, Ian (MAJ)" userId="9b5ae348-2d4c-4531-ab4d-228d1c1d8cb5" providerId="ADAL" clId="{1A35070D-6FB0-4610-BBD3-AFF6784A4AE3}" dt="2026-03-11T23:53:22.120" v="1673" actId="478"/>
          <ac:spMkLst>
            <pc:docMk/>
            <pc:sldMk cId="4170435000" sldId="273"/>
            <ac:spMk id="7" creationId="{874D7F48-CA24-73A1-C2DB-D8A3C595D460}"/>
          </ac:spMkLst>
        </pc:spChg>
        <pc:spChg chg="del">
          <ac:chgData name="Moss, Ian (MAJ)" userId="9b5ae348-2d4c-4531-ab4d-228d1c1d8cb5" providerId="ADAL" clId="{1A35070D-6FB0-4610-BBD3-AFF6784A4AE3}" dt="2026-03-11T23:53:24.073" v="1674" actId="478"/>
          <ac:spMkLst>
            <pc:docMk/>
            <pc:sldMk cId="4170435000" sldId="273"/>
            <ac:spMk id="10" creationId="{D3E89687-9655-207E-1989-5AC0B2DC5814}"/>
          </ac:spMkLst>
        </pc:spChg>
        <pc:picChg chg="add mod">
          <ac:chgData name="Moss, Ian (MAJ)" userId="9b5ae348-2d4c-4531-ab4d-228d1c1d8cb5" providerId="ADAL" clId="{1A35070D-6FB0-4610-BBD3-AFF6784A4AE3}" dt="2026-03-11T23:54:21.722" v="1682" actId="1076"/>
          <ac:picMkLst>
            <pc:docMk/>
            <pc:sldMk cId="4170435000" sldId="273"/>
            <ac:picMk id="4" creationId="{9A0E4A4D-3BB7-C343-B9A7-3F5103B004B2}"/>
          </ac:picMkLst>
        </pc:picChg>
      </pc:sldChg>
      <pc:sldChg chg="modSp mod">
        <pc:chgData name="Moss, Ian (MAJ)" userId="9b5ae348-2d4c-4531-ab4d-228d1c1d8cb5" providerId="ADAL" clId="{1A35070D-6FB0-4610-BBD3-AFF6784A4AE3}" dt="2026-03-12T15:35:20.206" v="2608" actId="1076"/>
        <pc:sldMkLst>
          <pc:docMk/>
          <pc:sldMk cId="0" sldId="275"/>
        </pc:sldMkLst>
        <pc:spChg chg="mod">
          <ac:chgData name="Moss, Ian (MAJ)" userId="9b5ae348-2d4c-4531-ab4d-228d1c1d8cb5" providerId="ADAL" clId="{1A35070D-6FB0-4610-BBD3-AFF6784A4AE3}" dt="2026-03-12T15:06:49.134" v="1767" actId="20577"/>
          <ac:spMkLst>
            <pc:docMk/>
            <pc:sldMk cId="0" sldId="275"/>
            <ac:spMk id="10" creationId="{00000000-0000-0000-0000-000000000000}"/>
          </ac:spMkLst>
        </pc:spChg>
        <pc:spChg chg="mod">
          <ac:chgData name="Moss, Ian (MAJ)" userId="9b5ae348-2d4c-4531-ab4d-228d1c1d8cb5" providerId="ADAL" clId="{1A35070D-6FB0-4610-BBD3-AFF6784A4AE3}" dt="2026-03-12T15:07:04.962" v="1780" actId="20577"/>
          <ac:spMkLst>
            <pc:docMk/>
            <pc:sldMk cId="0" sldId="275"/>
            <ac:spMk id="12" creationId="{00000000-0000-0000-0000-000000000000}"/>
          </ac:spMkLst>
        </pc:spChg>
        <pc:spChg chg="mod">
          <ac:chgData name="Moss, Ian (MAJ)" userId="9b5ae348-2d4c-4531-ab4d-228d1c1d8cb5" providerId="ADAL" clId="{1A35070D-6FB0-4610-BBD3-AFF6784A4AE3}" dt="2026-03-12T15:07:14.039" v="1793" actId="20577"/>
          <ac:spMkLst>
            <pc:docMk/>
            <pc:sldMk cId="0" sldId="275"/>
            <ac:spMk id="13" creationId="{00000000-0000-0000-0000-000000000000}"/>
          </ac:spMkLst>
        </pc:spChg>
        <pc:spChg chg="mod">
          <ac:chgData name="Moss, Ian (MAJ)" userId="9b5ae348-2d4c-4531-ab4d-228d1c1d8cb5" providerId="ADAL" clId="{1A35070D-6FB0-4610-BBD3-AFF6784A4AE3}" dt="2026-03-12T15:08:44.230" v="1828" actId="20577"/>
          <ac:spMkLst>
            <pc:docMk/>
            <pc:sldMk cId="0" sldId="275"/>
            <ac:spMk id="15" creationId="{00000000-0000-0000-0000-000000000000}"/>
          </ac:spMkLst>
        </pc:spChg>
        <pc:spChg chg="mod">
          <ac:chgData name="Moss, Ian (MAJ)" userId="9b5ae348-2d4c-4531-ab4d-228d1c1d8cb5" providerId="ADAL" clId="{1A35070D-6FB0-4610-BBD3-AFF6784A4AE3}" dt="2026-03-12T15:08:50.465" v="1832" actId="20577"/>
          <ac:spMkLst>
            <pc:docMk/>
            <pc:sldMk cId="0" sldId="275"/>
            <ac:spMk id="16" creationId="{00000000-0000-0000-0000-000000000000}"/>
          </ac:spMkLst>
        </pc:spChg>
        <pc:spChg chg="mod">
          <ac:chgData name="Moss, Ian (MAJ)" userId="9b5ae348-2d4c-4531-ab4d-228d1c1d8cb5" providerId="ADAL" clId="{1A35070D-6FB0-4610-BBD3-AFF6784A4AE3}" dt="2026-03-12T15:09:22.285" v="1931" actId="20577"/>
          <ac:spMkLst>
            <pc:docMk/>
            <pc:sldMk cId="0" sldId="275"/>
            <ac:spMk id="17" creationId="{00000000-0000-0000-0000-000000000000}"/>
          </ac:spMkLst>
        </pc:spChg>
        <pc:spChg chg="mod">
          <ac:chgData name="Moss, Ian (MAJ)" userId="9b5ae348-2d4c-4531-ab4d-228d1c1d8cb5" providerId="ADAL" clId="{1A35070D-6FB0-4610-BBD3-AFF6784A4AE3}" dt="2026-03-12T15:09:32.945" v="1938" actId="20577"/>
          <ac:spMkLst>
            <pc:docMk/>
            <pc:sldMk cId="0" sldId="275"/>
            <ac:spMk id="18" creationId="{00000000-0000-0000-0000-000000000000}"/>
          </ac:spMkLst>
        </pc:spChg>
        <pc:spChg chg="mod">
          <ac:chgData name="Moss, Ian (MAJ)" userId="9b5ae348-2d4c-4531-ab4d-228d1c1d8cb5" providerId="ADAL" clId="{1A35070D-6FB0-4610-BBD3-AFF6784A4AE3}" dt="2026-03-10T17:44:26.751" v="30" actId="20577"/>
          <ac:spMkLst>
            <pc:docMk/>
            <pc:sldMk cId="0" sldId="275"/>
            <ac:spMk id="21" creationId="{00000000-0000-0000-0000-000000000000}"/>
          </ac:spMkLst>
        </pc:spChg>
        <pc:spChg chg="mod">
          <ac:chgData name="Moss, Ian (MAJ)" userId="9b5ae348-2d4c-4531-ab4d-228d1c1d8cb5" providerId="ADAL" clId="{1A35070D-6FB0-4610-BBD3-AFF6784A4AE3}" dt="2026-03-12T15:06:08.870" v="1765" actId="20577"/>
          <ac:spMkLst>
            <pc:docMk/>
            <pc:sldMk cId="0" sldId="275"/>
            <ac:spMk id="22" creationId="{00000000-0000-0000-0000-000000000000}"/>
          </ac:spMkLst>
        </pc:spChg>
        <pc:spChg chg="mod">
          <ac:chgData name="Moss, Ian (MAJ)" userId="9b5ae348-2d4c-4531-ab4d-228d1c1d8cb5" providerId="ADAL" clId="{1A35070D-6FB0-4610-BBD3-AFF6784A4AE3}" dt="2026-03-12T15:35:20.206" v="2608" actId="1076"/>
          <ac:spMkLst>
            <pc:docMk/>
            <pc:sldMk cId="0" sldId="275"/>
            <ac:spMk id="23" creationId="{00000000-0000-0000-0000-000000000000}"/>
          </ac:spMkLst>
        </pc:spChg>
        <pc:spChg chg="mod">
          <ac:chgData name="Moss, Ian (MAJ)" userId="9b5ae348-2d4c-4531-ab4d-228d1c1d8cb5" providerId="ADAL" clId="{1A35070D-6FB0-4610-BBD3-AFF6784A4AE3}" dt="2026-03-12T15:10:19.883" v="1949" actId="20577"/>
          <ac:spMkLst>
            <pc:docMk/>
            <pc:sldMk cId="0" sldId="275"/>
            <ac:spMk id="27" creationId="{00000000-0000-0000-0000-000000000000}"/>
          </ac:spMkLst>
        </pc:spChg>
      </pc:sldChg>
      <pc:sldChg chg="addSp mod modShow">
        <pc:chgData name="Moss, Ian (MAJ)" userId="9b5ae348-2d4c-4531-ab4d-228d1c1d8cb5" providerId="ADAL" clId="{1A35070D-6FB0-4610-BBD3-AFF6784A4AE3}" dt="2026-03-10T23:27:49.007" v="1636" actId="729"/>
        <pc:sldMkLst>
          <pc:docMk/>
          <pc:sldMk cId="3373294422" sldId="276"/>
        </pc:sldMkLst>
        <pc:graphicFrameChg chg="add">
          <ac:chgData name="Moss, Ian (MAJ)" userId="9b5ae348-2d4c-4531-ab4d-228d1c1d8cb5" providerId="ADAL" clId="{1A35070D-6FB0-4610-BBD3-AFF6784A4AE3}" dt="2026-03-10T17:22:17.330" v="0"/>
          <ac:graphicFrameMkLst>
            <pc:docMk/>
            <pc:sldMk cId="3373294422" sldId="276"/>
            <ac:graphicFrameMk id="3" creationId="{5B4C9B57-617D-70A3-1E23-AB40D967E0D0}"/>
          </ac:graphicFrameMkLst>
        </pc:graphicFrameChg>
      </pc:sldChg>
      <pc:sldChg chg="delSp modSp add del mod ord setBg">
        <pc:chgData name="Moss, Ian (MAJ)" userId="9b5ae348-2d4c-4531-ab4d-228d1c1d8cb5" providerId="ADAL" clId="{1A35070D-6FB0-4610-BBD3-AFF6784A4AE3}" dt="2026-03-11T23:51:55.536" v="1663"/>
        <pc:sldMkLst>
          <pc:docMk/>
          <pc:sldMk cId="0" sldId="277"/>
        </pc:sldMkLst>
        <pc:spChg chg="mod">
          <ac:chgData name="Moss, Ian (MAJ)" userId="9b5ae348-2d4c-4531-ab4d-228d1c1d8cb5" providerId="ADAL" clId="{1A35070D-6FB0-4610-BBD3-AFF6784A4AE3}" dt="2026-03-10T18:08:49.285" v="886" actId="20577"/>
          <ac:spMkLst>
            <pc:docMk/>
            <pc:sldMk cId="0" sldId="277"/>
            <ac:spMk id="9" creationId="{00000000-0000-0000-0000-000000000000}"/>
          </ac:spMkLst>
        </pc:spChg>
        <pc:spChg chg="mod">
          <ac:chgData name="Moss, Ian (MAJ)" userId="9b5ae348-2d4c-4531-ab4d-228d1c1d8cb5" providerId="ADAL" clId="{1A35070D-6FB0-4610-BBD3-AFF6784A4AE3}" dt="2026-03-10T18:08:59.640" v="915" actId="20577"/>
          <ac:spMkLst>
            <pc:docMk/>
            <pc:sldMk cId="0" sldId="277"/>
            <ac:spMk id="10" creationId="{00000000-0000-0000-0000-000000000000}"/>
          </ac:spMkLst>
        </pc:spChg>
        <pc:spChg chg="mod">
          <ac:chgData name="Moss, Ian (MAJ)" userId="9b5ae348-2d4c-4531-ab4d-228d1c1d8cb5" providerId="ADAL" clId="{1A35070D-6FB0-4610-BBD3-AFF6784A4AE3}" dt="2026-03-10T18:07:44.362" v="827" actId="20577"/>
          <ac:spMkLst>
            <pc:docMk/>
            <pc:sldMk cId="0" sldId="277"/>
            <ac:spMk id="13" creationId="{00000000-0000-0000-0000-000000000000}"/>
          </ac:spMkLst>
        </pc:spChg>
      </pc:sldChg>
      <pc:sldChg chg="delSp add mod ord">
        <pc:chgData name="Moss, Ian (MAJ)" userId="9b5ae348-2d4c-4531-ab4d-228d1c1d8cb5" providerId="ADAL" clId="{1A35070D-6FB0-4610-BBD3-AFF6784A4AE3}" dt="2026-03-11T23:51:55.536" v="1663"/>
        <pc:sldMkLst>
          <pc:docMk/>
          <pc:sldMk cId="3321187221" sldId="278"/>
        </pc:sldMkLst>
      </pc:sldChg>
      <pc:sldChg chg="addSp delSp modSp add mod ord">
        <pc:chgData name="Moss, Ian (MAJ)" userId="9b5ae348-2d4c-4531-ab4d-228d1c1d8cb5" providerId="ADAL" clId="{1A35070D-6FB0-4610-BBD3-AFF6784A4AE3}" dt="2026-03-10T23:08:49.453" v="1604" actId="20577"/>
        <pc:sldMkLst>
          <pc:docMk/>
          <pc:sldMk cId="838522839" sldId="281"/>
        </pc:sldMkLst>
        <pc:spChg chg="mod">
          <ac:chgData name="Moss, Ian (MAJ)" userId="9b5ae348-2d4c-4531-ab4d-228d1c1d8cb5" providerId="ADAL" clId="{1A35070D-6FB0-4610-BBD3-AFF6784A4AE3}" dt="2026-03-10T23:06:54.591" v="1479" actId="1076"/>
          <ac:spMkLst>
            <pc:docMk/>
            <pc:sldMk cId="838522839" sldId="281"/>
            <ac:spMk id="7" creationId="{46FD34DE-02CB-445E-4697-7437B583F379}"/>
          </ac:spMkLst>
        </pc:spChg>
        <pc:spChg chg="mod">
          <ac:chgData name="Moss, Ian (MAJ)" userId="9b5ae348-2d4c-4531-ab4d-228d1c1d8cb5" providerId="ADAL" clId="{1A35070D-6FB0-4610-BBD3-AFF6784A4AE3}" dt="2026-03-10T23:07:23.377" v="1481"/>
          <ac:spMkLst>
            <pc:docMk/>
            <pc:sldMk cId="838522839" sldId="281"/>
            <ac:spMk id="10" creationId="{97B18AF0-414E-9534-FF76-20B453A213CA}"/>
          </ac:spMkLst>
        </pc:spChg>
        <pc:spChg chg="add mod">
          <ac:chgData name="Moss, Ian (MAJ)" userId="9b5ae348-2d4c-4531-ab4d-228d1c1d8cb5" providerId="ADAL" clId="{1A35070D-6FB0-4610-BBD3-AFF6784A4AE3}" dt="2026-03-10T23:08:49.453" v="1604" actId="20577"/>
          <ac:spMkLst>
            <pc:docMk/>
            <pc:sldMk cId="838522839" sldId="281"/>
            <ac:spMk id="13" creationId="{D3F1E7A9-E23D-5EC8-F503-BED8C74ED0F5}"/>
          </ac:spMkLst>
        </pc:spChg>
        <pc:spChg chg="add mod">
          <ac:chgData name="Moss, Ian (MAJ)" userId="9b5ae348-2d4c-4531-ab4d-228d1c1d8cb5" providerId="ADAL" clId="{1A35070D-6FB0-4610-BBD3-AFF6784A4AE3}" dt="2026-03-10T23:06:49.055" v="1476" actId="1076"/>
          <ac:spMkLst>
            <pc:docMk/>
            <pc:sldMk cId="838522839" sldId="281"/>
            <ac:spMk id="15" creationId="{52F9529F-8756-D6B3-E35B-78DF40FDA0D8}"/>
          </ac:spMkLst>
        </pc:spChg>
      </pc:sldChg>
      <pc:sldChg chg="mod modShow">
        <pc:chgData name="Moss, Ian (MAJ)" userId="9b5ae348-2d4c-4531-ab4d-228d1c1d8cb5" providerId="ADAL" clId="{1A35070D-6FB0-4610-BBD3-AFF6784A4AE3}" dt="2026-03-12T19:12:39.834" v="3065" actId="729"/>
        <pc:sldMkLst>
          <pc:docMk/>
          <pc:sldMk cId="3638979675" sldId="282"/>
        </pc:sldMkLst>
      </pc:sldChg>
      <pc:sldChg chg="addSp delSp modSp add mod">
        <pc:chgData name="Moss, Ian (MAJ)" userId="9b5ae348-2d4c-4531-ab4d-228d1c1d8cb5" providerId="ADAL" clId="{1A35070D-6FB0-4610-BBD3-AFF6784A4AE3}" dt="2026-03-10T23:27:18.018" v="1633"/>
        <pc:sldMkLst>
          <pc:docMk/>
          <pc:sldMk cId="879579437" sldId="286"/>
        </pc:sldMkLst>
        <pc:picChg chg="add mod">
          <ac:chgData name="Moss, Ian (MAJ)" userId="9b5ae348-2d4c-4531-ab4d-228d1c1d8cb5" providerId="ADAL" clId="{1A35070D-6FB0-4610-BBD3-AFF6784A4AE3}" dt="2026-03-10T23:27:18.018" v="1633"/>
          <ac:picMkLst>
            <pc:docMk/>
            <pc:sldMk cId="879579437" sldId="286"/>
            <ac:picMk id="6" creationId="{33020D7D-5F8B-D7DA-CF81-841D5893BCDD}"/>
          </ac:picMkLst>
        </pc:picChg>
        <pc:picChg chg="add mod">
          <ac:chgData name="Moss, Ian (MAJ)" userId="9b5ae348-2d4c-4531-ab4d-228d1c1d8cb5" providerId="ADAL" clId="{1A35070D-6FB0-4610-BBD3-AFF6784A4AE3}" dt="2026-03-10T23:27:18.018" v="1633"/>
          <ac:picMkLst>
            <pc:docMk/>
            <pc:sldMk cId="879579437" sldId="286"/>
            <ac:picMk id="9" creationId="{7BC7C6DD-7AED-5A53-BCCE-8364911E3E30}"/>
          </ac:picMkLst>
        </pc:picChg>
      </pc:sldChg>
      <pc:sldChg chg="delSp modSp mod">
        <pc:chgData name="Moss, Ian (MAJ)" userId="9b5ae348-2d4c-4531-ab4d-228d1c1d8cb5" providerId="ADAL" clId="{1A35070D-6FB0-4610-BBD3-AFF6784A4AE3}" dt="2026-03-12T19:00:59.789" v="3064" actId="478"/>
        <pc:sldMkLst>
          <pc:docMk/>
          <pc:sldMk cId="0" sldId="288"/>
        </pc:sldMkLst>
        <pc:spChg chg="mod">
          <ac:chgData name="Moss, Ian (MAJ)" userId="9b5ae348-2d4c-4531-ab4d-228d1c1d8cb5" providerId="ADAL" clId="{1A35070D-6FB0-4610-BBD3-AFF6784A4AE3}" dt="2026-03-12T15:43:00.992" v="2912" actId="20577"/>
          <ac:spMkLst>
            <pc:docMk/>
            <pc:sldMk cId="0" sldId="288"/>
            <ac:spMk id="34" creationId="{00000000-0000-0000-0000-000000000000}"/>
          </ac:spMkLst>
        </pc:spChg>
        <pc:spChg chg="del">
          <ac:chgData name="Moss, Ian (MAJ)" userId="9b5ae348-2d4c-4531-ab4d-228d1c1d8cb5" providerId="ADAL" clId="{1A35070D-6FB0-4610-BBD3-AFF6784A4AE3}" dt="2026-03-12T19:00:59.789" v="3064" actId="478"/>
          <ac:spMkLst>
            <pc:docMk/>
            <pc:sldMk cId="0" sldId="288"/>
            <ac:spMk id="35" creationId="{00000000-0000-0000-0000-000000000000}"/>
          </ac:spMkLst>
        </pc:spChg>
      </pc:sldChg>
      <pc:sldChg chg="modSp add mod setBg modShow">
        <pc:chgData name="Moss, Ian (MAJ)" userId="9b5ae348-2d4c-4531-ab4d-228d1c1d8cb5" providerId="ADAL" clId="{1A35070D-6FB0-4610-BBD3-AFF6784A4AE3}" dt="2026-03-11T23:50:48.803" v="1653" actId="1038"/>
        <pc:sldMkLst>
          <pc:docMk/>
          <pc:sldMk cId="2684033840" sldId="290"/>
        </pc:sldMkLst>
        <pc:spChg chg="mod">
          <ac:chgData name="Moss, Ian (MAJ)" userId="9b5ae348-2d4c-4531-ab4d-228d1c1d8cb5" providerId="ADAL" clId="{1A35070D-6FB0-4610-BBD3-AFF6784A4AE3}" dt="2026-03-11T23:50:46.412" v="1652" actId="20577"/>
          <ac:spMkLst>
            <pc:docMk/>
            <pc:sldMk cId="2684033840" sldId="290"/>
            <ac:spMk id="11" creationId="{5F26E3AC-272F-D204-C655-D27CB480FDD6}"/>
          </ac:spMkLst>
        </pc:spChg>
        <pc:picChg chg="mod">
          <ac:chgData name="Moss, Ian (MAJ)" userId="9b5ae348-2d4c-4531-ab4d-228d1c1d8cb5" providerId="ADAL" clId="{1A35070D-6FB0-4610-BBD3-AFF6784A4AE3}" dt="2026-03-11T23:50:48.803" v="1653" actId="1038"/>
          <ac:picMkLst>
            <pc:docMk/>
            <pc:sldMk cId="2684033840" sldId="290"/>
            <ac:picMk id="20" creationId="{ECC10648-8806-E141-992F-BBC44461614A}"/>
          </ac:picMkLst>
        </pc:picChg>
      </pc:sldChg>
      <pc:sldChg chg="add del setBg">
        <pc:chgData name="Moss, Ian (MAJ)" userId="9b5ae348-2d4c-4531-ab4d-228d1c1d8cb5" providerId="ADAL" clId="{1A35070D-6FB0-4610-BBD3-AFF6784A4AE3}" dt="2026-03-11T23:53:03.725" v="1670" actId="47"/>
        <pc:sldMkLst>
          <pc:docMk/>
          <pc:sldMk cId="3621381006" sldId="291"/>
        </pc:sldMkLst>
      </pc:sldChg>
      <pc:sldChg chg="add del setBg">
        <pc:chgData name="Moss, Ian (MAJ)" userId="9b5ae348-2d4c-4531-ab4d-228d1c1d8cb5" providerId="ADAL" clId="{1A35070D-6FB0-4610-BBD3-AFF6784A4AE3}" dt="2026-03-11T23:53:02.743" v="1669" actId="47"/>
        <pc:sldMkLst>
          <pc:docMk/>
          <pc:sldMk cId="1848591182" sldId="292"/>
        </pc:sldMkLst>
      </pc:sldChg>
      <pc:sldChg chg="addSp delSp add mod">
        <pc:chgData name="Moss, Ian (MAJ)" userId="9b5ae348-2d4c-4531-ab4d-228d1c1d8cb5" providerId="ADAL" clId="{1A35070D-6FB0-4610-BBD3-AFF6784A4AE3}" dt="2026-03-11T23:53:10.810" v="1672" actId="478"/>
        <pc:sldMkLst>
          <pc:docMk/>
          <pc:sldMk cId="1936413323" sldId="293"/>
        </pc:sldMkLst>
        <pc:spChg chg="del">
          <ac:chgData name="Moss, Ian (MAJ)" userId="9b5ae348-2d4c-4531-ab4d-228d1c1d8cb5" providerId="ADAL" clId="{1A35070D-6FB0-4610-BBD3-AFF6784A4AE3}" dt="2026-03-11T23:53:01.246" v="1668" actId="478"/>
          <ac:spMkLst>
            <pc:docMk/>
            <pc:sldMk cId="1936413323" sldId="293"/>
            <ac:spMk id="3" creationId="{16F52908-8955-38C0-7C7C-C4001CEF6C24}"/>
          </ac:spMkLst>
        </pc:spChg>
        <pc:spChg chg="del">
          <ac:chgData name="Moss, Ian (MAJ)" userId="9b5ae348-2d4c-4531-ab4d-228d1c1d8cb5" providerId="ADAL" clId="{1A35070D-6FB0-4610-BBD3-AFF6784A4AE3}" dt="2026-03-11T23:52:59.388" v="1667" actId="478"/>
          <ac:spMkLst>
            <pc:docMk/>
            <pc:sldMk cId="1936413323" sldId="293"/>
            <ac:spMk id="4" creationId="{2E12EC5B-E64B-F778-FE51-410A0DF68255}"/>
          </ac:spMkLst>
        </pc:spChg>
        <pc:picChg chg="add del">
          <ac:chgData name="Moss, Ian (MAJ)" userId="9b5ae348-2d4c-4531-ab4d-228d1c1d8cb5" providerId="ADAL" clId="{1A35070D-6FB0-4610-BBD3-AFF6784A4AE3}" dt="2026-03-11T23:53:10.810" v="1672" actId="478"/>
          <ac:picMkLst>
            <pc:docMk/>
            <pc:sldMk cId="1936413323" sldId="293"/>
            <ac:picMk id="5" creationId="{5DB4F95C-FBA8-CB06-C7C8-C81B0C8FF38C}"/>
          </ac:picMkLst>
        </pc:picChg>
      </pc:sldChg>
      <pc:sldChg chg="addSp new mod">
        <pc:chgData name="Moss, Ian (MAJ)" userId="9b5ae348-2d4c-4531-ab4d-228d1c1d8cb5" providerId="ADAL" clId="{1A35070D-6FB0-4610-BBD3-AFF6784A4AE3}" dt="2026-03-12T15:01:21.471" v="1717" actId="22"/>
        <pc:sldMkLst>
          <pc:docMk/>
          <pc:sldMk cId="877729097" sldId="294"/>
        </pc:sldMkLst>
        <pc:picChg chg="add">
          <ac:chgData name="Moss, Ian (MAJ)" userId="9b5ae348-2d4c-4531-ab4d-228d1c1d8cb5" providerId="ADAL" clId="{1A35070D-6FB0-4610-BBD3-AFF6784A4AE3}" dt="2026-03-12T15:01:21.471" v="1717" actId="22"/>
          <ac:picMkLst>
            <pc:docMk/>
            <pc:sldMk cId="877729097" sldId="294"/>
            <ac:picMk id="3" creationId="{C7952A5E-2FBD-06C3-8B88-E2E0E90C640A}"/>
          </ac:picMkLst>
        </pc:picChg>
      </pc:sldChg>
      <pc:sldChg chg="add del setBg">
        <pc:chgData name="Moss, Ian (MAJ)" userId="9b5ae348-2d4c-4531-ab4d-228d1c1d8cb5" providerId="ADAL" clId="{1A35070D-6FB0-4610-BBD3-AFF6784A4AE3}" dt="2026-03-11T23:54:26.469" v="1684" actId="47"/>
        <pc:sldMkLst>
          <pc:docMk/>
          <pc:sldMk cId="4164780994" sldId="294"/>
        </pc:sldMkLst>
      </pc:sldChg>
      <pc:sldChg chg="addSp modSp add del">
        <pc:chgData name="Moss, Ian (MAJ)" userId="9b5ae348-2d4c-4531-ab4d-228d1c1d8cb5" providerId="ADAL" clId="{1A35070D-6FB0-4610-BBD3-AFF6784A4AE3}" dt="2026-03-11T23:54:24.089" v="1683" actId="47"/>
        <pc:sldMkLst>
          <pc:docMk/>
          <pc:sldMk cId="3873239354" sldId="295"/>
        </pc:sldMkLst>
        <pc:picChg chg="add mod">
          <ac:chgData name="Moss, Ian (MAJ)" userId="9b5ae348-2d4c-4531-ab4d-228d1c1d8cb5" providerId="ADAL" clId="{1A35070D-6FB0-4610-BBD3-AFF6784A4AE3}" dt="2026-03-11T23:54:01.782" v="1677"/>
          <ac:picMkLst>
            <pc:docMk/>
            <pc:sldMk cId="3873239354" sldId="295"/>
            <ac:picMk id="4" creationId="{4EFB99A5-38B8-5819-3446-0F535BD123B7}"/>
          </ac:picMkLst>
        </pc:picChg>
      </pc:sldChg>
      <pc:sldChg chg="addSp delSp modSp add mod modShow">
        <pc:chgData name="Moss, Ian (MAJ)" userId="9b5ae348-2d4c-4531-ab4d-228d1c1d8cb5" providerId="ADAL" clId="{1A35070D-6FB0-4610-BBD3-AFF6784A4AE3}" dt="2026-03-12T15:42:24.339" v="2904" actId="20577"/>
        <pc:sldMkLst>
          <pc:docMk/>
          <pc:sldMk cId="4074102631" sldId="295"/>
        </pc:sldMkLst>
        <pc:spChg chg="mod">
          <ac:chgData name="Moss, Ian (MAJ)" userId="9b5ae348-2d4c-4531-ab4d-228d1c1d8cb5" providerId="ADAL" clId="{1A35070D-6FB0-4610-BBD3-AFF6784A4AE3}" dt="2026-03-12T15:25:38.935" v="2219" actId="20577"/>
          <ac:spMkLst>
            <pc:docMk/>
            <pc:sldMk cId="4074102631" sldId="295"/>
            <ac:spMk id="8" creationId="{5661B62B-8485-1158-E337-6F0036F411BF}"/>
          </ac:spMkLst>
        </pc:spChg>
        <pc:spChg chg="mod">
          <ac:chgData name="Moss, Ian (MAJ)" userId="9b5ae348-2d4c-4531-ab4d-228d1c1d8cb5" providerId="ADAL" clId="{1A35070D-6FB0-4610-BBD3-AFF6784A4AE3}" dt="2026-03-12T15:26:21.617" v="2241" actId="20577"/>
          <ac:spMkLst>
            <pc:docMk/>
            <pc:sldMk cId="4074102631" sldId="295"/>
            <ac:spMk id="11" creationId="{25FE01F4-7C20-5B56-A882-73B64E902823}"/>
          </ac:spMkLst>
        </pc:spChg>
        <pc:spChg chg="mod">
          <ac:chgData name="Moss, Ian (MAJ)" userId="9b5ae348-2d4c-4531-ab4d-228d1c1d8cb5" providerId="ADAL" clId="{1A35070D-6FB0-4610-BBD3-AFF6784A4AE3}" dt="2026-03-12T15:41:03.532" v="2807" actId="1076"/>
          <ac:spMkLst>
            <pc:docMk/>
            <pc:sldMk cId="4074102631" sldId="295"/>
            <ac:spMk id="12" creationId="{80FE0ADB-BC21-D9B0-F399-790F81E11023}"/>
          </ac:spMkLst>
        </pc:spChg>
        <pc:spChg chg="mod">
          <ac:chgData name="Moss, Ian (MAJ)" userId="9b5ae348-2d4c-4531-ab4d-228d1c1d8cb5" providerId="ADAL" clId="{1A35070D-6FB0-4610-BBD3-AFF6784A4AE3}" dt="2026-03-12T15:41:15.812" v="2841" actId="20577"/>
          <ac:spMkLst>
            <pc:docMk/>
            <pc:sldMk cId="4074102631" sldId="295"/>
            <ac:spMk id="14" creationId="{079E7906-D3B3-D5BD-11CF-1B7840DB15BA}"/>
          </ac:spMkLst>
        </pc:spChg>
        <pc:spChg chg="mod">
          <ac:chgData name="Moss, Ian (MAJ)" userId="9b5ae348-2d4c-4531-ab4d-228d1c1d8cb5" providerId="ADAL" clId="{1A35070D-6FB0-4610-BBD3-AFF6784A4AE3}" dt="2026-03-12T15:24:40.612" v="2129" actId="20577"/>
          <ac:spMkLst>
            <pc:docMk/>
            <pc:sldMk cId="4074102631" sldId="295"/>
            <ac:spMk id="19" creationId="{8E6D564C-4D91-14C5-289F-423A0B842270}"/>
          </ac:spMkLst>
        </pc:spChg>
        <pc:spChg chg="mod">
          <ac:chgData name="Moss, Ian (MAJ)" userId="9b5ae348-2d4c-4531-ab4d-228d1c1d8cb5" providerId="ADAL" clId="{1A35070D-6FB0-4610-BBD3-AFF6784A4AE3}" dt="2026-03-12T15:40:44.631" v="2805" actId="1076"/>
          <ac:spMkLst>
            <pc:docMk/>
            <pc:sldMk cId="4074102631" sldId="295"/>
            <ac:spMk id="20" creationId="{1CE50B89-0D83-D236-A235-B2996769DE17}"/>
          </ac:spMkLst>
        </pc:spChg>
        <pc:spChg chg="mod">
          <ac:chgData name="Moss, Ian (MAJ)" userId="9b5ae348-2d4c-4531-ab4d-228d1c1d8cb5" providerId="ADAL" clId="{1A35070D-6FB0-4610-BBD3-AFF6784A4AE3}" dt="2026-03-12T15:41:24.971" v="2847" actId="20577"/>
          <ac:spMkLst>
            <pc:docMk/>
            <pc:sldMk cId="4074102631" sldId="295"/>
            <ac:spMk id="26" creationId="{02F815C9-05B1-1520-95CE-D666AD2C6D9E}"/>
          </ac:spMkLst>
        </pc:spChg>
        <pc:spChg chg="mod">
          <ac:chgData name="Moss, Ian (MAJ)" userId="9b5ae348-2d4c-4531-ab4d-228d1c1d8cb5" providerId="ADAL" clId="{1A35070D-6FB0-4610-BBD3-AFF6784A4AE3}" dt="2026-03-12T15:42:24.339" v="2904" actId="20577"/>
          <ac:spMkLst>
            <pc:docMk/>
            <pc:sldMk cId="4074102631" sldId="295"/>
            <ac:spMk id="34" creationId="{536F671A-2A25-298D-292C-4F30C4A0F236}"/>
          </ac:spMkLst>
        </pc:spChg>
        <pc:picChg chg="del">
          <ac:chgData name="Moss, Ian (MAJ)" userId="9b5ae348-2d4c-4531-ab4d-228d1c1d8cb5" providerId="ADAL" clId="{1A35070D-6FB0-4610-BBD3-AFF6784A4AE3}" dt="2026-03-12T15:41:37.287" v="2849" actId="478"/>
          <ac:picMkLst>
            <pc:docMk/>
            <pc:sldMk cId="4074102631" sldId="295"/>
            <ac:picMk id="33" creationId="{782DCF45-E8B7-E7B3-8664-F2F55072302B}"/>
          </ac:picMkLst>
        </pc:picChg>
        <pc:picChg chg="add mod">
          <ac:chgData name="Moss, Ian (MAJ)" userId="9b5ae348-2d4c-4531-ab4d-228d1c1d8cb5" providerId="ADAL" clId="{1A35070D-6FB0-4610-BBD3-AFF6784A4AE3}" dt="2026-03-12T15:41:34.915" v="2848"/>
          <ac:picMkLst>
            <pc:docMk/>
            <pc:sldMk cId="4074102631" sldId="295"/>
            <ac:picMk id="36" creationId="{370B93B5-0F18-B808-2455-8E61925ADE68}"/>
          </ac:picMkLst>
        </pc:picChg>
        <pc:picChg chg="add mod">
          <ac:chgData name="Moss, Ian (MAJ)" userId="9b5ae348-2d4c-4531-ab4d-228d1c1d8cb5" providerId="ADAL" clId="{1A35070D-6FB0-4610-BBD3-AFF6784A4AE3}" dt="2026-03-12T15:41:53.109" v="2857" actId="14100"/>
          <ac:picMkLst>
            <pc:docMk/>
            <pc:sldMk cId="4074102631" sldId="295"/>
            <ac:picMk id="37" creationId="{D999044C-E18A-F61D-FE4D-B89F878CE658}"/>
          </ac:picMkLst>
        </pc:picChg>
      </pc:sldChg>
      <pc:sldChg chg="modSp new mod">
        <pc:chgData name="Moss, Ian (MAJ)" userId="9b5ae348-2d4c-4531-ab4d-228d1c1d8cb5" providerId="ADAL" clId="{1A35070D-6FB0-4610-BBD3-AFF6784A4AE3}" dt="2026-03-12T15:23:11.815" v="2110" actId="14100"/>
        <pc:sldMkLst>
          <pc:docMk/>
          <pc:sldMk cId="1800303710" sldId="296"/>
        </pc:sldMkLst>
        <pc:picChg chg="mod">
          <ac:chgData name="Moss, Ian (MAJ)" userId="9b5ae348-2d4c-4531-ab4d-228d1c1d8cb5" providerId="ADAL" clId="{1A35070D-6FB0-4610-BBD3-AFF6784A4AE3}" dt="2026-03-12T15:23:11.815" v="2110" actId="14100"/>
          <ac:picMkLst>
            <pc:docMk/>
            <pc:sldMk cId="1800303710" sldId="296"/>
            <ac:picMk id="2" creationId="{96CAFC6E-4006-AF61-33EA-B2FC31D30DCD}"/>
          </ac:picMkLst>
        </pc:picChg>
      </pc:sldChg>
      <pc:sldChg chg="delSp modSp add mod">
        <pc:chgData name="Moss, Ian (MAJ)" userId="9b5ae348-2d4c-4531-ab4d-228d1c1d8cb5" providerId="ADAL" clId="{1A35070D-6FB0-4610-BBD3-AFF6784A4AE3}" dt="2026-03-12T18:53:45.621" v="3061" actId="20577"/>
        <pc:sldMkLst>
          <pc:docMk/>
          <pc:sldMk cId="3619011730" sldId="297"/>
        </pc:sldMkLst>
        <pc:spChg chg="mod">
          <ac:chgData name="Moss, Ian (MAJ)" userId="9b5ae348-2d4c-4531-ab4d-228d1c1d8cb5" providerId="ADAL" clId="{1A35070D-6FB0-4610-BBD3-AFF6784A4AE3}" dt="2026-03-12T15:35:35.838" v="2632" actId="20577"/>
          <ac:spMkLst>
            <pc:docMk/>
            <pc:sldMk cId="3619011730" sldId="297"/>
            <ac:spMk id="2" creationId="{AE82E0E5-92DF-748D-D116-29AB45496D6F}"/>
          </ac:spMkLst>
        </pc:spChg>
        <pc:spChg chg="mod">
          <ac:chgData name="Moss, Ian (MAJ)" userId="9b5ae348-2d4c-4531-ab4d-228d1c1d8cb5" providerId="ADAL" clId="{1A35070D-6FB0-4610-BBD3-AFF6784A4AE3}" dt="2026-03-12T15:40:10.154" v="2803" actId="20577"/>
          <ac:spMkLst>
            <pc:docMk/>
            <pc:sldMk cId="3619011730" sldId="297"/>
            <ac:spMk id="3" creationId="{FE432771-C013-C33B-7CB2-5B41198669B2}"/>
          </ac:spMkLst>
        </pc:spChg>
        <pc:spChg chg="del">
          <ac:chgData name="Moss, Ian (MAJ)" userId="9b5ae348-2d4c-4531-ab4d-228d1c1d8cb5" providerId="ADAL" clId="{1A35070D-6FB0-4610-BBD3-AFF6784A4AE3}" dt="2026-03-12T15:35:54.278" v="2633" actId="478"/>
          <ac:spMkLst>
            <pc:docMk/>
            <pc:sldMk cId="3619011730" sldId="297"/>
            <ac:spMk id="4" creationId="{47840889-EC45-A175-667E-190FA91458BD}"/>
          </ac:spMkLst>
        </pc:spChg>
        <pc:spChg chg="del">
          <ac:chgData name="Moss, Ian (MAJ)" userId="9b5ae348-2d4c-4531-ab4d-228d1c1d8cb5" providerId="ADAL" clId="{1A35070D-6FB0-4610-BBD3-AFF6784A4AE3}" dt="2026-03-12T15:35:54.278" v="2633" actId="478"/>
          <ac:spMkLst>
            <pc:docMk/>
            <pc:sldMk cId="3619011730" sldId="297"/>
            <ac:spMk id="5" creationId="{66D89806-A0B2-039C-3DB9-5DE9F8D86443}"/>
          </ac:spMkLst>
        </pc:spChg>
        <pc:spChg chg="del">
          <ac:chgData name="Moss, Ian (MAJ)" userId="9b5ae348-2d4c-4531-ab4d-228d1c1d8cb5" providerId="ADAL" clId="{1A35070D-6FB0-4610-BBD3-AFF6784A4AE3}" dt="2026-03-12T15:35:54.278" v="2633" actId="478"/>
          <ac:spMkLst>
            <pc:docMk/>
            <pc:sldMk cId="3619011730" sldId="297"/>
            <ac:spMk id="7" creationId="{4FD5540F-BD8B-79CA-2178-D07F57C467FE}"/>
          </ac:spMkLst>
        </pc:spChg>
        <pc:spChg chg="del">
          <ac:chgData name="Moss, Ian (MAJ)" userId="9b5ae348-2d4c-4531-ab4d-228d1c1d8cb5" providerId="ADAL" clId="{1A35070D-6FB0-4610-BBD3-AFF6784A4AE3}" dt="2026-03-12T15:35:54.278" v="2633" actId="478"/>
          <ac:spMkLst>
            <pc:docMk/>
            <pc:sldMk cId="3619011730" sldId="297"/>
            <ac:spMk id="8" creationId="{1AD0FB39-5199-8854-3AE7-ED4CEDD6158D}"/>
          </ac:spMkLst>
        </pc:spChg>
        <pc:spChg chg="del">
          <ac:chgData name="Moss, Ian (MAJ)" userId="9b5ae348-2d4c-4531-ab4d-228d1c1d8cb5" providerId="ADAL" clId="{1A35070D-6FB0-4610-BBD3-AFF6784A4AE3}" dt="2026-03-12T15:35:54.278" v="2633" actId="478"/>
          <ac:spMkLst>
            <pc:docMk/>
            <pc:sldMk cId="3619011730" sldId="297"/>
            <ac:spMk id="9" creationId="{22C98E18-5900-867B-D86E-69B9DA3115DA}"/>
          </ac:spMkLst>
        </pc:spChg>
        <pc:spChg chg="del">
          <ac:chgData name="Moss, Ian (MAJ)" userId="9b5ae348-2d4c-4531-ab4d-228d1c1d8cb5" providerId="ADAL" clId="{1A35070D-6FB0-4610-BBD3-AFF6784A4AE3}" dt="2026-03-12T15:35:54.278" v="2633" actId="478"/>
          <ac:spMkLst>
            <pc:docMk/>
            <pc:sldMk cId="3619011730" sldId="297"/>
            <ac:spMk id="10" creationId="{A5EE705D-27E7-2038-D3A2-6E03092C31AE}"/>
          </ac:spMkLst>
        </pc:spChg>
        <pc:spChg chg="del">
          <ac:chgData name="Moss, Ian (MAJ)" userId="9b5ae348-2d4c-4531-ab4d-228d1c1d8cb5" providerId="ADAL" clId="{1A35070D-6FB0-4610-BBD3-AFF6784A4AE3}" dt="2026-03-12T15:35:54.278" v="2633" actId="478"/>
          <ac:spMkLst>
            <pc:docMk/>
            <pc:sldMk cId="3619011730" sldId="297"/>
            <ac:spMk id="12" creationId="{4B954CD7-F1D7-8513-18C1-8D710D85BA1E}"/>
          </ac:spMkLst>
        </pc:spChg>
        <pc:spChg chg="del">
          <ac:chgData name="Moss, Ian (MAJ)" userId="9b5ae348-2d4c-4531-ab4d-228d1c1d8cb5" providerId="ADAL" clId="{1A35070D-6FB0-4610-BBD3-AFF6784A4AE3}" dt="2026-03-12T15:35:54.278" v="2633" actId="478"/>
          <ac:spMkLst>
            <pc:docMk/>
            <pc:sldMk cId="3619011730" sldId="297"/>
            <ac:spMk id="15" creationId="{01E499F2-AAA9-289D-4724-9BC216676583}"/>
          </ac:spMkLst>
        </pc:spChg>
        <pc:spChg chg="del">
          <ac:chgData name="Moss, Ian (MAJ)" userId="9b5ae348-2d4c-4531-ab4d-228d1c1d8cb5" providerId="ADAL" clId="{1A35070D-6FB0-4610-BBD3-AFF6784A4AE3}" dt="2026-03-12T15:35:54.278" v="2633" actId="478"/>
          <ac:spMkLst>
            <pc:docMk/>
            <pc:sldMk cId="3619011730" sldId="297"/>
            <ac:spMk id="16" creationId="{5D55ADD6-9BE8-D6F9-8398-10E4543F4E97}"/>
          </ac:spMkLst>
        </pc:spChg>
        <pc:spChg chg="del">
          <ac:chgData name="Moss, Ian (MAJ)" userId="9b5ae348-2d4c-4531-ab4d-228d1c1d8cb5" providerId="ADAL" clId="{1A35070D-6FB0-4610-BBD3-AFF6784A4AE3}" dt="2026-03-12T15:35:54.278" v="2633" actId="478"/>
          <ac:spMkLst>
            <pc:docMk/>
            <pc:sldMk cId="3619011730" sldId="297"/>
            <ac:spMk id="18" creationId="{8614AF2B-CE38-67E3-8632-CC7A61ADCDF8}"/>
          </ac:spMkLst>
        </pc:spChg>
        <pc:spChg chg="del">
          <ac:chgData name="Moss, Ian (MAJ)" userId="9b5ae348-2d4c-4531-ab4d-228d1c1d8cb5" providerId="ADAL" clId="{1A35070D-6FB0-4610-BBD3-AFF6784A4AE3}" dt="2026-03-12T15:35:58.277" v="2634" actId="478"/>
          <ac:spMkLst>
            <pc:docMk/>
            <pc:sldMk cId="3619011730" sldId="297"/>
            <ac:spMk id="19" creationId="{999D7528-9A2C-1EDE-5963-D5B105A1E3DA}"/>
          </ac:spMkLst>
        </pc:spChg>
        <pc:spChg chg="del">
          <ac:chgData name="Moss, Ian (MAJ)" userId="9b5ae348-2d4c-4531-ab4d-228d1c1d8cb5" providerId="ADAL" clId="{1A35070D-6FB0-4610-BBD3-AFF6784A4AE3}" dt="2026-03-12T15:35:58.277" v="2634" actId="478"/>
          <ac:spMkLst>
            <pc:docMk/>
            <pc:sldMk cId="3619011730" sldId="297"/>
            <ac:spMk id="20" creationId="{6F7B4868-DFCD-5777-643B-E314479C1C92}"/>
          </ac:spMkLst>
        </pc:spChg>
        <pc:spChg chg="del">
          <ac:chgData name="Moss, Ian (MAJ)" userId="9b5ae348-2d4c-4531-ab4d-228d1c1d8cb5" providerId="ADAL" clId="{1A35070D-6FB0-4610-BBD3-AFF6784A4AE3}" dt="2026-03-12T15:35:58.277" v="2634" actId="478"/>
          <ac:spMkLst>
            <pc:docMk/>
            <pc:sldMk cId="3619011730" sldId="297"/>
            <ac:spMk id="21" creationId="{25229ED0-39B4-F57F-E6DA-6029CD6D421D}"/>
          </ac:spMkLst>
        </pc:spChg>
        <pc:spChg chg="del">
          <ac:chgData name="Moss, Ian (MAJ)" userId="9b5ae348-2d4c-4531-ab4d-228d1c1d8cb5" providerId="ADAL" clId="{1A35070D-6FB0-4610-BBD3-AFF6784A4AE3}" dt="2026-03-12T15:35:58.277" v="2634" actId="478"/>
          <ac:spMkLst>
            <pc:docMk/>
            <pc:sldMk cId="3619011730" sldId="297"/>
            <ac:spMk id="22" creationId="{4E53C476-026A-1A84-5F80-77133D1AE6DB}"/>
          </ac:spMkLst>
        </pc:spChg>
        <pc:spChg chg="del">
          <ac:chgData name="Moss, Ian (MAJ)" userId="9b5ae348-2d4c-4531-ab4d-228d1c1d8cb5" providerId="ADAL" clId="{1A35070D-6FB0-4610-BBD3-AFF6784A4AE3}" dt="2026-03-12T15:35:58.277" v="2634" actId="478"/>
          <ac:spMkLst>
            <pc:docMk/>
            <pc:sldMk cId="3619011730" sldId="297"/>
            <ac:spMk id="23" creationId="{C0420EFA-DC76-7DD8-C082-75E2D1AAB96C}"/>
          </ac:spMkLst>
        </pc:spChg>
        <pc:spChg chg="mod">
          <ac:chgData name="Moss, Ian (MAJ)" userId="9b5ae348-2d4c-4531-ab4d-228d1c1d8cb5" providerId="ADAL" clId="{1A35070D-6FB0-4610-BBD3-AFF6784A4AE3}" dt="2026-03-12T15:36:24.068" v="2639" actId="14100"/>
          <ac:spMkLst>
            <pc:docMk/>
            <pc:sldMk cId="3619011730" sldId="297"/>
            <ac:spMk id="24" creationId="{1D44EBEF-DCC9-59CF-6F41-E5C4DDE36D51}"/>
          </ac:spMkLst>
        </pc:spChg>
        <pc:spChg chg="mod">
          <ac:chgData name="Moss, Ian (MAJ)" userId="9b5ae348-2d4c-4531-ab4d-228d1c1d8cb5" providerId="ADAL" clId="{1A35070D-6FB0-4610-BBD3-AFF6784A4AE3}" dt="2026-03-12T15:36:19.086" v="2638" actId="14100"/>
          <ac:spMkLst>
            <pc:docMk/>
            <pc:sldMk cId="3619011730" sldId="297"/>
            <ac:spMk id="25" creationId="{424C85E0-36C6-E301-13EB-64BBE50D50FF}"/>
          </ac:spMkLst>
        </pc:spChg>
        <pc:spChg chg="mod">
          <ac:chgData name="Moss, Ian (MAJ)" userId="9b5ae348-2d4c-4531-ab4d-228d1c1d8cb5" providerId="ADAL" clId="{1A35070D-6FB0-4610-BBD3-AFF6784A4AE3}" dt="2026-03-12T18:53:45.621" v="3061" actId="20577"/>
          <ac:spMkLst>
            <pc:docMk/>
            <pc:sldMk cId="3619011730" sldId="297"/>
            <ac:spMk id="26" creationId="{41DC2A36-998B-46D6-2251-D6E2708842D9}"/>
          </ac:spMkLst>
        </pc:spChg>
        <pc:spChg chg="del mod">
          <ac:chgData name="Moss, Ian (MAJ)" userId="9b5ae348-2d4c-4531-ab4d-228d1c1d8cb5" providerId="ADAL" clId="{1A35070D-6FB0-4610-BBD3-AFF6784A4AE3}" dt="2026-03-12T15:37:46.193" v="2643" actId="478"/>
          <ac:spMkLst>
            <pc:docMk/>
            <pc:sldMk cId="3619011730" sldId="297"/>
            <ac:spMk id="27" creationId="{775B8CC6-D86E-17A9-F5F5-62501A24E0DF}"/>
          </ac:spMkLst>
        </pc:spChg>
      </pc:sldChg>
    </pc:docChg>
  </pc:docChgLst>
  <pc:docChgLst>
    <pc:chgData name="De La Rosa, Brandon (MAJ)" userId="54eb37dd-9b32-4ba3-b794-ca8ab4e4f9c4" providerId="ADAL" clId="{2D4EDFCF-531F-5945-8C30-5A9988A7C619}"/>
    <pc:docChg chg="undo custSel addSld delSld modSld sldOrd">
      <pc:chgData name="De La Rosa, Brandon (MAJ)" userId="54eb37dd-9b32-4ba3-b794-ca8ab4e4f9c4" providerId="ADAL" clId="{2D4EDFCF-531F-5945-8C30-5A9988A7C619}" dt="2026-03-12T20:58:24.983" v="925" actId="1076"/>
      <pc:docMkLst>
        <pc:docMk/>
      </pc:docMkLst>
      <pc:sldChg chg="addSp modSp mod modNotesTx">
        <pc:chgData name="De La Rosa, Brandon (MAJ)" userId="54eb37dd-9b32-4ba3-b794-ca8ab4e4f9c4" providerId="ADAL" clId="{2D4EDFCF-531F-5945-8C30-5A9988A7C619}" dt="2026-03-11T23:52:09.696" v="880" actId="1076"/>
        <pc:sldMkLst>
          <pc:docMk/>
          <pc:sldMk cId="0" sldId="262"/>
        </pc:sldMkLst>
        <pc:spChg chg="mod">
          <ac:chgData name="De La Rosa, Brandon (MAJ)" userId="54eb37dd-9b32-4ba3-b794-ca8ab4e4f9c4" providerId="ADAL" clId="{2D4EDFCF-531F-5945-8C30-5A9988A7C619}" dt="2026-03-11T23:51:36.621" v="872" actId="14100"/>
          <ac:spMkLst>
            <pc:docMk/>
            <pc:sldMk cId="0" sldId="262"/>
            <ac:spMk id="4" creationId="{00000000-0000-0000-0000-000000000000}"/>
          </ac:spMkLst>
        </pc:spChg>
        <pc:spChg chg="mod">
          <ac:chgData name="De La Rosa, Brandon (MAJ)" userId="54eb37dd-9b32-4ba3-b794-ca8ab4e4f9c4" providerId="ADAL" clId="{2D4EDFCF-531F-5945-8C30-5A9988A7C619}" dt="2026-03-11T23:51:46.647" v="876" actId="122"/>
          <ac:spMkLst>
            <pc:docMk/>
            <pc:sldMk cId="0" sldId="262"/>
            <ac:spMk id="6" creationId="{00000000-0000-0000-0000-000000000000}"/>
          </ac:spMkLst>
        </pc:spChg>
        <pc:spChg chg="mod">
          <ac:chgData name="De La Rosa, Brandon (MAJ)" userId="54eb37dd-9b32-4ba3-b794-ca8ab4e4f9c4" providerId="ADAL" clId="{2D4EDFCF-531F-5945-8C30-5A9988A7C619}" dt="2026-03-11T23:51:52.117" v="877" actId="14100"/>
          <ac:spMkLst>
            <pc:docMk/>
            <pc:sldMk cId="0" sldId="262"/>
            <ac:spMk id="8" creationId="{00000000-0000-0000-0000-000000000000}"/>
          </ac:spMkLst>
        </pc:spChg>
        <pc:spChg chg="mod">
          <ac:chgData name="De La Rosa, Brandon (MAJ)" userId="54eb37dd-9b32-4ba3-b794-ca8ab4e4f9c4" providerId="ADAL" clId="{2D4EDFCF-531F-5945-8C30-5A9988A7C619}" dt="2026-03-11T23:34:40.195" v="467" actId="1076"/>
          <ac:spMkLst>
            <pc:docMk/>
            <pc:sldMk cId="0" sldId="262"/>
            <ac:spMk id="9" creationId="{00000000-0000-0000-0000-000000000000}"/>
          </ac:spMkLst>
        </pc:spChg>
        <pc:spChg chg="add mod">
          <ac:chgData name="De La Rosa, Brandon (MAJ)" userId="54eb37dd-9b32-4ba3-b794-ca8ab4e4f9c4" providerId="ADAL" clId="{2D4EDFCF-531F-5945-8C30-5A9988A7C619}" dt="2026-03-11T23:52:02.914" v="879" actId="14100"/>
          <ac:spMkLst>
            <pc:docMk/>
            <pc:sldMk cId="0" sldId="262"/>
            <ac:spMk id="11" creationId="{6234F912-A16D-7CE5-06F3-A22EE53DDC3A}"/>
          </ac:spMkLst>
        </pc:spChg>
        <pc:spChg chg="add mod">
          <ac:chgData name="De La Rosa, Brandon (MAJ)" userId="54eb37dd-9b32-4ba3-b794-ca8ab4e4f9c4" providerId="ADAL" clId="{2D4EDFCF-531F-5945-8C30-5A9988A7C619}" dt="2026-03-11T23:51:58.763" v="878" actId="14100"/>
          <ac:spMkLst>
            <pc:docMk/>
            <pc:sldMk cId="0" sldId="262"/>
            <ac:spMk id="12" creationId="{F520AA26-3F50-AF11-9670-5E878507F16D}"/>
          </ac:spMkLst>
        </pc:spChg>
        <pc:spChg chg="add mod">
          <ac:chgData name="De La Rosa, Brandon (MAJ)" userId="54eb37dd-9b32-4ba3-b794-ca8ab4e4f9c4" providerId="ADAL" clId="{2D4EDFCF-531F-5945-8C30-5A9988A7C619}" dt="2026-03-11T23:51:58.763" v="878" actId="14100"/>
          <ac:spMkLst>
            <pc:docMk/>
            <pc:sldMk cId="0" sldId="262"/>
            <ac:spMk id="13" creationId="{D2860DC4-585D-205B-9CF4-909B3A9A8122}"/>
          </ac:spMkLst>
        </pc:spChg>
        <pc:spChg chg="add mod">
          <ac:chgData name="De La Rosa, Brandon (MAJ)" userId="54eb37dd-9b32-4ba3-b794-ca8ab4e4f9c4" providerId="ADAL" clId="{2D4EDFCF-531F-5945-8C30-5A9988A7C619}" dt="2026-03-11T23:52:09.696" v="880" actId="1076"/>
          <ac:spMkLst>
            <pc:docMk/>
            <pc:sldMk cId="0" sldId="262"/>
            <ac:spMk id="14" creationId="{C62B3BCC-A6F0-EE42-7005-EC316C496427}"/>
          </ac:spMkLst>
        </pc:spChg>
        <pc:picChg chg="mod">
          <ac:chgData name="De La Rosa, Brandon (MAJ)" userId="54eb37dd-9b32-4ba3-b794-ca8ab4e4f9c4" providerId="ADAL" clId="{2D4EDFCF-531F-5945-8C30-5A9988A7C619}" dt="2026-03-11T23:40:52.847" v="830" actId="1036"/>
          <ac:picMkLst>
            <pc:docMk/>
            <pc:sldMk cId="0" sldId="262"/>
            <ac:picMk id="5" creationId="{00000000-0000-0000-0000-000000000000}"/>
          </ac:picMkLst>
        </pc:picChg>
      </pc:sldChg>
      <pc:sldChg chg="del">
        <pc:chgData name="De La Rosa, Brandon (MAJ)" userId="54eb37dd-9b32-4ba3-b794-ca8ab4e4f9c4" providerId="ADAL" clId="{2D4EDFCF-531F-5945-8C30-5A9988A7C619}" dt="2026-03-11T23:51:26.449" v="871" actId="2696"/>
        <pc:sldMkLst>
          <pc:docMk/>
          <pc:sldMk cId="0" sldId="264"/>
        </pc:sldMkLst>
      </pc:sldChg>
      <pc:sldChg chg="modSp mod modShow modNotesTx">
        <pc:chgData name="De La Rosa, Brandon (MAJ)" userId="54eb37dd-9b32-4ba3-b794-ca8ab4e4f9c4" providerId="ADAL" clId="{2D4EDFCF-531F-5945-8C30-5A9988A7C619}" dt="2026-03-11T23:45:54.648" v="837" actId="729"/>
        <pc:sldMkLst>
          <pc:docMk/>
          <pc:sldMk cId="0" sldId="266"/>
        </pc:sldMkLst>
        <pc:spChg chg="mod">
          <ac:chgData name="De La Rosa, Brandon (MAJ)" userId="54eb37dd-9b32-4ba3-b794-ca8ab4e4f9c4" providerId="ADAL" clId="{2D4EDFCF-531F-5945-8C30-5A9988A7C619}" dt="2026-03-11T23:45:12.737" v="833" actId="20577"/>
          <ac:spMkLst>
            <pc:docMk/>
            <pc:sldMk cId="0" sldId="266"/>
            <ac:spMk id="11" creationId="{00000000-0000-0000-0000-000000000000}"/>
          </ac:spMkLst>
        </pc:spChg>
      </pc:sldChg>
      <pc:sldChg chg="delSp del mod modNotesTx">
        <pc:chgData name="De La Rosa, Brandon (MAJ)" userId="54eb37dd-9b32-4ba3-b794-ca8ab4e4f9c4" providerId="ADAL" clId="{2D4EDFCF-531F-5945-8C30-5A9988A7C619}" dt="2026-03-12T03:02:20.798" v="887" actId="2696"/>
        <pc:sldMkLst>
          <pc:docMk/>
          <pc:sldMk cId="3753800229" sldId="274"/>
        </pc:sldMkLst>
        <pc:spChg chg="del">
          <ac:chgData name="De La Rosa, Brandon (MAJ)" userId="54eb37dd-9b32-4ba3-b794-ca8ab4e4f9c4" providerId="ADAL" clId="{2D4EDFCF-531F-5945-8C30-5A9988A7C619}" dt="2026-03-11T23:40:06.425" v="827" actId="21"/>
          <ac:spMkLst>
            <pc:docMk/>
            <pc:sldMk cId="3753800229" sldId="274"/>
            <ac:spMk id="12" creationId="{5D10B869-D182-5E39-1999-541293AD6174}"/>
          </ac:spMkLst>
        </pc:spChg>
        <pc:spChg chg="del">
          <ac:chgData name="De La Rosa, Brandon (MAJ)" userId="54eb37dd-9b32-4ba3-b794-ca8ab4e4f9c4" providerId="ADAL" clId="{2D4EDFCF-531F-5945-8C30-5A9988A7C619}" dt="2026-03-11T23:40:06.425" v="827" actId="21"/>
          <ac:spMkLst>
            <pc:docMk/>
            <pc:sldMk cId="3753800229" sldId="274"/>
            <ac:spMk id="13" creationId="{96F329BD-7A0C-4C1B-A706-952398E324E2}"/>
          </ac:spMkLst>
        </pc:spChg>
        <pc:spChg chg="del">
          <ac:chgData name="De La Rosa, Brandon (MAJ)" userId="54eb37dd-9b32-4ba3-b794-ca8ab4e4f9c4" providerId="ADAL" clId="{2D4EDFCF-531F-5945-8C30-5A9988A7C619}" dt="2026-03-11T23:40:06.425" v="827" actId="21"/>
          <ac:spMkLst>
            <pc:docMk/>
            <pc:sldMk cId="3753800229" sldId="274"/>
            <ac:spMk id="14" creationId="{8A4F9969-D59A-7735-1084-45AD6A1E7F4E}"/>
          </ac:spMkLst>
        </pc:spChg>
        <pc:spChg chg="del">
          <ac:chgData name="De La Rosa, Brandon (MAJ)" userId="54eb37dd-9b32-4ba3-b794-ca8ab4e4f9c4" providerId="ADAL" clId="{2D4EDFCF-531F-5945-8C30-5A9988A7C619}" dt="2026-03-11T23:40:06.425" v="827" actId="21"/>
          <ac:spMkLst>
            <pc:docMk/>
            <pc:sldMk cId="3753800229" sldId="274"/>
            <ac:spMk id="15" creationId="{0727125F-D1F2-AB4A-CDA6-2E87DB11F25D}"/>
          </ac:spMkLst>
        </pc:spChg>
      </pc:sldChg>
      <pc:sldChg chg="ord modNotesTx">
        <pc:chgData name="De La Rosa, Brandon (MAJ)" userId="54eb37dd-9b32-4ba3-b794-ca8ab4e4f9c4" providerId="ADAL" clId="{2D4EDFCF-531F-5945-8C30-5A9988A7C619}" dt="2026-03-12T04:12:43.651" v="906" actId="20577"/>
        <pc:sldMkLst>
          <pc:docMk/>
          <pc:sldMk cId="838522839" sldId="281"/>
        </pc:sldMkLst>
      </pc:sldChg>
      <pc:sldChg chg="del">
        <pc:chgData name="De La Rosa, Brandon (MAJ)" userId="54eb37dd-9b32-4ba3-b794-ca8ab4e4f9c4" providerId="ADAL" clId="{2D4EDFCF-531F-5945-8C30-5A9988A7C619}" dt="2026-03-12T03:03:00.921" v="888" actId="2696"/>
        <pc:sldMkLst>
          <pc:docMk/>
          <pc:sldMk cId="562224600" sldId="285"/>
        </pc:sldMkLst>
      </pc:sldChg>
      <pc:sldChg chg="ord modNotesTx">
        <pc:chgData name="De La Rosa, Brandon (MAJ)" userId="54eb37dd-9b32-4ba3-b794-ca8ab4e4f9c4" providerId="ADAL" clId="{2D4EDFCF-531F-5945-8C30-5A9988A7C619}" dt="2026-03-12T04:12:37.843" v="898" actId="20577"/>
        <pc:sldMkLst>
          <pc:docMk/>
          <pc:sldMk cId="879579437" sldId="286"/>
        </pc:sldMkLst>
      </pc:sldChg>
      <pc:sldChg chg="addSp delSp modSp add mod ord">
        <pc:chgData name="De La Rosa, Brandon (MAJ)" userId="54eb37dd-9b32-4ba3-b794-ca8ab4e4f9c4" providerId="ADAL" clId="{2D4EDFCF-531F-5945-8C30-5A9988A7C619}" dt="2026-03-12T20:58:24.983" v="925" actId="1076"/>
        <pc:sldMkLst>
          <pc:docMk/>
          <pc:sldMk cId="868609739" sldId="289"/>
        </pc:sldMkLst>
        <pc:spChg chg="del mod">
          <ac:chgData name="De La Rosa, Brandon (MAJ)" userId="54eb37dd-9b32-4ba3-b794-ca8ab4e4f9c4" providerId="ADAL" clId="{2D4EDFCF-531F-5945-8C30-5A9988A7C619}" dt="2026-03-11T23:46:03.048" v="840" actId="478"/>
          <ac:spMkLst>
            <pc:docMk/>
            <pc:sldMk cId="868609739" sldId="289"/>
            <ac:spMk id="5" creationId="{592E6F3A-5F21-7F64-9692-472A3DBC0BDB}"/>
          </ac:spMkLst>
        </pc:spChg>
        <pc:spChg chg="del">
          <ac:chgData name="De La Rosa, Brandon (MAJ)" userId="54eb37dd-9b32-4ba3-b794-ca8ab4e4f9c4" providerId="ADAL" clId="{2D4EDFCF-531F-5945-8C30-5A9988A7C619}" dt="2026-03-11T23:46:03.941" v="841" actId="478"/>
          <ac:spMkLst>
            <pc:docMk/>
            <pc:sldMk cId="868609739" sldId="289"/>
            <ac:spMk id="7" creationId="{52D9B42E-5853-CC90-5F6F-72C4E50F7641}"/>
          </ac:spMkLst>
        </pc:spChg>
        <pc:spChg chg="mod">
          <ac:chgData name="De La Rosa, Brandon (MAJ)" userId="54eb37dd-9b32-4ba3-b794-ca8ab4e4f9c4" providerId="ADAL" clId="{2D4EDFCF-531F-5945-8C30-5A9988A7C619}" dt="2026-03-12T15:46:24.504" v="908" actId="1076"/>
          <ac:spMkLst>
            <pc:docMk/>
            <pc:sldMk cId="868609739" sldId="289"/>
            <ac:spMk id="8" creationId="{F350D887-A6AA-B05A-F535-C79ADE6B4CBF}"/>
          </ac:spMkLst>
        </pc:spChg>
        <pc:spChg chg="del">
          <ac:chgData name="De La Rosa, Brandon (MAJ)" userId="54eb37dd-9b32-4ba3-b794-ca8ab4e4f9c4" providerId="ADAL" clId="{2D4EDFCF-531F-5945-8C30-5A9988A7C619}" dt="2026-03-11T23:46:04.843" v="842" actId="478"/>
          <ac:spMkLst>
            <pc:docMk/>
            <pc:sldMk cId="868609739" sldId="289"/>
            <ac:spMk id="9" creationId="{0324FDBF-9EC6-C27B-5C14-FC9DD0E6972B}"/>
          </ac:spMkLst>
        </pc:spChg>
        <pc:spChg chg="del">
          <ac:chgData name="De La Rosa, Brandon (MAJ)" userId="54eb37dd-9b32-4ba3-b794-ca8ab4e4f9c4" providerId="ADAL" clId="{2D4EDFCF-531F-5945-8C30-5A9988A7C619}" dt="2026-03-11T23:46:05.674" v="843" actId="478"/>
          <ac:spMkLst>
            <pc:docMk/>
            <pc:sldMk cId="868609739" sldId="289"/>
            <ac:spMk id="11" creationId="{CD821AD4-033B-5A13-5299-293B4AD4E210}"/>
          </ac:spMkLst>
        </pc:spChg>
        <pc:spChg chg="del">
          <ac:chgData name="De La Rosa, Brandon (MAJ)" userId="54eb37dd-9b32-4ba3-b794-ca8ab4e4f9c4" providerId="ADAL" clId="{2D4EDFCF-531F-5945-8C30-5A9988A7C619}" dt="2026-03-11T23:46:06.479" v="844" actId="478"/>
          <ac:spMkLst>
            <pc:docMk/>
            <pc:sldMk cId="868609739" sldId="289"/>
            <ac:spMk id="13" creationId="{67BBAF87-A909-DBB3-D9ED-CBD352C7D2DC}"/>
          </ac:spMkLst>
        </pc:spChg>
        <pc:picChg chg="add mod">
          <ac:chgData name="De La Rosa, Brandon (MAJ)" userId="54eb37dd-9b32-4ba3-b794-ca8ab4e4f9c4" providerId="ADAL" clId="{2D4EDFCF-531F-5945-8C30-5A9988A7C619}" dt="2026-03-12T20:58:24.983" v="925" actId="1076"/>
          <ac:picMkLst>
            <pc:docMk/>
            <pc:sldMk cId="868609739" sldId="289"/>
            <ac:picMk id="17" creationId="{91FEAD1C-FA32-82D4-9C1E-AD9D0AEA1D29}"/>
          </ac:picMkLst>
        </pc:picChg>
        <pc:picChg chg="add mod">
          <ac:chgData name="De La Rosa, Brandon (MAJ)" userId="54eb37dd-9b32-4ba3-b794-ca8ab4e4f9c4" providerId="ADAL" clId="{2D4EDFCF-531F-5945-8C30-5A9988A7C619}" dt="2026-03-12T20:58:24.503" v="924" actId="1076"/>
          <ac:picMkLst>
            <pc:docMk/>
            <pc:sldMk cId="868609739" sldId="289"/>
            <ac:picMk id="19" creationId="{472F1ED7-1311-2F60-2498-018E4A1E9EF9}"/>
          </ac:picMkLst>
        </pc:picChg>
        <pc:picChg chg="add del mod">
          <ac:chgData name="De La Rosa, Brandon (MAJ)" userId="54eb37dd-9b32-4ba3-b794-ca8ab4e4f9c4" providerId="ADAL" clId="{2D4EDFCF-531F-5945-8C30-5A9988A7C619}" dt="2026-03-12T20:58:23.308" v="923" actId="14100"/>
          <ac:picMkLst>
            <pc:docMk/>
            <pc:sldMk cId="868609739" sldId="289"/>
            <ac:picMk id="1026" creationId="{76E28BD0-B831-E668-AD45-A8E3202FAD80}"/>
          </ac:picMkLst>
        </pc:picChg>
      </pc:sldChg>
      <pc:sldChg chg="new del">
        <pc:chgData name="De La Rosa, Brandon (MAJ)" userId="54eb37dd-9b32-4ba3-b794-ca8ab4e4f9c4" providerId="ADAL" clId="{2D4EDFCF-531F-5945-8C30-5A9988A7C619}" dt="2026-03-11T23:45:41.931" v="835" actId="2696"/>
        <pc:sldMkLst>
          <pc:docMk/>
          <pc:sldMk cId="1555359297" sldId="289"/>
        </pc:sldMkLst>
      </pc:sldChg>
    </pc:docChg>
  </pc:docChgLst>
  <pc:docChgLst>
    <pc:chgData name="Moss, Ian (MAJ)" userId="S::ian.moss@nps.edu::9b5ae348-2d4c-4531-ab4d-228d1c1d8cb5" providerId="AD" clId="Web-{399E2E3C-19C2-833A-7E64-C2733464BB86}"/>
    <pc:docChg chg="modSld sldOrd">
      <pc:chgData name="Moss, Ian (MAJ)" userId="S::ian.moss@nps.edu::9b5ae348-2d4c-4531-ab4d-228d1c1d8cb5" providerId="AD" clId="Web-{399E2E3C-19C2-833A-7E64-C2733464BB86}" dt="2026-03-11T23:46:49.177" v="7" actId="20577"/>
      <pc:docMkLst>
        <pc:docMk/>
      </pc:docMkLst>
      <pc:sldChg chg="ord">
        <pc:chgData name="Moss, Ian (MAJ)" userId="S::ian.moss@nps.edu::9b5ae348-2d4c-4531-ab4d-228d1c1d8cb5" providerId="AD" clId="Web-{399E2E3C-19C2-833A-7E64-C2733464BB86}" dt="2026-03-11T23:38:50.142" v="0"/>
        <pc:sldMkLst>
          <pc:docMk/>
          <pc:sldMk cId="0" sldId="261"/>
        </pc:sldMkLst>
      </pc:sldChg>
      <pc:sldChg chg="modSp">
        <pc:chgData name="Moss, Ian (MAJ)" userId="S::ian.moss@nps.edu::9b5ae348-2d4c-4531-ab4d-228d1c1d8cb5" providerId="AD" clId="Web-{399E2E3C-19C2-833A-7E64-C2733464BB86}" dt="2026-03-11T23:46:49.177" v="7" actId="20577"/>
        <pc:sldMkLst>
          <pc:docMk/>
          <pc:sldMk cId="0" sldId="266"/>
        </pc:sldMkLst>
        <pc:spChg chg="mod">
          <ac:chgData name="Moss, Ian (MAJ)" userId="S::ian.moss@nps.edu::9b5ae348-2d4c-4531-ab4d-228d1c1d8cb5" providerId="AD" clId="Web-{399E2E3C-19C2-833A-7E64-C2733464BB86}" dt="2026-03-11T23:46:49.177" v="7" actId="20577"/>
          <ac:spMkLst>
            <pc:docMk/>
            <pc:sldMk cId="0" sldId="266"/>
            <ac:spMk id="7" creationId="{00000000-0000-0000-0000-000000000000}"/>
          </ac:spMkLst>
        </pc:spChg>
      </pc:sldChg>
      <pc:sldChg chg="ord">
        <pc:chgData name="Moss, Ian (MAJ)" userId="S::ian.moss@nps.edu::9b5ae348-2d4c-4531-ab4d-228d1c1d8cb5" providerId="AD" clId="Web-{399E2E3C-19C2-833A-7E64-C2733464BB86}" dt="2026-03-11T23:38:50.142" v="1"/>
        <pc:sldMkLst>
          <pc:docMk/>
          <pc:sldMk cId="2309673791" sldId="270"/>
        </pc:sldMkLst>
      </pc:sldChg>
    </pc:docChg>
  </pc:docChgLst>
  <pc:docChgLst>
    <pc:chgData name="Moss, Ian (MAJ)" userId="S::ian.moss@nps.edu::9b5ae348-2d4c-4531-ab4d-228d1c1d8cb5" providerId="AD" clId="Web-{93601B1F-BC70-484A-E36D-A432CB22627D}"/>
    <pc:docChg chg="addSld delSld modSld">
      <pc:chgData name="Moss, Ian (MAJ)" userId="S::ian.moss@nps.edu::9b5ae348-2d4c-4531-ab4d-228d1c1d8cb5" providerId="AD" clId="Web-{93601B1F-BC70-484A-E36D-A432CB22627D}" dt="2026-03-10T23:22:00.918" v="338"/>
      <pc:docMkLst>
        <pc:docMk/>
      </pc:docMkLst>
      <pc:sldChg chg="del">
        <pc:chgData name="Moss, Ian (MAJ)" userId="S::ian.moss@nps.edu::9b5ae348-2d4c-4531-ab4d-228d1c1d8cb5" providerId="AD" clId="Web-{93601B1F-BC70-484A-E36D-A432CB22627D}" dt="2026-03-10T23:11:16.222" v="122"/>
        <pc:sldMkLst>
          <pc:docMk/>
          <pc:sldMk cId="0" sldId="257"/>
        </pc:sldMkLst>
      </pc:sldChg>
      <pc:sldChg chg="delSp modSp">
        <pc:chgData name="Moss, Ian (MAJ)" userId="S::ian.moss@nps.edu::9b5ae348-2d4c-4531-ab4d-228d1c1d8cb5" providerId="AD" clId="Web-{93601B1F-BC70-484A-E36D-A432CB22627D}" dt="2026-03-10T23:20:02.376" v="331" actId="1076"/>
        <pc:sldMkLst>
          <pc:docMk/>
          <pc:sldMk cId="0" sldId="277"/>
        </pc:sldMkLst>
        <pc:spChg chg="mod">
          <ac:chgData name="Moss, Ian (MAJ)" userId="S::ian.moss@nps.edu::9b5ae348-2d4c-4531-ab4d-228d1c1d8cb5" providerId="AD" clId="Web-{93601B1F-BC70-484A-E36D-A432CB22627D}" dt="2026-03-10T23:19:31.470" v="325"/>
          <ac:spMkLst>
            <pc:docMk/>
            <pc:sldMk cId="0" sldId="277"/>
            <ac:spMk id="2" creationId="{00000000-0000-0000-0000-000000000000}"/>
          </ac:spMkLst>
        </pc:spChg>
        <pc:spChg chg="mod">
          <ac:chgData name="Moss, Ian (MAJ)" userId="S::ian.moss@nps.edu::9b5ae348-2d4c-4531-ab4d-228d1c1d8cb5" providerId="AD" clId="Web-{93601B1F-BC70-484A-E36D-A432CB22627D}" dt="2026-03-10T23:20:02.376" v="331" actId="1076"/>
          <ac:spMkLst>
            <pc:docMk/>
            <pc:sldMk cId="0" sldId="277"/>
            <ac:spMk id="6" creationId="{00000000-0000-0000-0000-000000000000}"/>
          </ac:spMkLst>
        </pc:spChg>
        <pc:spChg chg="mod">
          <ac:chgData name="Moss, Ian (MAJ)" userId="S::ian.moss@nps.edu::9b5ae348-2d4c-4531-ab4d-228d1c1d8cb5" providerId="AD" clId="Web-{93601B1F-BC70-484A-E36D-A432CB22627D}" dt="2026-03-10T23:17:43.689" v="261" actId="20577"/>
          <ac:spMkLst>
            <pc:docMk/>
            <pc:sldMk cId="0" sldId="277"/>
            <ac:spMk id="10" creationId="{00000000-0000-0000-0000-000000000000}"/>
          </ac:spMkLst>
        </pc:spChg>
        <pc:spChg chg="mod">
          <ac:chgData name="Moss, Ian (MAJ)" userId="S::ian.moss@nps.edu::9b5ae348-2d4c-4531-ab4d-228d1c1d8cb5" providerId="AD" clId="Web-{93601B1F-BC70-484A-E36D-A432CB22627D}" dt="2026-03-10T23:19:47.954" v="329" actId="1076"/>
          <ac:spMkLst>
            <pc:docMk/>
            <pc:sldMk cId="0" sldId="277"/>
            <ac:spMk id="13" creationId="{00000000-0000-0000-0000-000000000000}"/>
          </ac:spMkLst>
        </pc:spChg>
        <pc:spChg chg="mod">
          <ac:chgData name="Moss, Ian (MAJ)" userId="S::ian.moss@nps.edu::9b5ae348-2d4c-4531-ab4d-228d1c1d8cb5" providerId="AD" clId="Web-{93601B1F-BC70-484A-E36D-A432CB22627D}" dt="2026-03-10T23:19:47.970" v="330" actId="1076"/>
          <ac:spMkLst>
            <pc:docMk/>
            <pc:sldMk cId="0" sldId="277"/>
            <ac:spMk id="14" creationId="{00000000-0000-0000-0000-000000000000}"/>
          </ac:spMkLst>
        </pc:spChg>
        <pc:spChg chg="mod">
          <ac:chgData name="Moss, Ian (MAJ)" userId="S::ian.moss@nps.edu::9b5ae348-2d4c-4531-ab4d-228d1c1d8cb5" providerId="AD" clId="Web-{93601B1F-BC70-484A-E36D-A432CB22627D}" dt="2026-03-10T23:19:03.517" v="320" actId="20577"/>
          <ac:spMkLst>
            <pc:docMk/>
            <pc:sldMk cId="0" sldId="277"/>
            <ac:spMk id="23" creationId="{00000000-0000-0000-0000-000000000000}"/>
          </ac:spMkLst>
        </pc:spChg>
      </pc:sldChg>
      <pc:sldChg chg="modSp">
        <pc:chgData name="Moss, Ian (MAJ)" userId="S::ian.moss@nps.edu::9b5ae348-2d4c-4531-ab4d-228d1c1d8cb5" providerId="AD" clId="Web-{93601B1F-BC70-484A-E36D-A432CB22627D}" dt="2026-03-10T23:15:06.330" v="233" actId="20577"/>
        <pc:sldMkLst>
          <pc:docMk/>
          <pc:sldMk cId="838522839" sldId="281"/>
        </pc:sldMkLst>
        <pc:spChg chg="mod">
          <ac:chgData name="Moss, Ian (MAJ)" userId="S::ian.moss@nps.edu::9b5ae348-2d4c-4531-ab4d-228d1c1d8cb5" providerId="AD" clId="Web-{93601B1F-BC70-484A-E36D-A432CB22627D}" dt="2026-03-10T23:15:06.330" v="233" actId="20577"/>
          <ac:spMkLst>
            <pc:docMk/>
            <pc:sldMk cId="838522839" sldId="281"/>
            <ac:spMk id="10" creationId="{97B18AF0-414E-9534-FF76-20B453A213CA}"/>
          </ac:spMkLst>
        </pc:spChg>
        <pc:spChg chg="mod">
          <ac:chgData name="Moss, Ian (MAJ)" userId="S::ian.moss@nps.edu::9b5ae348-2d4c-4531-ab4d-228d1c1d8cb5" providerId="AD" clId="Web-{93601B1F-BC70-484A-E36D-A432CB22627D}" dt="2026-03-10T23:13:21.909" v="156" actId="20577"/>
          <ac:spMkLst>
            <pc:docMk/>
            <pc:sldMk cId="838522839" sldId="281"/>
            <ac:spMk id="13" creationId="{D3F1E7A9-E23D-5EC8-F503-BED8C74ED0F5}"/>
          </ac:spMkLst>
        </pc:spChg>
      </pc:sldChg>
      <pc:sldChg chg="add replId">
        <pc:chgData name="Moss, Ian (MAJ)" userId="S::ian.moss@nps.edu::9b5ae348-2d4c-4531-ab4d-228d1c1d8cb5" providerId="AD" clId="Web-{93601B1F-BC70-484A-E36D-A432CB22627D}" dt="2026-03-10T23:21:08.311" v="333"/>
        <pc:sldMkLst>
          <pc:docMk/>
          <pc:sldMk cId="3638979675" sldId="282"/>
        </pc:sldMkLst>
      </pc:sldChg>
    </pc:docChg>
  </pc:docChgLst>
  <pc:docChgLst>
    <pc:chgData name="Moss, Ian (MAJ)" userId="S::ian.moss@nps.edu::9b5ae348-2d4c-4531-ab4d-228d1c1d8cb5" providerId="AD" clId="Web-{6E77FC80-043A-925D-EC6C-DD76C6DFE6C3}"/>
    <pc:docChg chg="modSld">
      <pc:chgData name="Moss, Ian (MAJ)" userId="S::ian.moss@nps.edu::9b5ae348-2d4c-4531-ab4d-228d1c1d8cb5" providerId="AD" clId="Web-{6E77FC80-043A-925D-EC6C-DD76C6DFE6C3}" dt="2026-03-10T17:19:36.309" v="2" actId="1076"/>
      <pc:docMkLst>
        <pc:docMk/>
      </pc:docMkLst>
      <pc:sldChg chg="addSp modSp">
        <pc:chgData name="Moss, Ian (MAJ)" userId="S::ian.moss@nps.edu::9b5ae348-2d4c-4531-ab4d-228d1c1d8cb5" providerId="AD" clId="Web-{6E77FC80-043A-925D-EC6C-DD76C6DFE6C3}" dt="2026-03-10T17:19:36.309" v="2" actId="1076"/>
        <pc:sldMkLst>
          <pc:docMk/>
          <pc:sldMk cId="3373294422" sldId="276"/>
        </pc:sldMkLst>
        <pc:picChg chg="add mod">
          <ac:chgData name="Moss, Ian (MAJ)" userId="S::ian.moss@nps.edu::9b5ae348-2d4c-4531-ab4d-228d1c1d8cb5" providerId="AD" clId="Web-{6E77FC80-043A-925D-EC6C-DD76C6DFE6C3}" dt="2026-03-10T17:19:36.309" v="2" actId="1076"/>
          <ac:picMkLst>
            <pc:docMk/>
            <pc:sldMk cId="3373294422" sldId="276"/>
            <ac:picMk id="2" creationId="{E9FC704C-F3A0-5888-F377-04782A5BD89E}"/>
          </ac:picMkLst>
        </pc:picChg>
      </pc:sldChg>
    </pc:docChg>
  </pc:docChgLst>
  <pc:docChgLst>
    <pc:chgData name="Ketner, Shaun (MAJ)" userId="7d66dfac-337c-4f3e-8510-8a17837c6efa" providerId="ADAL" clId="{33B88D64-9D68-4588-8E8B-00062C12E1F3}"/>
    <pc:docChg chg="undo custSel addSld delSld modSld sldOrd">
      <pc:chgData name="Ketner, Shaun (MAJ)" userId="7d66dfac-337c-4f3e-8510-8a17837c6efa" providerId="ADAL" clId="{33B88D64-9D68-4588-8E8B-00062C12E1F3}" dt="2026-03-12T03:51:06.360" v="69" actId="207"/>
      <pc:docMkLst>
        <pc:docMk/>
      </pc:docMkLst>
      <pc:sldChg chg="modSp add del mod setBg">
        <pc:chgData name="Ketner, Shaun (MAJ)" userId="7d66dfac-337c-4f3e-8510-8a17837c6efa" providerId="ADAL" clId="{33B88D64-9D68-4588-8E8B-00062C12E1F3}" dt="2026-03-11T18:07:34.321" v="56" actId="1076"/>
        <pc:sldMkLst>
          <pc:docMk/>
          <pc:sldMk cId="0" sldId="257"/>
        </pc:sldMkLst>
        <pc:spChg chg="mod">
          <ac:chgData name="Ketner, Shaun (MAJ)" userId="7d66dfac-337c-4f3e-8510-8a17837c6efa" providerId="ADAL" clId="{33B88D64-9D68-4588-8E8B-00062C12E1F3}" dt="2026-03-11T18:07:22.798" v="54" actId="1076"/>
          <ac:spMkLst>
            <pc:docMk/>
            <pc:sldMk cId="0" sldId="257"/>
            <ac:spMk id="3" creationId="{00000000-0000-0000-0000-000000000000}"/>
          </ac:spMkLst>
        </pc:spChg>
        <pc:spChg chg="mod">
          <ac:chgData name="Ketner, Shaun (MAJ)" userId="7d66dfac-337c-4f3e-8510-8a17837c6efa" providerId="ADAL" clId="{33B88D64-9D68-4588-8E8B-00062C12E1F3}" dt="2026-03-11T18:07:34.321" v="56" actId="1076"/>
          <ac:spMkLst>
            <pc:docMk/>
            <pc:sldMk cId="0" sldId="257"/>
            <ac:spMk id="4" creationId="{00000000-0000-0000-0000-000000000000}"/>
          </ac:spMkLst>
        </pc:spChg>
        <pc:spChg chg="mod">
          <ac:chgData name="Ketner, Shaun (MAJ)" userId="7d66dfac-337c-4f3e-8510-8a17837c6efa" providerId="ADAL" clId="{33B88D64-9D68-4588-8E8B-00062C12E1F3}" dt="2026-03-11T18:07:28.396" v="55" actId="1076"/>
          <ac:spMkLst>
            <pc:docMk/>
            <pc:sldMk cId="0" sldId="257"/>
            <ac:spMk id="5" creationId="{00000000-0000-0000-0000-000000000000}"/>
          </ac:spMkLst>
        </pc:spChg>
      </pc:sldChg>
      <pc:sldChg chg="modNotesTx">
        <pc:chgData name="Ketner, Shaun (MAJ)" userId="7d66dfac-337c-4f3e-8510-8a17837c6efa" providerId="ADAL" clId="{33B88D64-9D68-4588-8E8B-00062C12E1F3}" dt="2026-03-11T18:15:49.916" v="68" actId="20577"/>
        <pc:sldMkLst>
          <pc:docMk/>
          <pc:sldMk cId="0" sldId="259"/>
        </pc:sldMkLst>
      </pc:sldChg>
      <pc:sldChg chg="add del modNotesTx">
        <pc:chgData name="Ketner, Shaun (MAJ)" userId="7d66dfac-337c-4f3e-8510-8a17837c6efa" providerId="ADAL" clId="{33B88D64-9D68-4588-8E8B-00062C12E1F3}" dt="2026-03-11T18:06:41.576" v="51" actId="47"/>
        <pc:sldMkLst>
          <pc:docMk/>
          <pc:sldMk cId="0" sldId="260"/>
        </pc:sldMkLst>
      </pc:sldChg>
      <pc:sldChg chg="modSp mod">
        <pc:chgData name="Ketner, Shaun (MAJ)" userId="7d66dfac-337c-4f3e-8510-8a17837c6efa" providerId="ADAL" clId="{33B88D64-9D68-4588-8E8B-00062C12E1F3}" dt="2026-03-12T03:51:06.360" v="69" actId="207"/>
        <pc:sldMkLst>
          <pc:docMk/>
          <pc:sldMk cId="2309673791" sldId="270"/>
        </pc:sldMkLst>
        <pc:spChg chg="mod">
          <ac:chgData name="Ketner, Shaun (MAJ)" userId="7d66dfac-337c-4f3e-8510-8a17837c6efa" providerId="ADAL" clId="{33B88D64-9D68-4588-8E8B-00062C12E1F3}" dt="2026-03-12T03:51:06.360" v="69" actId="207"/>
          <ac:spMkLst>
            <pc:docMk/>
            <pc:sldMk cId="2309673791" sldId="270"/>
            <ac:spMk id="4" creationId="{69DB6B40-2D9E-A670-B173-C36F0CCF7319}"/>
          </ac:spMkLst>
        </pc:spChg>
      </pc:sldChg>
      <pc:sldChg chg="modNotesTx">
        <pc:chgData name="Ketner, Shaun (MAJ)" userId="7d66dfac-337c-4f3e-8510-8a17837c6efa" providerId="ADAL" clId="{33B88D64-9D68-4588-8E8B-00062C12E1F3}" dt="2026-03-11T16:51:36.982" v="1" actId="20577"/>
        <pc:sldMkLst>
          <pc:docMk/>
          <pc:sldMk cId="3638979675" sldId="282"/>
        </pc:sldMkLst>
      </pc:sldChg>
      <pc:sldChg chg="new del">
        <pc:chgData name="Ketner, Shaun (MAJ)" userId="7d66dfac-337c-4f3e-8510-8a17837c6efa" providerId="ADAL" clId="{33B88D64-9D68-4588-8E8B-00062C12E1F3}" dt="2026-03-11T18:05:40.585" v="45" actId="47"/>
        <pc:sldMkLst>
          <pc:docMk/>
          <pc:sldMk cId="633109191" sldId="287"/>
        </pc:sldMkLst>
      </pc:sldChg>
      <pc:sldChg chg="add ord setBg modNotesTx">
        <pc:chgData name="Ketner, Shaun (MAJ)" userId="7d66dfac-337c-4f3e-8510-8a17837c6efa" providerId="ADAL" clId="{33B88D64-9D68-4588-8E8B-00062C12E1F3}" dt="2026-03-11T18:13:10.563" v="67" actId="20577"/>
        <pc:sldMkLst>
          <pc:docMk/>
          <pc:sldMk cId="0" sldId="288"/>
        </pc:sldMkLst>
      </pc:sldChg>
    </pc:docChg>
  </pc:docChgLst>
  <pc:docChgLst>
    <pc:chgData name="Moss, Ian (MAJ)" userId="S::ian.moss@nps.edu::9b5ae348-2d4c-4531-ab4d-228d1c1d8cb5" providerId="AD" clId="Web-{6B3B46F0-0B84-3748-969B-F61CB3380393}"/>
    <pc:docChg chg="modSld">
      <pc:chgData name="Moss, Ian (MAJ)" userId="S::ian.moss@nps.edu::9b5ae348-2d4c-4531-ab4d-228d1c1d8cb5" providerId="AD" clId="Web-{6B3B46F0-0B84-3748-969B-F61CB3380393}" dt="2026-03-11T23:33:23.442" v="125"/>
      <pc:docMkLst>
        <pc:docMk/>
      </pc:docMkLst>
      <pc:sldChg chg="modSp">
        <pc:chgData name="Moss, Ian (MAJ)" userId="S::ian.moss@nps.edu::9b5ae348-2d4c-4531-ab4d-228d1c1d8cb5" providerId="AD" clId="Web-{6B3B46F0-0B84-3748-969B-F61CB3380393}" dt="2026-03-11T23:33:23.442" v="125"/>
        <pc:sldMkLst>
          <pc:docMk/>
          <pc:sldMk cId="0" sldId="258"/>
        </pc:sldMkLst>
        <pc:graphicFrameChg chg="mod modGraphic">
          <ac:chgData name="Moss, Ian (MAJ)" userId="S::ian.moss@nps.edu::9b5ae348-2d4c-4531-ab4d-228d1c1d8cb5" providerId="AD" clId="Web-{6B3B46F0-0B84-3748-969B-F61CB3380393}" dt="2026-03-11T23:33:23.442" v="125"/>
          <ac:graphicFrameMkLst>
            <pc:docMk/>
            <pc:sldMk cId="0" sldId="258"/>
            <ac:graphicFrameMk id="4" creationId="{00000000-0000-0000-0000-000000000000}"/>
          </ac:graphicFrameMkLst>
        </pc:graphicFrameChg>
      </pc:sldChg>
      <pc:sldChg chg="modNotes">
        <pc:chgData name="Moss, Ian (MAJ)" userId="S::ian.moss@nps.edu::9b5ae348-2d4c-4531-ab4d-228d1c1d8cb5" providerId="AD" clId="Web-{6B3B46F0-0B84-3748-969B-F61CB3380393}" dt="2026-03-11T23:32:57.895" v="101"/>
        <pc:sldMkLst>
          <pc:docMk/>
          <pc:sldMk cId="0" sldId="275"/>
        </pc:sldMkLst>
      </pc:sldChg>
    </pc:docChg>
  </pc:docChgLst>
  <pc:docChgLst>
    <pc:chgData clId="Web-{6E77FC80-043A-925D-EC6C-DD76C6DFE6C3}"/>
    <pc:docChg chg="addSld sldOrd">
      <pc:chgData name="" userId="" providerId="" clId="Web-{6E77FC80-043A-925D-EC6C-DD76C6DFE6C3}" dt="2026-03-10T17:19:06.215" v="1"/>
      <pc:docMkLst>
        <pc:docMk/>
      </pc:docMkLst>
      <pc:sldChg chg="new ord">
        <pc:chgData name="" userId="" providerId="" clId="Web-{6E77FC80-043A-925D-EC6C-DD76C6DFE6C3}" dt="2026-03-10T17:19:06.215" v="1"/>
        <pc:sldMkLst>
          <pc:docMk/>
          <pc:sldMk cId="3373294422" sldId="27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3205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Ian owns this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 personal experience financial readiness, that don't know but would like to be educated: Target market and solution. </a:t>
            </a:r>
            <a:br>
              <a:rPr lang="en-US">
                <a:cs typeface="+mn-lt"/>
              </a:rPr>
            </a:b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C0665-7988-8BFC-CB63-0BB1D55A1F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E227C-435C-F911-8834-E57E67516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9FA1D7-1C55-9A0A-6D14-F07DD1E62FF8}"/>
              </a:ext>
            </a:extLst>
          </p:cNvPr>
          <p:cNvSpPr>
            <a:spLocks noGrp="1"/>
          </p:cNvSpPr>
          <p:nvPr>
            <p:ph type="body" idx="1"/>
          </p:nvPr>
        </p:nvSpPr>
        <p:spPr/>
        <p:txBody>
          <a:bodyPr/>
          <a:lstStyle/>
          <a:p>
            <a:r>
              <a:rPr lang="en-US"/>
              <a:t>Add personal experience financial readiness, that don't know but would like to be educated: Target market and solution. </a:t>
            </a:r>
            <a:br>
              <a:rPr lang="en-US">
                <a:cs typeface="+mn-lt"/>
              </a:rPr>
            </a:br>
            <a:endParaRPr lang="en-US"/>
          </a:p>
        </p:txBody>
      </p:sp>
      <p:sp>
        <p:nvSpPr>
          <p:cNvPr id="4" name="Slide Number Placeholder 3">
            <a:extLst>
              <a:ext uri="{FF2B5EF4-FFF2-40B4-BE49-F238E27FC236}">
                <a16:creationId xmlns:a16="http://schemas.microsoft.com/office/drawing/2014/main" id="{1002138D-6F1C-B581-9D72-C8B26B87CE31}"/>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787238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Ian own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Shaun</a:t>
            </a:r>
          </a:p>
          <a:p>
            <a:r>
              <a:rPr lang="en-US"/>
              <a:t>The Monte Carlo simulation doesn't work in isolation — it's one of three engines that work together. The first is the Savings Rate Solver. It uses a binary search to find the exact percentage of base pay a service member needs to save, accounting for their projected promotion timeline and post-military civilian income. That percentage and the contribution schedule it produces become the direct input to the second engine — the Monte Carlo simulation itself. The MC runs 1,000 independent trials, each drawing fresh random returns from a Normal distribution calibrated to each TSP fund's historical performance. The key word is 'independent' — every trial, every fund, every month gets its own draw, which eliminates the sampling bias we saw in earlier versions.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19447-33AB-A565-5269-3D31A86786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24E79C-6006-97C2-6A41-ADD38D107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865589-AA93-B3E9-8393-11A9CFB31C7D}"/>
              </a:ext>
            </a:extLst>
          </p:cNvPr>
          <p:cNvSpPr>
            <a:spLocks noGrp="1"/>
          </p:cNvSpPr>
          <p:nvPr>
            <p:ph type="body" idx="1"/>
          </p:nvPr>
        </p:nvSpPr>
        <p:spPr/>
        <p:txBody>
          <a:bodyPr/>
          <a:lstStyle/>
          <a:p>
            <a:r>
              <a:rPr lang="en-US"/>
              <a:t>Shaun</a:t>
            </a:r>
          </a:p>
          <a:p>
            <a:r>
              <a:rPr lang="en-US"/>
              <a:t>The Monte Carlo simulation doesn't work in isolation — it's one of three engines that work together. The first is the Savings Rate Solver. It uses a binary search to find the exact percentage of base pay a service member needs to save, accounting for their projected promotion timeline and post-military civilian income. That percentage and the contribution schedule it produces become the direct input to the second engine — the Monte Carlo simulation itself. The MC runs 1,000 independent trials, each drawing fresh random returns from a Normal distribution calibrated to each TSP fund's historical performance. The key word is 'independent' — every trial, every fund, every month gets its own draw, which eliminates the sampling bias we saw in earlier versions. </a:t>
            </a:r>
          </a:p>
        </p:txBody>
      </p:sp>
      <p:sp>
        <p:nvSpPr>
          <p:cNvPr id="4" name="Slide Number Placeholder 3">
            <a:extLst>
              <a:ext uri="{FF2B5EF4-FFF2-40B4-BE49-F238E27FC236}">
                <a16:creationId xmlns:a16="http://schemas.microsoft.com/office/drawing/2014/main" id="{DEC621F8-D1F4-7D28-267B-1AA76ABE196B}"/>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109955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1F61C-1135-CBB5-0447-91BD4F574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133673-78C1-3E6D-9F9C-612F968093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F58EDC-6C16-8D85-2BDA-DD974FFF71EB}"/>
              </a:ext>
            </a:extLst>
          </p:cNvPr>
          <p:cNvSpPr>
            <a:spLocks noGrp="1"/>
          </p:cNvSpPr>
          <p:nvPr>
            <p:ph type="body" idx="1"/>
          </p:nvPr>
        </p:nvSpPr>
        <p:spPr/>
        <p:txBody>
          <a:bodyPr/>
          <a:lstStyle/>
          <a:p>
            <a:r>
              <a:rPr lang="en-US"/>
              <a:t>Each own </a:t>
            </a:r>
            <a:r>
              <a:rPr lang="en-US" err="1"/>
              <a:t>own</a:t>
            </a:r>
            <a:r>
              <a:rPr lang="en-US"/>
              <a:t> piece</a:t>
            </a:r>
          </a:p>
        </p:txBody>
      </p:sp>
      <p:sp>
        <p:nvSpPr>
          <p:cNvPr id="4" name="Slide Number Placeholder 3">
            <a:extLst>
              <a:ext uri="{FF2B5EF4-FFF2-40B4-BE49-F238E27FC236}">
                <a16:creationId xmlns:a16="http://schemas.microsoft.com/office/drawing/2014/main" id="{6AF73977-1587-B950-800B-A3855760EE81}"/>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716492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64548-A56B-DA46-F73C-92E8BE7989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82643F-547F-EABC-F6A4-0C50BB4E72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7F80D5-8A02-B722-7981-7A07C740E635}"/>
              </a:ext>
            </a:extLst>
          </p:cNvPr>
          <p:cNvSpPr>
            <a:spLocks noGrp="1"/>
          </p:cNvSpPr>
          <p:nvPr>
            <p:ph type="body" idx="1"/>
          </p:nvPr>
        </p:nvSpPr>
        <p:spPr/>
        <p:txBody>
          <a:bodyPr/>
          <a:lstStyle/>
          <a:p>
            <a:r>
              <a:rPr lang="en-US"/>
              <a:t>Shaun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Monte Carlo simulation doesn't work in isolation — it's one of three engines that work together. The first is the Savings Rate Solver. It uses a binary search to find the exact percentage of base pay a service member needs to save, accounting for their projected promotion timeline and post-military civilian income. That percentage and the contribution schedule it produces become the direct input to the second engine — the Monte Carlo simulation itself. The MC runs 1,000 independent trials, each drawing fresh random returns from a Normal distribution calibrated to each TSP fund's historical performance. The key word is 'independent' — every trial, every fund, every month gets its own draw, which eliminates the sampling bias we saw in earlier versions. </a:t>
            </a:r>
          </a:p>
          <a:p>
            <a:endParaRPr lang="en-US"/>
          </a:p>
          <a:p>
            <a:r>
              <a:rPr lang="en-US">
                <a:effectLst/>
              </a:rPr>
              <a:t>This slide shows the end-to-end data flow from user inputs to the chart they see.</a:t>
            </a:r>
          </a:p>
          <a:p>
            <a:r>
              <a:rPr lang="en-US">
                <a:effectLst/>
              </a:rPr>
              <a:t>On the left — three categories of inputs feed the simulation. The user enters their age, TSP balance, fund allocation, and inflation assumption. External data provides fund return statistics and military pay tables. And the solver output from the previous slide delivers the month-by-month contribution schedule — that's the critical link between the two engines.</a:t>
            </a:r>
          </a:p>
          <a:p>
            <a:r>
              <a:rPr lang="en-US">
                <a:effectLst/>
              </a:rPr>
              <a:t>In the center — everything feeds into </a:t>
            </a:r>
            <a:r>
              <a:rPr lang="en-US" sz="1200" kern="1200" err="1">
                <a:solidFill>
                  <a:schemeClr val="tx1"/>
                </a:solidFill>
                <a:effectLst/>
                <a:latin typeface="+mn-lt"/>
                <a:ea typeface="+mn-ea"/>
                <a:cs typeface="+mn-cs"/>
              </a:rPr>
              <a:t>run_real_monte_carlo</a:t>
            </a:r>
            <a:r>
              <a:rPr lang="en-US">
                <a:effectLst/>
              </a:rPr>
              <a:t>. It generates 1,000 independent trials, each drawing fresh Normal distribution returns per fund, per month. After the simulation completes, two things happen in parallel: statistical analysis computes the percentiles and success probability, while matplotlib builds the visualization — 20 sample paths, the P10-to-P90 shaded band, and the target line.</a:t>
            </a:r>
          </a:p>
          <a:p>
            <a:r>
              <a:rPr lang="en-US">
                <a:effectLst/>
              </a:rPr>
              <a:t>On the right — that renders into the </a:t>
            </a:r>
            <a:r>
              <a:rPr lang="en-US" err="1">
                <a:effectLst/>
              </a:rPr>
              <a:t>Streamlit</a:t>
            </a:r>
            <a:r>
              <a:rPr lang="en-US">
                <a:effectLst/>
              </a:rPr>
              <a:t> display. The chart persists across widget reruns using session state, so the user doesn't lose their simulation when they interact with other parts of the app.</a:t>
            </a:r>
            <a:endParaRPr lang="en-US"/>
          </a:p>
        </p:txBody>
      </p:sp>
      <p:sp>
        <p:nvSpPr>
          <p:cNvPr id="4" name="Slide Number Placeholder 3">
            <a:extLst>
              <a:ext uri="{FF2B5EF4-FFF2-40B4-BE49-F238E27FC236}">
                <a16:creationId xmlns:a16="http://schemas.microsoft.com/office/drawing/2014/main" id="{BB1A4117-12B7-34E7-8166-D74D450768CE}"/>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231829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Shaun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Monte Carlo simulation doesn't work in isolation — it's one of three engines that work together. The first is the Savings Rate Solver. It uses a binary search to find the exact percentage of base pay a service member needs to save, accounting for their projected promotion timeline and post-military civilian income. That percentage and the contribution schedule it produces become the direct input to the second engine — the Monte Carlo simulation itself. The MC runs 1,000 independent trials, each drawing fresh random returns from a Normal distribution calibrated to each TSP fund's historical performance. The key word is 'independent' — every trial, every fund, every month gets its own draw, which eliminates the sampling bias we saw in earlier versions. </a:t>
            </a:r>
          </a:p>
          <a:p>
            <a:endParaRPr lang="en-US"/>
          </a:p>
          <a:p>
            <a:r>
              <a:rPr lang="en-US">
                <a:effectLst/>
              </a:rPr>
              <a:t>This slide shows the end-to-end data flow from user inputs to the chart they see.</a:t>
            </a:r>
          </a:p>
          <a:p>
            <a:r>
              <a:rPr lang="en-US">
                <a:effectLst/>
              </a:rPr>
              <a:t>On the left — three categories of inputs feed the simulation. The user enters their age, TSP balance, fund allocation, and inflation assumption. External data provides fund return statistics and military pay tables. And the solver output from the previous slide delivers the month-by-month contribution schedule — that's the critical link between the two engines.</a:t>
            </a:r>
          </a:p>
          <a:p>
            <a:r>
              <a:rPr lang="en-US">
                <a:effectLst/>
              </a:rPr>
              <a:t>In the center — everything feeds into </a:t>
            </a:r>
            <a:r>
              <a:rPr lang="en-US" sz="1200" kern="1200" err="1">
                <a:solidFill>
                  <a:schemeClr val="tx1"/>
                </a:solidFill>
                <a:effectLst/>
                <a:latin typeface="+mn-lt"/>
                <a:ea typeface="+mn-ea"/>
                <a:cs typeface="+mn-cs"/>
              </a:rPr>
              <a:t>run_real_monte_carlo</a:t>
            </a:r>
            <a:r>
              <a:rPr lang="en-US">
                <a:effectLst/>
              </a:rPr>
              <a:t>. It generates 1,000 independent trials, each drawing fresh Normal distribution returns per fund, per month. After the simulation completes, two things happen in parallel: statistical analysis computes the percentiles and success probability, while matplotlib builds the visualization — 20 sample paths, the P10-to-P90 shaded band, and the target line.</a:t>
            </a:r>
          </a:p>
          <a:p>
            <a:r>
              <a:rPr lang="en-US">
                <a:effectLst/>
              </a:rPr>
              <a:t>On the right — that renders into the </a:t>
            </a:r>
            <a:r>
              <a:rPr lang="en-US" err="1">
                <a:effectLst/>
              </a:rPr>
              <a:t>Streamlit</a:t>
            </a:r>
            <a:r>
              <a:rPr lang="en-US">
                <a:effectLst/>
              </a:rPr>
              <a:t> display. The chart persists across widget reruns using session state, so the user doesn't lose their simulation when they interact with other parts of the app.</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Shaun</a:t>
            </a:r>
          </a:p>
          <a:p>
            <a:r>
              <a:rPr lang="en-US"/>
              <a:t>This is what the user sees. Each gray line is one possible future — same plan, same savings rate, same fund allocation, completely different outcome based on nothing but market timing. The solid cyan line is the median — the 50th percentile outcome. The shaded band covers the 10th to 90th percentile range, so 80% of simulated futures land inside that band. The red dashed line is the target nest egg — in this case, about $2.3 million in today's dollars. The probability of success here is 55.2%, which means roughly half of the simulated market histories got this service member to their goal. That might sound low, but it's intentional. A 50-60% success rate for someone with a military pension floor is a realistic, balanced plan — targeting 80-90% would mean over-saving in most scenarios. The chart is rendered in matplotlib because </a:t>
            </a:r>
            <a:r>
              <a:rPr lang="en-US" err="1"/>
              <a:t>Plotly</a:t>
            </a:r>
            <a:r>
              <a:rPr lang="en-US"/>
              <a:t> can't handle 1,000 overlapping paths without lag, and matplotlib can be written directly into the PDF export on Tab 6</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28782-C21F-64DB-A433-C526D73746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D720C4-6F97-AF2D-BF8B-2ADC0881CF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300F0C-5C77-9C4E-0E35-DDBC1706B92E}"/>
              </a:ext>
            </a:extLst>
          </p:cNvPr>
          <p:cNvSpPr>
            <a:spLocks noGrp="1"/>
          </p:cNvSpPr>
          <p:nvPr>
            <p:ph type="body" idx="1"/>
          </p:nvPr>
        </p:nvSpPr>
        <p:spPr/>
        <p:txBody>
          <a:bodyPr/>
          <a:lstStyle/>
          <a:p>
            <a:r>
              <a:rPr lang="en-US"/>
              <a:t>Shaun own</a:t>
            </a:r>
          </a:p>
          <a:p>
            <a:endParaRPr lang="en-US"/>
          </a:p>
          <a:p>
            <a:r>
              <a:rPr lang="en-US"/>
              <a:t>Two visualizations work in tandem. The Savings Rate Explorer on the right is deterministic — it shows a single smooth growth curve based on the expected blended return. It answers the question: 'If everything goes exactly as expected, when do I hit my goal?' The Monte Carlo fan chart on the left is the reality check. Same savings rate, same allocation — but now with 1,000 different market histories applied. The Explorer gives you the plan. The fan chart shows you what the plan actually looks like when the market doesn't cooperate. The design choice to use matplotlib for the MC and </a:t>
            </a:r>
            <a:r>
              <a:rPr lang="en-US" err="1"/>
              <a:t>Plotly</a:t>
            </a:r>
            <a:r>
              <a:rPr lang="en-US"/>
              <a:t> for the Explorer was deliberate — matplotlib gives us the pixel-level control needed for dense overlapping paths, while </a:t>
            </a:r>
            <a:r>
              <a:rPr lang="en-US" err="1"/>
              <a:t>Plotly's</a:t>
            </a:r>
            <a:r>
              <a:rPr lang="en-US"/>
              <a:t> interactivity lets users drag a slider and see the growth curve update in real time.</a:t>
            </a:r>
          </a:p>
          <a:p>
            <a:endParaRPr lang="en-US"/>
          </a:p>
        </p:txBody>
      </p:sp>
      <p:sp>
        <p:nvSpPr>
          <p:cNvPr id="4" name="Slide Number Placeholder 3">
            <a:extLst>
              <a:ext uri="{FF2B5EF4-FFF2-40B4-BE49-F238E27FC236}">
                <a16:creationId xmlns:a16="http://schemas.microsoft.com/office/drawing/2014/main" id="{9511FDA6-3294-08CA-98AB-64437AAA9231}"/>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6706218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Brandon: </a:t>
            </a:r>
            <a:br>
              <a:rPr lang="en-US"/>
            </a:br>
            <a:br>
              <a:rPr lang="en-US"/>
            </a:br>
            <a:r>
              <a:rPr lang="en-US"/>
              <a:t>This is a beautiful display of what is the flow of your income. If you use a pie chart you are showing composition but you are not always detailing the income go which direction it is in. Sankey is interactive such that it will enable. Sankey is something that you would see on </a:t>
            </a:r>
            <a:r>
              <a:rPr lang="en-US" err="1"/>
              <a:t>redddit</a:t>
            </a:r>
            <a:r>
              <a:rPr lang="en-US"/>
              <a:t> or other platforms as people show the flow of their income.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3885F-5157-6566-77E0-4CC90F32F7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2CDC5-A77F-A0A7-F748-3147BDB28E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0457D4-6A99-0826-946A-351BBD4534C1}"/>
              </a:ext>
            </a:extLst>
          </p:cNvPr>
          <p:cNvSpPr>
            <a:spLocks noGrp="1"/>
          </p:cNvSpPr>
          <p:nvPr>
            <p:ph type="body" idx="1"/>
          </p:nvPr>
        </p:nvSpPr>
        <p:spPr/>
        <p:txBody>
          <a:bodyPr/>
          <a:lstStyle/>
          <a:p>
            <a:r>
              <a:rPr lang="en-US"/>
              <a:t>Brandon: </a:t>
            </a:r>
            <a:br>
              <a:rPr lang="en-US"/>
            </a:br>
            <a:r>
              <a:rPr lang="en-US"/>
              <a:t>A standard Monte Carlo that is not dynamic requires. </a:t>
            </a:r>
          </a:p>
          <a:p>
            <a:r>
              <a:rPr lang="en-US" err="1"/>
              <a:t>Github</a:t>
            </a:r>
            <a:r>
              <a:rPr lang="en-US"/>
              <a:t> collaboration. </a:t>
            </a:r>
          </a:p>
        </p:txBody>
      </p:sp>
      <p:sp>
        <p:nvSpPr>
          <p:cNvPr id="4" name="Slide Number Placeholder 3">
            <a:extLst>
              <a:ext uri="{FF2B5EF4-FFF2-40B4-BE49-F238E27FC236}">
                <a16:creationId xmlns:a16="http://schemas.microsoft.com/office/drawing/2014/main" id="{F8334CA1-6A61-CC31-0E3F-4E957E7BB59C}"/>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7321602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Brandon: </a:t>
            </a:r>
            <a:br>
              <a:rPr lang="en-US"/>
            </a:br>
            <a:r>
              <a:rPr lang="en-US"/>
              <a:t>A standard Monte Carlo that is not dynamic requires. </a:t>
            </a:r>
          </a:p>
          <a:p>
            <a:r>
              <a:rPr lang="en-US" err="1"/>
              <a:t>Github</a:t>
            </a:r>
            <a:r>
              <a:rPr lang="en-US"/>
              <a:t> collaboration.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EFDF8-AA28-C109-7EF3-1FD5CF22FA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7C4CBC-05FD-DC82-D53C-E89B620B30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7A740A-6AD4-C2A6-091B-ED206C906AD7}"/>
              </a:ext>
            </a:extLst>
          </p:cNvPr>
          <p:cNvSpPr>
            <a:spLocks noGrp="1"/>
          </p:cNvSpPr>
          <p:nvPr>
            <p:ph type="body" idx="1"/>
          </p:nvPr>
        </p:nvSpPr>
        <p:spPr/>
        <p:txBody>
          <a:bodyPr/>
          <a:lstStyle/>
          <a:p>
            <a:r>
              <a:rPr lang="en-US"/>
              <a:t>Brandon?</a:t>
            </a:r>
          </a:p>
        </p:txBody>
      </p:sp>
      <p:sp>
        <p:nvSpPr>
          <p:cNvPr id="4" name="Slide Number Placeholder 3">
            <a:extLst>
              <a:ext uri="{FF2B5EF4-FFF2-40B4-BE49-F238E27FC236}">
                <a16:creationId xmlns:a16="http://schemas.microsoft.com/office/drawing/2014/main" id="{12E0675B-79BA-9C78-45DB-DA185CA6852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0289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D1147-362E-79CA-ACED-1318F4EA19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03F6BF-13D0-69D3-860C-09D8A1DF58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397400-24D4-76B9-EB9A-2CD07083FC20}"/>
              </a:ext>
            </a:extLst>
          </p:cNvPr>
          <p:cNvSpPr>
            <a:spLocks noGrp="1"/>
          </p:cNvSpPr>
          <p:nvPr>
            <p:ph type="body" idx="1"/>
          </p:nvPr>
        </p:nvSpPr>
        <p:spPr/>
        <p:txBody>
          <a:bodyPr/>
          <a:lstStyle/>
          <a:p>
            <a:r>
              <a:rPr lang="en-US"/>
              <a:t>Brandon?</a:t>
            </a:r>
          </a:p>
        </p:txBody>
      </p:sp>
      <p:sp>
        <p:nvSpPr>
          <p:cNvPr id="4" name="Slide Number Placeholder 3">
            <a:extLst>
              <a:ext uri="{FF2B5EF4-FFF2-40B4-BE49-F238E27FC236}">
                <a16:creationId xmlns:a16="http://schemas.microsoft.com/office/drawing/2014/main" id="{0E2766B3-8598-4B41-D10F-BED9CEDE54F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055447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7067D-9F27-9617-12AD-B9132BA44E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5F1B73-1D68-7998-977D-DA0909DCD1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A9B247-6D43-4CF0-CC82-49E3F76744AE}"/>
              </a:ext>
            </a:extLst>
          </p:cNvPr>
          <p:cNvSpPr>
            <a:spLocks noGrp="1"/>
          </p:cNvSpPr>
          <p:nvPr>
            <p:ph type="body" idx="1"/>
          </p:nvPr>
        </p:nvSpPr>
        <p:spPr/>
        <p:txBody>
          <a:bodyPr/>
          <a:lstStyle/>
          <a:p>
            <a:r>
              <a:rPr lang="en-US"/>
              <a:t>Ian </a:t>
            </a:r>
          </a:p>
        </p:txBody>
      </p:sp>
      <p:sp>
        <p:nvSpPr>
          <p:cNvPr id="4" name="Slide Number Placeholder 3">
            <a:extLst>
              <a:ext uri="{FF2B5EF4-FFF2-40B4-BE49-F238E27FC236}">
                <a16:creationId xmlns:a16="http://schemas.microsoft.com/office/drawing/2014/main" id="{3F9AF676-795F-8B91-2429-A9090A932FB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65315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620D4-5618-3441-4D1E-1033163AB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9A8292-3520-E581-5A07-99D2271570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2D618A-2CB0-9F1A-A15B-2C7E07B84065}"/>
              </a:ext>
            </a:extLst>
          </p:cNvPr>
          <p:cNvSpPr>
            <a:spLocks noGrp="1"/>
          </p:cNvSpPr>
          <p:nvPr>
            <p:ph type="body" idx="1"/>
          </p:nvPr>
        </p:nvSpPr>
        <p:spPr/>
        <p:txBody>
          <a:bodyPr/>
          <a:lstStyle/>
          <a:p>
            <a:r>
              <a:rPr lang="en-US"/>
              <a:t>Ian </a:t>
            </a:r>
          </a:p>
        </p:txBody>
      </p:sp>
      <p:sp>
        <p:nvSpPr>
          <p:cNvPr id="4" name="Slide Number Placeholder 3">
            <a:extLst>
              <a:ext uri="{FF2B5EF4-FFF2-40B4-BE49-F238E27FC236}">
                <a16:creationId xmlns:a16="http://schemas.microsoft.com/office/drawing/2014/main" id="{2619A627-8C27-8ACA-1AFC-6DE511245AD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469494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6F27B-2CC0-B542-F6C7-882E68524C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11EBD-BB35-8733-2391-0F868545F2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8E5649-4FE6-806F-2E17-186476FEBD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D175ED4-2DB6-CD8E-3D35-7B94D5EDE65F}"/>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191707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webm"/><Relationship Id="rId1" Type="http://schemas.microsoft.com/office/2007/relationships/media" Target="../media/media1.webm"/><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A qr code with a black and white background&#10;&#10;AI-generated content may be incorrect.">
            <a:extLst>
              <a:ext uri="{FF2B5EF4-FFF2-40B4-BE49-F238E27FC236}">
                <a16:creationId xmlns:a16="http://schemas.microsoft.com/office/drawing/2014/main" id="{E9FC704C-F3A0-5888-F377-04782A5BD89E}"/>
              </a:ext>
            </a:extLst>
          </p:cNvPr>
          <p:cNvPicPr>
            <a:picLocks noChangeAspect="1"/>
          </p:cNvPicPr>
          <p:nvPr/>
        </p:nvPicPr>
        <p:blipFill>
          <a:blip r:embed="rId2"/>
          <a:stretch>
            <a:fillRect/>
          </a:stretch>
        </p:blipFill>
        <p:spPr>
          <a:xfrm>
            <a:off x="2479573" y="479322"/>
            <a:ext cx="4189464" cy="4189464"/>
          </a:xfrm>
          <a:prstGeom prst="rect">
            <a:avLst/>
          </a:prstGeom>
        </p:spPr>
      </p:pic>
      <mc:AlternateContent xmlns:mc="http://schemas.openxmlformats.org/markup-compatibility/2006">
        <mc:Choice xmlns:we="http://schemas.microsoft.com/office/webextensions/webextension/2010/11" xmlns:pca="http://schemas.microsoft.com/office/powerpoint/2013/contentapp" Requires="we pca">
          <p:graphicFrame>
            <p:nvGraphicFramePr>
              <p:cNvPr id="3" name="Add-in 2" title="Mentimeter - Interactive Presentations">
                <a:extLst>
                  <a:ext uri="{FF2B5EF4-FFF2-40B4-BE49-F238E27FC236}">
                    <a16:creationId xmlns:a16="http://schemas.microsoft.com/office/drawing/2014/main" id="{5B4C9B57-617D-70A3-1E23-AB40D967E0D0}"/>
                  </a:ext>
                </a:extLst>
              </p:cNvPr>
              <p:cNvGraphicFramePr>
                <a:graphicFrameLocks noGrp="1"/>
              </p:cNvGraphicFramePr>
              <p:nvPr/>
            </p:nvGraphicFramePr>
            <p:xfrm>
              <a:off x="285750" y="161925"/>
              <a:ext cx="8572500" cy="481965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3" name="Add-in 2" title="Mentimeter - Interactive Presentations">
                <a:extLst>
                  <a:ext uri="{FF2B5EF4-FFF2-40B4-BE49-F238E27FC236}">
                    <a16:creationId xmlns:a16="http://schemas.microsoft.com/office/drawing/2014/main" id="{5B4C9B57-617D-70A3-1E23-AB40D967E0D0}"/>
                  </a:ext>
                </a:extLst>
              </p:cNvPr>
              <p:cNvPicPr>
                <a:picLocks noGrp="1" noRot="1" noChangeAspect="1" noMove="1" noResize="1" noEditPoints="1" noAdjustHandles="1" noChangeArrowheads="1" noChangeShapeType="1"/>
              </p:cNvPicPr>
              <p:nvPr/>
            </p:nvPicPr>
            <p:blipFill>
              <a:blip r:embed="rId4"/>
              <a:stretch>
                <a:fillRect/>
              </a:stretch>
            </p:blipFill>
            <p:spPr>
              <a:xfrm>
                <a:off x="285750" y="161925"/>
                <a:ext cx="8572500" cy="4819650"/>
              </a:xfrm>
              <a:prstGeom prst="rect">
                <a:avLst/>
              </a:prstGeom>
            </p:spPr>
          </p:pic>
        </mc:Fallback>
      </mc:AlternateContent>
    </p:spTree>
    <p:extLst>
      <p:ext uri="{BB962C8B-B14F-4D97-AF65-F5344CB8AC3E}">
        <p14:creationId xmlns:p14="http://schemas.microsoft.com/office/powerpoint/2010/main" val="3373294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0F1A30"/>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5A55A"/>
          </a:solidFill>
          <a:ln/>
        </p:spPr>
        <p:txBody>
          <a:bodyPr/>
          <a:lstStyle/>
          <a:p>
            <a:endParaRPr lang="en-US"/>
          </a:p>
        </p:txBody>
      </p:sp>
      <p:sp>
        <p:nvSpPr>
          <p:cNvPr id="3" name="Text 1"/>
          <p:cNvSpPr/>
          <p:nvPr/>
        </p:nvSpPr>
        <p:spPr>
          <a:xfrm>
            <a:off x="731520" y="1097280"/>
            <a:ext cx="7680960" cy="914400"/>
          </a:xfrm>
          <a:prstGeom prst="rect">
            <a:avLst/>
          </a:prstGeom>
          <a:noFill/>
          <a:ln/>
        </p:spPr>
        <p:txBody>
          <a:bodyPr wrap="square" rtlCol="0" anchor="ctr"/>
          <a:lstStyle/>
          <a:p>
            <a:pPr marL="0" indent="0">
              <a:buNone/>
            </a:pPr>
            <a:r>
              <a:rPr lang="en-US" sz="4400" b="1" kern="0" spc="400">
                <a:solidFill>
                  <a:srgbClr val="FFFFFF"/>
                </a:solidFill>
                <a:latin typeface="Georgia" pitchFamily="34" charset="0"/>
                <a:ea typeface="Georgia" pitchFamily="34" charset="-122"/>
                <a:cs typeface="Georgia" pitchFamily="34" charset="-120"/>
              </a:rPr>
              <a:t>F.I.R.E. FOR EFFECT</a:t>
            </a:r>
            <a:endParaRPr lang="en-US" sz="4400"/>
          </a:p>
        </p:txBody>
      </p:sp>
      <p:sp>
        <p:nvSpPr>
          <p:cNvPr id="4" name="Text 2"/>
          <p:cNvSpPr/>
          <p:nvPr/>
        </p:nvSpPr>
        <p:spPr>
          <a:xfrm>
            <a:off x="731520" y="1965960"/>
            <a:ext cx="7680960" cy="548640"/>
          </a:xfrm>
          <a:prstGeom prst="rect">
            <a:avLst/>
          </a:prstGeom>
          <a:noFill/>
          <a:ln/>
        </p:spPr>
        <p:txBody>
          <a:bodyPr wrap="square" rtlCol="0" anchor="ctr"/>
          <a:lstStyle/>
          <a:p>
            <a:pPr marL="0" indent="0">
              <a:buNone/>
            </a:pPr>
            <a:r>
              <a:rPr lang="en-US" sz="2200" i="1">
                <a:solidFill>
                  <a:srgbClr val="C5A55A"/>
                </a:solidFill>
                <a:latin typeface="Calibri" pitchFamily="34" charset="0"/>
                <a:ea typeface="Calibri" pitchFamily="34" charset="-122"/>
                <a:cs typeface="Calibri" pitchFamily="34" charset="-120"/>
              </a:rPr>
              <a:t>A Military Financial Readiness Tool</a:t>
            </a:r>
            <a:endParaRPr lang="en-US" sz="2200"/>
          </a:p>
        </p:txBody>
      </p:sp>
      <p:sp>
        <p:nvSpPr>
          <p:cNvPr id="5" name="Shape 3"/>
          <p:cNvSpPr/>
          <p:nvPr/>
        </p:nvSpPr>
        <p:spPr>
          <a:xfrm>
            <a:off x="731520" y="2697480"/>
            <a:ext cx="2286000" cy="36576"/>
          </a:xfrm>
          <a:prstGeom prst="rect">
            <a:avLst/>
          </a:prstGeom>
          <a:solidFill>
            <a:srgbClr val="C5A55A"/>
          </a:solidFill>
          <a:ln/>
        </p:spPr>
        <p:txBody>
          <a:bodyPr/>
          <a:lstStyle/>
          <a:p>
            <a:endParaRPr lang="en-US"/>
          </a:p>
        </p:txBody>
      </p:sp>
      <p:sp>
        <p:nvSpPr>
          <p:cNvPr id="6" name="Text 4"/>
          <p:cNvSpPr/>
          <p:nvPr/>
        </p:nvSpPr>
        <p:spPr>
          <a:xfrm>
            <a:off x="731520" y="3017520"/>
            <a:ext cx="7680960" cy="365760"/>
          </a:xfrm>
          <a:prstGeom prst="rect">
            <a:avLst/>
          </a:prstGeom>
          <a:noFill/>
          <a:ln/>
        </p:spPr>
        <p:txBody>
          <a:bodyPr wrap="square" rtlCol="0" anchor="ctr"/>
          <a:lstStyle/>
          <a:p>
            <a:pPr marL="0" indent="0">
              <a:buNone/>
            </a:pPr>
            <a:r>
              <a:rPr lang="en-US" sz="1600">
                <a:solidFill>
                  <a:srgbClr val="AABBCC"/>
                </a:solidFill>
                <a:latin typeface="Calibri" pitchFamily="34" charset="0"/>
                <a:ea typeface="Calibri" pitchFamily="34" charset="-122"/>
                <a:cs typeface="Calibri" pitchFamily="34" charset="-120"/>
              </a:rPr>
              <a:t>OA3801 Final Project</a:t>
            </a:r>
            <a:endParaRPr lang="en-US" sz="1600"/>
          </a:p>
        </p:txBody>
      </p:sp>
      <p:sp>
        <p:nvSpPr>
          <p:cNvPr id="7" name="Text 5"/>
          <p:cNvSpPr/>
          <p:nvPr/>
        </p:nvSpPr>
        <p:spPr>
          <a:xfrm>
            <a:off x="731520" y="3657600"/>
            <a:ext cx="7680960" cy="365760"/>
          </a:xfrm>
          <a:prstGeom prst="rect">
            <a:avLst/>
          </a:prstGeom>
          <a:noFill/>
          <a:ln/>
        </p:spPr>
        <p:txBody>
          <a:bodyPr wrap="square" rtlCol="0" anchor="ctr"/>
          <a:lstStyle/>
          <a:p>
            <a:pPr marL="0" indent="0">
              <a:buNone/>
            </a:pPr>
            <a:r>
              <a:rPr lang="en-US" sz="1300" i="1">
                <a:solidFill>
                  <a:srgbClr val="778899"/>
                </a:solidFill>
                <a:latin typeface="Calibri" pitchFamily="34" charset="0"/>
                <a:ea typeface="Calibri" pitchFamily="34" charset="-122"/>
                <a:cs typeface="Calibri" pitchFamily="34" charset="-120"/>
              </a:rPr>
              <a:t>Finance is boring. Do it once, get it right, and move on.</a:t>
            </a:r>
            <a:endParaRPr lang="en-US" sz="1300"/>
          </a:p>
        </p:txBody>
      </p:sp>
      <p:sp>
        <p:nvSpPr>
          <p:cNvPr id="8" name="Text 6"/>
          <p:cNvSpPr/>
          <p:nvPr/>
        </p:nvSpPr>
        <p:spPr>
          <a:xfrm>
            <a:off x="457200" y="4709160"/>
            <a:ext cx="6400800" cy="320040"/>
          </a:xfrm>
          <a:prstGeom prst="rect">
            <a:avLst/>
          </a:prstGeom>
          <a:noFill/>
          <a:ln/>
        </p:spPr>
        <p:txBody>
          <a:bodyPr wrap="square" rtlCol="0" anchor="ctr"/>
          <a:lstStyle/>
          <a:p>
            <a:pPr marL="0" indent="0">
              <a:buNone/>
            </a:pPr>
            <a:r>
              <a:rPr lang="en-US" sz="900">
                <a:solidFill>
                  <a:srgbClr val="8899AA"/>
                </a:solidFill>
                <a:latin typeface="Calibri" pitchFamily="34" charset="0"/>
                <a:ea typeface="Calibri" pitchFamily="34" charset="-122"/>
                <a:cs typeface="Calibri" pitchFamily="34" charset="-120"/>
              </a:rPr>
              <a:t>F.I.R.E. for Effect  |  OA3801</a:t>
            </a:r>
            <a:endParaRPr lang="en-US"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rtlCol="0" anchor="ctr"/>
          <a:lstStyle/>
          <a:p>
            <a:pPr marL="0" indent="0">
              <a:buNone/>
            </a:pPr>
            <a:r>
              <a:rPr lang="en-US" sz="3200" b="1">
                <a:solidFill>
                  <a:srgbClr val="1B2A4A"/>
                </a:solidFill>
                <a:latin typeface="Georgia" pitchFamily="34" charset="0"/>
                <a:ea typeface="Georgia" pitchFamily="34" charset="-122"/>
                <a:cs typeface="Georgia" pitchFamily="34" charset="-120"/>
              </a:rPr>
              <a:t>THE PROBLEM</a:t>
            </a:r>
            <a:endParaRPr lang="en-US" sz="3200"/>
          </a:p>
        </p:txBody>
      </p:sp>
      <p:sp>
        <p:nvSpPr>
          <p:cNvPr id="3" name="Text 1"/>
          <p:cNvSpPr/>
          <p:nvPr/>
        </p:nvSpPr>
        <p:spPr>
          <a:xfrm>
            <a:off x="548640" y="822960"/>
            <a:ext cx="8046720" cy="365760"/>
          </a:xfrm>
          <a:prstGeom prst="rect">
            <a:avLst/>
          </a:prstGeom>
          <a:noFill/>
          <a:ln/>
        </p:spPr>
        <p:txBody>
          <a:bodyPr wrap="square" rtlCol="0" anchor="ctr"/>
          <a:lstStyle/>
          <a:p>
            <a:pPr marL="0" indent="0">
              <a:buNone/>
            </a:pPr>
            <a:r>
              <a:rPr lang="en-US" sz="1300" i="1">
                <a:solidFill>
                  <a:srgbClr val="636E72"/>
                </a:solidFill>
                <a:latin typeface="Calibri" pitchFamily="34" charset="0"/>
                <a:ea typeface="Calibri" pitchFamily="34" charset="-122"/>
                <a:cs typeface="Calibri" pitchFamily="34" charset="-120"/>
              </a:rPr>
              <a:t>The most complex compensation structure in any employment sector — and no single tool to decode it</a:t>
            </a:r>
            <a:endParaRPr lang="en-US" sz="1300"/>
          </a:p>
        </p:txBody>
      </p:sp>
      <p:sp>
        <p:nvSpPr>
          <p:cNvPr id="4" name="Shape 2"/>
          <p:cNvSpPr/>
          <p:nvPr/>
        </p:nvSpPr>
        <p:spPr>
          <a:xfrm>
            <a:off x="365760" y="1325880"/>
            <a:ext cx="2697480" cy="15087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5" name="Text 3"/>
          <p:cNvSpPr/>
          <p:nvPr/>
        </p:nvSpPr>
        <p:spPr>
          <a:xfrm>
            <a:off x="365760" y="1325880"/>
            <a:ext cx="2697480" cy="548640"/>
          </a:xfrm>
          <a:prstGeom prst="rect">
            <a:avLst/>
          </a:prstGeom>
          <a:noFill/>
          <a:ln/>
        </p:spPr>
        <p:txBody>
          <a:bodyPr wrap="square" rtlCol="0" anchor="ctr"/>
          <a:lstStyle/>
          <a:p>
            <a:pPr marL="0" indent="0" algn="ctr">
              <a:buNone/>
            </a:pPr>
            <a:r>
              <a:rPr lang="en-US" sz="3000" b="1">
                <a:solidFill>
                  <a:srgbClr val="E74C3C"/>
                </a:solidFill>
                <a:latin typeface="Georgia" pitchFamily="34" charset="0"/>
                <a:ea typeface="Georgia" pitchFamily="34" charset="-122"/>
                <a:cs typeface="Georgia" pitchFamily="34" charset="-120"/>
              </a:rPr>
              <a:t>~25%</a:t>
            </a:r>
            <a:endParaRPr lang="en-US" sz="3000"/>
          </a:p>
        </p:txBody>
      </p:sp>
      <p:sp>
        <p:nvSpPr>
          <p:cNvPr id="6" name="Text 4"/>
          <p:cNvSpPr/>
          <p:nvPr/>
        </p:nvSpPr>
        <p:spPr>
          <a:xfrm>
            <a:off x="365760" y="1783080"/>
            <a:ext cx="2697480" cy="228600"/>
          </a:xfrm>
          <a:prstGeom prst="rect">
            <a:avLst/>
          </a:prstGeom>
          <a:noFill/>
          <a:ln/>
        </p:spPr>
        <p:txBody>
          <a:bodyPr wrap="square" rtlCol="0" anchor="ctr"/>
          <a:lstStyle/>
          <a:p>
            <a:pPr marL="0" indent="0" algn="ctr">
              <a:buNone/>
            </a:pPr>
            <a:r>
              <a:rPr lang="en-US" sz="1000" b="1" kern="0" spc="200">
                <a:solidFill>
                  <a:srgbClr val="C5A55A"/>
                </a:solidFill>
                <a:latin typeface="Calibri" pitchFamily="34" charset="0"/>
                <a:ea typeface="Calibri" pitchFamily="34" charset="-122"/>
                <a:cs typeface="Calibri" pitchFamily="34" charset="-120"/>
              </a:rPr>
              <a:t>Food Insecure</a:t>
            </a:r>
            <a:endParaRPr lang="en-US" sz="1000"/>
          </a:p>
        </p:txBody>
      </p:sp>
      <p:sp>
        <p:nvSpPr>
          <p:cNvPr id="7" name="Text 5"/>
          <p:cNvSpPr/>
          <p:nvPr/>
        </p:nvSpPr>
        <p:spPr>
          <a:xfrm>
            <a:off x="502920" y="2011680"/>
            <a:ext cx="2423160" cy="502920"/>
          </a:xfrm>
          <a:prstGeom prst="rect">
            <a:avLst/>
          </a:prstGeom>
          <a:noFill/>
          <a:ln/>
        </p:spPr>
        <p:txBody>
          <a:bodyPr wrap="square" rtlCol="0" anchor="t"/>
          <a:lstStyle/>
          <a:p>
            <a:pPr marL="0" indent="0" algn="ctr">
              <a:buNone/>
            </a:pPr>
            <a:r>
              <a:rPr lang="en-US" sz="1000">
                <a:solidFill>
                  <a:srgbClr val="2D3436"/>
                </a:solidFill>
                <a:latin typeface="Calibri" pitchFamily="34" charset="0"/>
                <a:ea typeface="Calibri" pitchFamily="34" charset="-122"/>
                <a:cs typeface="Calibri" pitchFamily="34" charset="-120"/>
              </a:rPr>
              <a:t>of active-duty members experience food insecurity — over 2x the civilian rate</a:t>
            </a:r>
            <a:endParaRPr lang="en-US" sz="1000"/>
          </a:p>
        </p:txBody>
      </p:sp>
      <p:sp>
        <p:nvSpPr>
          <p:cNvPr id="8" name="Text 6"/>
          <p:cNvSpPr/>
          <p:nvPr/>
        </p:nvSpPr>
        <p:spPr>
          <a:xfrm>
            <a:off x="502920" y="2542032"/>
            <a:ext cx="2423160" cy="228600"/>
          </a:xfrm>
          <a:prstGeom prst="rect">
            <a:avLst/>
          </a:prstGeom>
          <a:noFill/>
          <a:ln/>
        </p:spPr>
        <p:txBody>
          <a:bodyPr wrap="square" rtlCol="0" anchor="ctr"/>
          <a:lstStyle/>
          <a:p>
            <a:pPr marL="0" indent="0" algn="ctr">
              <a:buNone/>
            </a:pPr>
            <a:r>
              <a:rPr lang="en-US" sz="800" i="1">
                <a:solidFill>
                  <a:srgbClr val="636E72"/>
                </a:solidFill>
                <a:latin typeface="Calibri" pitchFamily="34" charset="0"/>
                <a:ea typeface="Calibri" pitchFamily="34" charset="-122"/>
                <a:cs typeface="Calibri" pitchFamily="34" charset="-120"/>
              </a:rPr>
              <a:t>RAND / DoD SOFS-A</a:t>
            </a:r>
            <a:endParaRPr lang="en-US" sz="800"/>
          </a:p>
        </p:txBody>
      </p:sp>
      <p:sp>
        <p:nvSpPr>
          <p:cNvPr id="9" name="Shape 7"/>
          <p:cNvSpPr/>
          <p:nvPr/>
        </p:nvSpPr>
        <p:spPr>
          <a:xfrm>
            <a:off x="3246120" y="1325880"/>
            <a:ext cx="2697480" cy="15087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3246120" y="1325880"/>
            <a:ext cx="2697480" cy="548640"/>
          </a:xfrm>
          <a:prstGeom prst="rect">
            <a:avLst/>
          </a:prstGeom>
          <a:noFill/>
          <a:ln/>
        </p:spPr>
        <p:txBody>
          <a:bodyPr wrap="square" rtlCol="0" anchor="ctr"/>
          <a:lstStyle/>
          <a:p>
            <a:pPr marL="0" indent="0" algn="ctr">
              <a:buNone/>
            </a:pPr>
            <a:r>
              <a:rPr lang="en-US" sz="3000" b="1">
                <a:solidFill>
                  <a:srgbClr val="E74C3C"/>
                </a:solidFill>
                <a:latin typeface="Georgia" pitchFamily="34" charset="0"/>
                <a:ea typeface="Georgia" pitchFamily="34" charset="-122"/>
                <a:cs typeface="Georgia" pitchFamily="34" charset="-120"/>
              </a:rPr>
              <a:t>2x</a:t>
            </a:r>
            <a:endParaRPr lang="en-US" sz="3000"/>
          </a:p>
        </p:txBody>
      </p:sp>
      <p:sp>
        <p:nvSpPr>
          <p:cNvPr id="11" name="Text 9"/>
          <p:cNvSpPr/>
          <p:nvPr/>
        </p:nvSpPr>
        <p:spPr>
          <a:xfrm>
            <a:off x="3246120" y="1783080"/>
            <a:ext cx="2697480" cy="228600"/>
          </a:xfrm>
          <a:prstGeom prst="rect">
            <a:avLst/>
          </a:prstGeom>
          <a:noFill/>
          <a:ln/>
        </p:spPr>
        <p:txBody>
          <a:bodyPr wrap="square" rtlCol="0" anchor="ctr"/>
          <a:lstStyle/>
          <a:p>
            <a:pPr marL="0" indent="0" algn="ctr">
              <a:buNone/>
            </a:pPr>
            <a:r>
              <a:rPr lang="en-US" sz="1000" b="1" kern="0" spc="200">
                <a:solidFill>
                  <a:srgbClr val="C5A55A"/>
                </a:solidFill>
                <a:latin typeface="Calibri" pitchFamily="34" charset="0"/>
                <a:ea typeface="Calibri" pitchFamily="34" charset="-122"/>
                <a:cs typeface="Calibri" pitchFamily="34" charset="-120"/>
              </a:rPr>
              <a:t>Payday Loan Use</a:t>
            </a:r>
            <a:endParaRPr lang="en-US" sz="1000"/>
          </a:p>
        </p:txBody>
      </p:sp>
      <p:sp>
        <p:nvSpPr>
          <p:cNvPr id="12" name="Text 10"/>
          <p:cNvSpPr/>
          <p:nvPr/>
        </p:nvSpPr>
        <p:spPr>
          <a:xfrm>
            <a:off x="3383280" y="2011680"/>
            <a:ext cx="2423160" cy="502920"/>
          </a:xfrm>
          <a:prstGeom prst="rect">
            <a:avLst/>
          </a:prstGeom>
          <a:noFill/>
          <a:ln/>
        </p:spPr>
        <p:txBody>
          <a:bodyPr wrap="square" rtlCol="0" anchor="t"/>
          <a:lstStyle/>
          <a:p>
            <a:pPr marL="0" indent="0" algn="ctr">
              <a:buNone/>
            </a:pPr>
            <a:r>
              <a:rPr lang="en-US" sz="1000">
                <a:solidFill>
                  <a:srgbClr val="2D3436"/>
                </a:solidFill>
                <a:latin typeface="Calibri" pitchFamily="34" charset="0"/>
                <a:ea typeface="Calibri" pitchFamily="34" charset="-122"/>
                <a:cs typeface="Calibri" pitchFamily="34" charset="-120"/>
              </a:rPr>
              <a:t>more likely than civilians to take out a predatory payday loan (up to 36% interest)</a:t>
            </a:r>
            <a:endParaRPr lang="en-US" sz="1000"/>
          </a:p>
        </p:txBody>
      </p:sp>
      <p:sp>
        <p:nvSpPr>
          <p:cNvPr id="13" name="Text 11"/>
          <p:cNvSpPr/>
          <p:nvPr/>
        </p:nvSpPr>
        <p:spPr>
          <a:xfrm>
            <a:off x="3383280" y="2542032"/>
            <a:ext cx="2423160" cy="228600"/>
          </a:xfrm>
          <a:prstGeom prst="rect">
            <a:avLst/>
          </a:prstGeom>
          <a:noFill/>
          <a:ln/>
        </p:spPr>
        <p:txBody>
          <a:bodyPr wrap="square" rtlCol="0" anchor="ctr"/>
          <a:lstStyle/>
          <a:p>
            <a:pPr marL="0" indent="0" algn="ctr">
              <a:buNone/>
            </a:pPr>
            <a:r>
              <a:rPr lang="en-US" sz="800" i="1">
                <a:solidFill>
                  <a:srgbClr val="636E72"/>
                </a:solidFill>
                <a:latin typeface="Calibri" pitchFamily="34" charset="0"/>
                <a:ea typeface="Calibri" pitchFamily="34" charset="-122"/>
                <a:cs typeface="Calibri" pitchFamily="34" charset="-120"/>
              </a:rPr>
              <a:t>DoD Report to Congress/CFPB</a:t>
            </a:r>
            <a:endParaRPr lang="en-US" sz="800"/>
          </a:p>
        </p:txBody>
      </p:sp>
      <p:sp>
        <p:nvSpPr>
          <p:cNvPr id="14" name="Shape 12"/>
          <p:cNvSpPr/>
          <p:nvPr/>
        </p:nvSpPr>
        <p:spPr>
          <a:xfrm>
            <a:off x="6126480" y="1325880"/>
            <a:ext cx="2697480" cy="15087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5" name="Text 13"/>
          <p:cNvSpPr/>
          <p:nvPr/>
        </p:nvSpPr>
        <p:spPr>
          <a:xfrm>
            <a:off x="6126480" y="1325880"/>
            <a:ext cx="2697480" cy="548640"/>
          </a:xfrm>
          <a:prstGeom prst="rect">
            <a:avLst/>
          </a:prstGeom>
          <a:noFill/>
          <a:ln/>
        </p:spPr>
        <p:txBody>
          <a:bodyPr wrap="square" rtlCol="0" anchor="ctr"/>
          <a:lstStyle/>
          <a:p>
            <a:pPr marL="0" indent="0" algn="ctr">
              <a:buNone/>
            </a:pPr>
            <a:r>
              <a:rPr lang="en-US" sz="3000" b="1">
                <a:solidFill>
                  <a:srgbClr val="E74C3C"/>
                </a:solidFill>
                <a:latin typeface="Georgia" pitchFamily="34" charset="0"/>
              </a:rPr>
              <a:t>#1 Reason</a:t>
            </a:r>
            <a:endParaRPr lang="en-US" sz="3000"/>
          </a:p>
        </p:txBody>
      </p:sp>
      <p:sp>
        <p:nvSpPr>
          <p:cNvPr id="16" name="Text 14"/>
          <p:cNvSpPr/>
          <p:nvPr/>
        </p:nvSpPr>
        <p:spPr>
          <a:xfrm>
            <a:off x="6126480" y="1783080"/>
            <a:ext cx="2697480" cy="228600"/>
          </a:xfrm>
          <a:prstGeom prst="rect">
            <a:avLst/>
          </a:prstGeom>
          <a:noFill/>
          <a:ln/>
        </p:spPr>
        <p:txBody>
          <a:bodyPr wrap="square" rtlCol="0" anchor="ctr"/>
          <a:lstStyle/>
          <a:p>
            <a:pPr marL="0" indent="0" algn="ctr">
              <a:buNone/>
            </a:pPr>
            <a:r>
              <a:rPr lang="en-US" sz="1000" b="1" kern="0" spc="200">
                <a:solidFill>
                  <a:srgbClr val="C5A55A"/>
                </a:solidFill>
                <a:latin typeface="Calibri" pitchFamily="34" charset="0"/>
                <a:ea typeface="Calibri" pitchFamily="34" charset="-122"/>
                <a:cs typeface="Calibri" pitchFamily="34" charset="-120"/>
              </a:rPr>
              <a:t>For Clearance Denials</a:t>
            </a:r>
            <a:endParaRPr lang="en-US" sz="1000"/>
          </a:p>
        </p:txBody>
      </p:sp>
      <p:sp>
        <p:nvSpPr>
          <p:cNvPr id="17" name="Text 15"/>
          <p:cNvSpPr/>
          <p:nvPr/>
        </p:nvSpPr>
        <p:spPr>
          <a:xfrm>
            <a:off x="6263640" y="2011680"/>
            <a:ext cx="2423160" cy="502920"/>
          </a:xfrm>
          <a:prstGeom prst="rect">
            <a:avLst/>
          </a:prstGeom>
          <a:noFill/>
          <a:ln/>
        </p:spPr>
        <p:txBody>
          <a:bodyPr wrap="square" rtlCol="0" anchor="t"/>
          <a:lstStyle/>
          <a:p>
            <a:pPr marL="0" indent="0" algn="ctr">
              <a:buNone/>
            </a:pPr>
            <a:r>
              <a:rPr lang="en-US" sz="1000">
                <a:solidFill>
                  <a:srgbClr val="2D3436"/>
                </a:solidFill>
                <a:latin typeface="Calibri" pitchFamily="34" charset="0"/>
                <a:ea typeface="Calibri" pitchFamily="34" charset="-122"/>
                <a:cs typeface="Calibri" pitchFamily="34" charset="-120"/>
              </a:rPr>
              <a:t>Financial problems are #1 reason for revoked or denied clearances</a:t>
            </a:r>
            <a:endParaRPr lang="en-US" sz="1000"/>
          </a:p>
        </p:txBody>
      </p:sp>
      <p:sp>
        <p:nvSpPr>
          <p:cNvPr id="18" name="Text 16"/>
          <p:cNvSpPr/>
          <p:nvPr/>
        </p:nvSpPr>
        <p:spPr>
          <a:xfrm>
            <a:off x="6263640" y="2542032"/>
            <a:ext cx="2423160" cy="228600"/>
          </a:xfrm>
          <a:prstGeom prst="rect">
            <a:avLst/>
          </a:prstGeom>
          <a:noFill/>
          <a:ln/>
        </p:spPr>
        <p:txBody>
          <a:bodyPr wrap="square" rtlCol="0" anchor="ctr"/>
          <a:lstStyle/>
          <a:p>
            <a:pPr marL="0" indent="0" algn="ctr">
              <a:buNone/>
            </a:pPr>
            <a:r>
              <a:rPr lang="en-US" sz="800" i="1">
                <a:solidFill>
                  <a:srgbClr val="636E72"/>
                </a:solidFill>
                <a:latin typeface="Calibri" pitchFamily="34" charset="0"/>
                <a:ea typeface="Calibri" pitchFamily="34" charset="-122"/>
                <a:cs typeface="Calibri" pitchFamily="34" charset="-120"/>
              </a:rPr>
              <a:t>UCMJ.us</a:t>
            </a:r>
            <a:endParaRPr lang="en-US" sz="800"/>
          </a:p>
        </p:txBody>
      </p:sp>
      <p:sp>
        <p:nvSpPr>
          <p:cNvPr id="19" name="Shape 17"/>
          <p:cNvSpPr/>
          <p:nvPr/>
        </p:nvSpPr>
        <p:spPr>
          <a:xfrm>
            <a:off x="365760" y="3017520"/>
            <a:ext cx="4114800" cy="16002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20" name="Shape 18"/>
          <p:cNvSpPr/>
          <p:nvPr/>
        </p:nvSpPr>
        <p:spPr>
          <a:xfrm>
            <a:off x="365760" y="3017520"/>
            <a:ext cx="64008" cy="1600200"/>
          </a:xfrm>
          <a:prstGeom prst="rect">
            <a:avLst/>
          </a:prstGeom>
          <a:solidFill>
            <a:srgbClr val="E74C3C"/>
          </a:solidFill>
          <a:ln/>
        </p:spPr>
        <p:txBody>
          <a:bodyPr/>
          <a:lstStyle/>
          <a:p>
            <a:endParaRPr lang="en-US"/>
          </a:p>
        </p:txBody>
      </p:sp>
      <p:sp>
        <p:nvSpPr>
          <p:cNvPr id="21" name="Text 19"/>
          <p:cNvSpPr/>
          <p:nvPr/>
        </p:nvSpPr>
        <p:spPr>
          <a:xfrm>
            <a:off x="594360" y="3063240"/>
            <a:ext cx="3749040" cy="320040"/>
          </a:xfrm>
          <a:prstGeom prst="rect">
            <a:avLst/>
          </a:prstGeom>
          <a:noFill/>
          <a:ln/>
        </p:spPr>
        <p:txBody>
          <a:bodyPr wrap="square" rtlCol="0" anchor="ctr"/>
          <a:lstStyle/>
          <a:p>
            <a:pPr marL="0" indent="0">
              <a:buNone/>
            </a:pPr>
            <a:r>
              <a:rPr lang="en-US" sz="1400" b="1">
                <a:solidFill>
                  <a:srgbClr val="1B2A4A"/>
                </a:solidFill>
                <a:latin typeface="Georgia" pitchFamily="34" charset="0"/>
                <a:ea typeface="Georgia" pitchFamily="34" charset="-122"/>
                <a:cs typeface="Georgia" pitchFamily="34" charset="-120"/>
              </a:rPr>
              <a:t>The Problem Isn’t the Paycheck</a:t>
            </a:r>
            <a:endParaRPr lang="en-US" sz="1400"/>
          </a:p>
        </p:txBody>
      </p:sp>
      <p:sp>
        <p:nvSpPr>
          <p:cNvPr id="22" name="Text 20"/>
          <p:cNvSpPr/>
          <p:nvPr/>
        </p:nvSpPr>
        <p:spPr>
          <a:xfrm>
            <a:off x="594360" y="3364992"/>
            <a:ext cx="3749040" cy="640080"/>
          </a:xfrm>
          <a:prstGeom prst="rect">
            <a:avLst/>
          </a:prstGeom>
          <a:noFill/>
          <a:ln/>
        </p:spPr>
        <p:txBody>
          <a:bodyPr wrap="square" rtlCol="0" anchor="t"/>
          <a:lstStyle/>
          <a:p>
            <a:pPr marL="0" indent="0">
              <a:buNone/>
            </a:pPr>
            <a:r>
              <a:rPr lang="en-US" sz="950">
                <a:solidFill>
                  <a:srgbClr val="2D3436"/>
                </a:solidFill>
                <a:latin typeface="Calibri" pitchFamily="34" charset="0"/>
                <a:ea typeface="Calibri" pitchFamily="34" charset="-122"/>
                <a:cs typeface="Calibri" pitchFamily="34" charset="-120"/>
              </a:rPr>
              <a:t>Compensation exceeds the 83rd percentile of comparable civilian earnings, but with BAH, BAS, Base Pay, Special Pay, pension, and VA benefits most never fully understand there is no single tool translates all of it into clear answers:</a:t>
            </a:r>
            <a:endParaRPr lang="en-US" sz="950"/>
          </a:p>
        </p:txBody>
      </p:sp>
      <p:sp>
        <p:nvSpPr>
          <p:cNvPr id="23" name="Text 21"/>
          <p:cNvSpPr/>
          <p:nvPr/>
        </p:nvSpPr>
        <p:spPr>
          <a:xfrm>
            <a:off x="594360" y="4130548"/>
            <a:ext cx="3749040" cy="320040"/>
          </a:xfrm>
          <a:prstGeom prst="rect">
            <a:avLst/>
          </a:prstGeom>
          <a:noFill/>
          <a:ln/>
        </p:spPr>
        <p:txBody>
          <a:bodyPr wrap="square" rtlCol="0" anchor="ctr"/>
          <a:lstStyle/>
          <a:p>
            <a:pPr marL="0" indent="0">
              <a:buNone/>
            </a:pPr>
            <a:r>
              <a:rPr lang="en-US" sz="1100" b="1" i="1">
                <a:solidFill>
                  <a:srgbClr val="1B2A4A"/>
                </a:solidFill>
                <a:latin typeface="Georgia" pitchFamily="34" charset="0"/>
                <a:ea typeface="Georgia" pitchFamily="34" charset="-122"/>
                <a:cs typeface="Georgia" pitchFamily="34" charset="-120"/>
              </a:rPr>
              <a:t>What do I make?   </a:t>
            </a:r>
          </a:p>
          <a:p>
            <a:pPr marL="0" indent="0">
              <a:buNone/>
            </a:pPr>
            <a:r>
              <a:rPr lang="en-US" sz="1100" b="1" i="1">
                <a:solidFill>
                  <a:srgbClr val="1B2A4A"/>
                </a:solidFill>
                <a:latin typeface="Georgia" pitchFamily="34" charset="0"/>
                <a:ea typeface="Georgia" pitchFamily="34" charset="-122"/>
                <a:cs typeface="Georgia" pitchFamily="34" charset="-120"/>
              </a:rPr>
              <a:t>What do I need to save?   </a:t>
            </a:r>
          </a:p>
          <a:p>
            <a:pPr marL="0" indent="0">
              <a:buNone/>
            </a:pPr>
            <a:r>
              <a:rPr lang="en-US" sz="1100" b="1" i="1">
                <a:solidFill>
                  <a:srgbClr val="1B2A4A"/>
                </a:solidFill>
                <a:latin typeface="Georgia" pitchFamily="34" charset="0"/>
                <a:ea typeface="Georgia" pitchFamily="34" charset="-122"/>
                <a:cs typeface="Georgia" pitchFamily="34" charset="-120"/>
              </a:rPr>
              <a:t>Where does it go?</a:t>
            </a:r>
            <a:endParaRPr lang="en-US" sz="1100"/>
          </a:p>
        </p:txBody>
      </p:sp>
      <p:sp>
        <p:nvSpPr>
          <p:cNvPr id="24" name="Shape 22"/>
          <p:cNvSpPr/>
          <p:nvPr/>
        </p:nvSpPr>
        <p:spPr>
          <a:xfrm>
            <a:off x="4663440" y="3017520"/>
            <a:ext cx="4114800" cy="16002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25" name="Shape 23"/>
          <p:cNvSpPr/>
          <p:nvPr/>
        </p:nvSpPr>
        <p:spPr>
          <a:xfrm>
            <a:off x="4663440" y="3017520"/>
            <a:ext cx="64008" cy="1600200"/>
          </a:xfrm>
          <a:prstGeom prst="rect">
            <a:avLst/>
          </a:prstGeom>
          <a:solidFill>
            <a:srgbClr val="1B2A4A"/>
          </a:solidFill>
          <a:ln/>
        </p:spPr>
        <p:txBody>
          <a:bodyPr/>
          <a:lstStyle/>
          <a:p>
            <a:endParaRPr lang="en-US"/>
          </a:p>
        </p:txBody>
      </p:sp>
      <p:sp>
        <p:nvSpPr>
          <p:cNvPr id="26" name="Text 24"/>
          <p:cNvSpPr/>
          <p:nvPr/>
        </p:nvSpPr>
        <p:spPr>
          <a:xfrm>
            <a:off x="4892040" y="3063240"/>
            <a:ext cx="3749040" cy="320040"/>
          </a:xfrm>
          <a:prstGeom prst="rect">
            <a:avLst/>
          </a:prstGeom>
          <a:noFill/>
          <a:ln/>
        </p:spPr>
        <p:txBody>
          <a:bodyPr wrap="square" rtlCol="0" anchor="ctr"/>
          <a:lstStyle/>
          <a:p>
            <a:pPr marL="0" indent="0">
              <a:buNone/>
            </a:pPr>
            <a:r>
              <a:rPr lang="en-US" sz="1400" b="1">
                <a:solidFill>
                  <a:srgbClr val="1B2A4A"/>
                </a:solidFill>
                <a:latin typeface="Georgia" pitchFamily="34" charset="0"/>
                <a:ea typeface="Georgia" pitchFamily="34" charset="-122"/>
                <a:cs typeface="Georgia" pitchFamily="34" charset="-120"/>
              </a:rPr>
              <a:t>The Consequences</a:t>
            </a:r>
            <a:endParaRPr lang="en-US" sz="1400"/>
          </a:p>
        </p:txBody>
      </p:sp>
      <p:sp>
        <p:nvSpPr>
          <p:cNvPr id="27" name="Text 25"/>
          <p:cNvSpPr/>
          <p:nvPr/>
        </p:nvSpPr>
        <p:spPr>
          <a:xfrm>
            <a:off x="4892040" y="3383280"/>
            <a:ext cx="3749040" cy="1188720"/>
          </a:xfrm>
          <a:prstGeom prst="rect">
            <a:avLst/>
          </a:prstGeom>
          <a:noFill/>
          <a:ln/>
        </p:spPr>
        <p:txBody>
          <a:bodyPr wrap="square" rtlCol="0" anchor="t"/>
          <a:lstStyle/>
          <a:p>
            <a:pPr marL="342900" indent="-342900">
              <a:spcAft>
                <a:spcPts val="400"/>
              </a:spcAft>
              <a:buSzPct val="100000"/>
              <a:buChar char="•"/>
            </a:pPr>
            <a:r>
              <a:rPr lang="en-US" sz="1000">
                <a:solidFill>
                  <a:srgbClr val="2D3436"/>
                </a:solidFill>
                <a:latin typeface="Calibri" pitchFamily="34" charset="0"/>
                <a:ea typeface="Calibri" pitchFamily="34" charset="-122"/>
                <a:cs typeface="Calibri" pitchFamily="34" charset="-120"/>
              </a:rPr>
              <a:t>Less than 50% of BRS-enrolled SMs capture full DoD 5% match</a:t>
            </a:r>
            <a:endParaRPr lang="en-US" sz="1000"/>
          </a:p>
          <a:p>
            <a:pPr marL="342900" indent="-342900">
              <a:spcAft>
                <a:spcPts val="400"/>
              </a:spcAft>
              <a:buSzPct val="100000"/>
              <a:buChar char="•"/>
            </a:pPr>
            <a:r>
              <a:rPr lang="en-US" sz="1000">
                <a:solidFill>
                  <a:srgbClr val="2D3436"/>
                </a:solidFill>
                <a:latin typeface="Calibri" pitchFamily="34" charset="0"/>
                <a:ea typeface="Calibri" pitchFamily="34" charset="-122"/>
                <a:cs typeface="Calibri" pitchFamily="34" charset="-120"/>
              </a:rPr>
              <a:t>AVG  enlisted member separates with &lt;$10K in TSP savings</a:t>
            </a:r>
            <a:endParaRPr lang="en-US" sz="1000"/>
          </a:p>
          <a:p>
            <a:pPr marL="342900" indent="-342900">
              <a:spcAft>
                <a:spcPts val="400"/>
              </a:spcAft>
              <a:buSzPct val="100000"/>
              <a:buChar char="•"/>
            </a:pPr>
            <a:r>
              <a:rPr lang="en-US" sz="1000" b="1">
                <a:solidFill>
                  <a:srgbClr val="E74C3C"/>
                </a:solidFill>
                <a:latin typeface="Calibri" pitchFamily="34" charset="0"/>
                <a:ea typeface="Calibri" pitchFamily="34" charset="-122"/>
                <a:cs typeface="Calibri" pitchFamily="34" charset="-120"/>
              </a:rPr>
              <a:t>Financial distress threatens security clearances, retention, and readiness — an OPSEC vulnerability</a:t>
            </a:r>
            <a:endParaRPr lang="en-US" sz="1000"/>
          </a:p>
        </p:txBody>
      </p:sp>
      <p:sp>
        <p:nvSpPr>
          <p:cNvPr id="28" name="Text 26"/>
          <p:cNvSpPr/>
          <p:nvPr/>
        </p:nvSpPr>
        <p:spPr>
          <a:xfrm>
            <a:off x="457200" y="4709160"/>
            <a:ext cx="6400800" cy="320040"/>
          </a:xfrm>
          <a:prstGeom prst="rect">
            <a:avLst/>
          </a:prstGeom>
          <a:noFill/>
          <a:ln/>
        </p:spPr>
        <p:txBody>
          <a:bodyPr wrap="square" rtlCol="0" anchor="ctr"/>
          <a:lstStyle/>
          <a:p>
            <a:pPr marL="0" indent="0">
              <a:buNone/>
            </a:pPr>
            <a:r>
              <a:rPr lang="en-US" sz="900">
                <a:solidFill>
                  <a:srgbClr val="636E72"/>
                </a:solidFill>
                <a:latin typeface="Calibri" pitchFamily="34" charset="0"/>
                <a:ea typeface="Calibri" pitchFamily="34" charset="-122"/>
                <a:cs typeface="Calibri" pitchFamily="34" charset="-120"/>
              </a:rPr>
              <a:t>F.I.R.E. for Effect  |  OA3801</a:t>
            </a:r>
            <a:endParaRPr lang="en-US" sz="900"/>
          </a:p>
        </p:txBody>
      </p:sp>
      <p:sp>
        <p:nvSpPr>
          <p:cNvPr id="29" name="Text 27"/>
          <p:cNvSpPr/>
          <p:nvPr/>
        </p:nvSpPr>
        <p:spPr>
          <a:xfrm>
            <a:off x="8229600" y="4709160"/>
            <a:ext cx="640080" cy="320040"/>
          </a:xfrm>
          <a:prstGeom prst="rect">
            <a:avLst/>
          </a:prstGeom>
          <a:noFill/>
          <a:ln/>
        </p:spPr>
        <p:txBody>
          <a:bodyPr wrap="square" rtlCol="0" anchor="ctr"/>
          <a:lstStyle/>
          <a:p>
            <a:pPr marL="0" indent="0" algn="r">
              <a:buNone/>
            </a:pPr>
            <a:r>
              <a:rPr lang="en-US" sz="900">
                <a:solidFill>
                  <a:srgbClr val="636E72"/>
                </a:solidFill>
                <a:latin typeface="Calibri" pitchFamily="34" charset="0"/>
                <a:ea typeface="Calibri" pitchFamily="34" charset="-122"/>
                <a:cs typeface="Calibri" pitchFamily="34" charset="-120"/>
              </a:rPr>
              <a:t>2</a:t>
            </a:r>
            <a:endParaRPr lang="en-US"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0A77E-5AED-4E7D-B95E-BFFA91B58C0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E82E0E5-92DF-748D-D116-29AB45496D6F}"/>
              </a:ext>
            </a:extLst>
          </p:cNvPr>
          <p:cNvSpPr/>
          <p:nvPr/>
        </p:nvSpPr>
        <p:spPr>
          <a:xfrm>
            <a:off x="548640" y="274320"/>
            <a:ext cx="8046720" cy="640080"/>
          </a:xfrm>
          <a:prstGeom prst="rect">
            <a:avLst/>
          </a:prstGeom>
          <a:noFill/>
          <a:ln/>
        </p:spPr>
        <p:txBody>
          <a:bodyPr wrap="square" rtlCol="0" anchor="ctr"/>
          <a:lstStyle/>
          <a:p>
            <a:pPr marL="0" indent="0">
              <a:buNone/>
            </a:pPr>
            <a:r>
              <a:rPr lang="en-US" sz="3200" b="1">
                <a:solidFill>
                  <a:srgbClr val="1B2A4A"/>
                </a:solidFill>
                <a:latin typeface="Georgia" pitchFamily="34" charset="0"/>
                <a:ea typeface="Georgia" pitchFamily="34" charset="-122"/>
                <a:cs typeface="Georgia" pitchFamily="34" charset="-120"/>
              </a:rPr>
              <a:t>THE SOLUTION?</a:t>
            </a:r>
            <a:endParaRPr lang="en-US" sz="3200"/>
          </a:p>
        </p:txBody>
      </p:sp>
      <p:sp>
        <p:nvSpPr>
          <p:cNvPr id="3" name="Text 1">
            <a:extLst>
              <a:ext uri="{FF2B5EF4-FFF2-40B4-BE49-F238E27FC236}">
                <a16:creationId xmlns:a16="http://schemas.microsoft.com/office/drawing/2014/main" id="{FE432771-C013-C33B-7CB2-5B41198669B2}"/>
              </a:ext>
            </a:extLst>
          </p:cNvPr>
          <p:cNvSpPr/>
          <p:nvPr/>
        </p:nvSpPr>
        <p:spPr>
          <a:xfrm>
            <a:off x="548640" y="822960"/>
            <a:ext cx="8046720" cy="365760"/>
          </a:xfrm>
          <a:prstGeom prst="rect">
            <a:avLst/>
          </a:prstGeom>
          <a:noFill/>
          <a:ln/>
        </p:spPr>
        <p:txBody>
          <a:bodyPr wrap="square" rtlCol="0" anchor="ctr"/>
          <a:lstStyle/>
          <a:p>
            <a:pPr marL="0" indent="0">
              <a:buNone/>
            </a:pPr>
            <a:r>
              <a:rPr lang="en-US" sz="1300" i="1">
                <a:solidFill>
                  <a:srgbClr val="636E72"/>
                </a:solidFill>
                <a:latin typeface="Calibri" pitchFamily="34" charset="0"/>
                <a:ea typeface="Calibri" pitchFamily="34" charset="-122"/>
                <a:cs typeface="Calibri" pitchFamily="34" charset="-120"/>
              </a:rPr>
              <a:t>A one-stop financial readiness tool that gets service members to an 80% financial solution—or at least on the path—in 30 minutes.</a:t>
            </a:r>
            <a:endParaRPr lang="en-US" sz="1300"/>
          </a:p>
        </p:txBody>
      </p:sp>
      <p:sp>
        <p:nvSpPr>
          <p:cNvPr id="24" name="Shape 22">
            <a:extLst>
              <a:ext uri="{FF2B5EF4-FFF2-40B4-BE49-F238E27FC236}">
                <a16:creationId xmlns:a16="http://schemas.microsoft.com/office/drawing/2014/main" id="{1D44EBEF-DCC9-59CF-6F41-E5C4DDE36D51}"/>
              </a:ext>
            </a:extLst>
          </p:cNvPr>
          <p:cNvSpPr/>
          <p:nvPr/>
        </p:nvSpPr>
        <p:spPr>
          <a:xfrm>
            <a:off x="457200" y="1348740"/>
            <a:ext cx="8138160" cy="328041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25" name="Shape 23">
            <a:extLst>
              <a:ext uri="{FF2B5EF4-FFF2-40B4-BE49-F238E27FC236}">
                <a16:creationId xmlns:a16="http://schemas.microsoft.com/office/drawing/2014/main" id="{424C85E0-36C6-E301-13EB-64BBE50D50FF}"/>
              </a:ext>
            </a:extLst>
          </p:cNvPr>
          <p:cNvSpPr/>
          <p:nvPr/>
        </p:nvSpPr>
        <p:spPr>
          <a:xfrm>
            <a:off x="457200" y="1348740"/>
            <a:ext cx="64008" cy="3280410"/>
          </a:xfrm>
          <a:prstGeom prst="rect">
            <a:avLst/>
          </a:prstGeom>
          <a:solidFill>
            <a:srgbClr val="1B2A4A"/>
          </a:solidFill>
          <a:ln/>
        </p:spPr>
        <p:txBody>
          <a:bodyPr/>
          <a:lstStyle/>
          <a:p>
            <a:endParaRPr lang="en-US"/>
          </a:p>
        </p:txBody>
      </p:sp>
      <p:sp>
        <p:nvSpPr>
          <p:cNvPr id="26" name="Text 24">
            <a:extLst>
              <a:ext uri="{FF2B5EF4-FFF2-40B4-BE49-F238E27FC236}">
                <a16:creationId xmlns:a16="http://schemas.microsoft.com/office/drawing/2014/main" id="{41DC2A36-998B-46D6-2251-D6E2708842D9}"/>
              </a:ext>
            </a:extLst>
          </p:cNvPr>
          <p:cNvSpPr/>
          <p:nvPr/>
        </p:nvSpPr>
        <p:spPr>
          <a:xfrm>
            <a:off x="688340" y="1737360"/>
            <a:ext cx="7861300" cy="2479040"/>
          </a:xfrm>
          <a:prstGeom prst="rect">
            <a:avLst/>
          </a:prstGeom>
          <a:noFill/>
          <a:ln/>
        </p:spPr>
        <p:txBody>
          <a:bodyPr wrap="square" rtlCol="0" anchor="ctr"/>
          <a:lstStyle/>
          <a:p>
            <a:pPr marL="0" indent="0">
              <a:buNone/>
            </a:pPr>
            <a:r>
              <a:rPr lang="en-US" sz="1400" b="1">
                <a:solidFill>
                  <a:srgbClr val="1B2A4A"/>
                </a:solidFill>
                <a:latin typeface="Georgia" pitchFamily="34" charset="0"/>
                <a:ea typeface="Georgia" pitchFamily="34" charset="-122"/>
                <a:cs typeface="Georgia" pitchFamily="34" charset="-120"/>
              </a:rPr>
              <a:t>Understand what you make. </a:t>
            </a:r>
          </a:p>
          <a:p>
            <a:pPr marL="0" indent="0">
              <a:buNone/>
            </a:pPr>
            <a:endParaRPr lang="en-US" sz="1400" b="1">
              <a:solidFill>
                <a:srgbClr val="1B2A4A"/>
              </a:solidFill>
              <a:latin typeface="Georgia" pitchFamily="34" charset="0"/>
              <a:ea typeface="Georgia" pitchFamily="34" charset="-122"/>
              <a:cs typeface="Georgia" pitchFamily="34" charset="-120"/>
            </a:endParaRPr>
          </a:p>
          <a:p>
            <a:pPr marL="0" indent="0">
              <a:buNone/>
            </a:pPr>
            <a:r>
              <a:rPr lang="en-US" sz="1400" b="1">
                <a:solidFill>
                  <a:srgbClr val="1B2A4A"/>
                </a:solidFill>
                <a:latin typeface="Georgia" pitchFamily="34" charset="0"/>
                <a:ea typeface="Georgia" pitchFamily="34" charset="-122"/>
                <a:cs typeface="Georgia" pitchFamily="34" charset="-120"/>
              </a:rPr>
              <a:t>What do you need to save to achieve your goals?</a:t>
            </a:r>
          </a:p>
          <a:p>
            <a:pPr marL="0" indent="0">
              <a:buNone/>
            </a:pPr>
            <a:endParaRPr lang="en-US" sz="1400" b="1">
              <a:solidFill>
                <a:srgbClr val="1B2A4A"/>
              </a:solidFill>
              <a:latin typeface="Georgia" pitchFamily="34" charset="0"/>
              <a:ea typeface="Georgia" pitchFamily="34" charset="-122"/>
              <a:cs typeface="Georgia" pitchFamily="34" charset="-120"/>
            </a:endParaRPr>
          </a:p>
          <a:p>
            <a:pPr marL="0" indent="0">
              <a:buNone/>
            </a:pPr>
            <a:r>
              <a:rPr lang="en-US" sz="1400" b="1">
                <a:solidFill>
                  <a:srgbClr val="1B2A4A"/>
                </a:solidFill>
                <a:latin typeface="Georgia" pitchFamily="34" charset="0"/>
                <a:ea typeface="Georgia" pitchFamily="34" charset="-122"/>
                <a:cs typeface="Georgia" pitchFamily="34" charset="-120"/>
              </a:rPr>
              <a:t>Where is it going (and/or how to seal the financial sucking chest wound)?</a:t>
            </a:r>
            <a:endParaRPr lang="en-US" sz="1400"/>
          </a:p>
        </p:txBody>
      </p:sp>
      <p:sp>
        <p:nvSpPr>
          <p:cNvPr id="28" name="Text 26">
            <a:extLst>
              <a:ext uri="{FF2B5EF4-FFF2-40B4-BE49-F238E27FC236}">
                <a16:creationId xmlns:a16="http://schemas.microsoft.com/office/drawing/2014/main" id="{512F731B-68ED-6396-5A3A-B37FFFD65E70}"/>
              </a:ext>
            </a:extLst>
          </p:cNvPr>
          <p:cNvSpPr/>
          <p:nvPr/>
        </p:nvSpPr>
        <p:spPr>
          <a:xfrm>
            <a:off x="457200" y="4709160"/>
            <a:ext cx="6400800" cy="320040"/>
          </a:xfrm>
          <a:prstGeom prst="rect">
            <a:avLst/>
          </a:prstGeom>
          <a:noFill/>
          <a:ln/>
        </p:spPr>
        <p:txBody>
          <a:bodyPr wrap="square" rtlCol="0" anchor="ctr"/>
          <a:lstStyle/>
          <a:p>
            <a:pPr marL="0" indent="0">
              <a:buNone/>
            </a:pPr>
            <a:r>
              <a:rPr lang="en-US" sz="900">
                <a:solidFill>
                  <a:srgbClr val="636E72"/>
                </a:solidFill>
                <a:latin typeface="Calibri" pitchFamily="34" charset="0"/>
                <a:ea typeface="Calibri" pitchFamily="34" charset="-122"/>
                <a:cs typeface="Calibri" pitchFamily="34" charset="-120"/>
              </a:rPr>
              <a:t>F.I.R.E. for Effect  |  OA3801</a:t>
            </a:r>
            <a:endParaRPr lang="en-US" sz="900"/>
          </a:p>
        </p:txBody>
      </p:sp>
      <p:sp>
        <p:nvSpPr>
          <p:cNvPr id="29" name="Text 27">
            <a:extLst>
              <a:ext uri="{FF2B5EF4-FFF2-40B4-BE49-F238E27FC236}">
                <a16:creationId xmlns:a16="http://schemas.microsoft.com/office/drawing/2014/main" id="{A3936A0C-176B-AC13-0E0F-CDD8C20CF54B}"/>
              </a:ext>
            </a:extLst>
          </p:cNvPr>
          <p:cNvSpPr/>
          <p:nvPr/>
        </p:nvSpPr>
        <p:spPr>
          <a:xfrm>
            <a:off x="8229600" y="4709160"/>
            <a:ext cx="640080" cy="320040"/>
          </a:xfrm>
          <a:prstGeom prst="rect">
            <a:avLst/>
          </a:prstGeom>
          <a:noFill/>
          <a:ln/>
        </p:spPr>
        <p:txBody>
          <a:bodyPr wrap="square" rtlCol="0" anchor="ctr"/>
          <a:lstStyle/>
          <a:p>
            <a:pPr marL="0" indent="0" algn="r">
              <a:buNone/>
            </a:pPr>
            <a:r>
              <a:rPr lang="en-US" sz="900">
                <a:solidFill>
                  <a:srgbClr val="636E72"/>
                </a:solidFill>
                <a:latin typeface="Calibri" pitchFamily="34" charset="0"/>
                <a:ea typeface="Calibri" pitchFamily="34" charset="-122"/>
                <a:cs typeface="Calibri" pitchFamily="34" charset="-120"/>
              </a:rPr>
              <a:t>2</a:t>
            </a:r>
            <a:endParaRPr lang="en-US" sz="900"/>
          </a:p>
        </p:txBody>
      </p:sp>
    </p:spTree>
    <p:extLst>
      <p:ext uri="{BB962C8B-B14F-4D97-AF65-F5344CB8AC3E}">
        <p14:creationId xmlns:p14="http://schemas.microsoft.com/office/powerpoint/2010/main" val="3619011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5F5F0"/>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rtlCol="0" anchor="ctr"/>
          <a:lstStyle/>
          <a:p>
            <a:pPr marL="0" indent="0">
              <a:buNone/>
            </a:pPr>
            <a:r>
              <a:rPr lang="en-US" sz="3200" b="1">
                <a:solidFill>
                  <a:srgbClr val="1B2A4A"/>
                </a:solidFill>
                <a:latin typeface="Georgia" pitchFamily="34" charset="0"/>
                <a:ea typeface="Georgia" pitchFamily="34" charset="-122"/>
                <a:cs typeface="Georgia" pitchFamily="34" charset="-120"/>
              </a:rPr>
              <a:t>THE DATA WE NEEDED</a:t>
            </a:r>
            <a:endParaRPr lang="en-US" sz="3200"/>
          </a:p>
        </p:txBody>
      </p:sp>
      <p:sp>
        <p:nvSpPr>
          <p:cNvPr id="3" name="Text 1"/>
          <p:cNvSpPr/>
          <p:nvPr/>
        </p:nvSpPr>
        <p:spPr>
          <a:xfrm>
            <a:off x="548640" y="822960"/>
            <a:ext cx="8046720" cy="365760"/>
          </a:xfrm>
          <a:prstGeom prst="rect">
            <a:avLst/>
          </a:prstGeom>
          <a:noFill/>
          <a:ln/>
        </p:spPr>
        <p:txBody>
          <a:bodyPr wrap="square" rtlCol="0" anchor="ctr"/>
          <a:lstStyle/>
          <a:p>
            <a:pPr marL="0" indent="0">
              <a:buNone/>
            </a:pPr>
            <a:r>
              <a:rPr lang="en-US" sz="1400" i="1">
                <a:solidFill>
                  <a:srgbClr val="636E72"/>
                </a:solidFill>
                <a:latin typeface="Calibri" pitchFamily="34" charset="0"/>
                <a:ea typeface="Calibri" pitchFamily="34" charset="-122"/>
                <a:cs typeface="Calibri" pitchFamily="34" charset="-120"/>
              </a:rPr>
              <a:t>Six data sources, five different formats, one JSON</a:t>
            </a:r>
            <a:endParaRPr lang="en-US" sz="1400"/>
          </a:p>
        </p:txBody>
      </p:sp>
      <p:graphicFrame>
        <p:nvGraphicFramePr>
          <p:cNvPr id="4" name="Table 0"/>
          <p:cNvGraphicFramePr>
            <a:graphicFrameLocks noGrp="1"/>
          </p:cNvGraphicFramePr>
          <p:nvPr>
            <p:extLst>
              <p:ext uri="{D42A27DB-BD31-4B8C-83A1-F6EECF244321}">
                <p14:modId xmlns:p14="http://schemas.microsoft.com/office/powerpoint/2010/main" val="1901665289"/>
              </p:ext>
            </p:extLst>
          </p:nvPr>
        </p:nvGraphicFramePr>
        <p:xfrm>
          <a:off x="457200" y="1325880"/>
          <a:ext cx="8229600" cy="2496312"/>
        </p:xfrm>
        <a:graphic>
          <a:graphicData uri="http://schemas.openxmlformats.org/drawingml/2006/table">
            <a:tbl>
              <a:tblPr/>
              <a:tblGrid>
                <a:gridCol w="16459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347472">
                <a:tc>
                  <a:txBody>
                    <a:bodyPr/>
                    <a:lstStyle/>
                    <a:p>
                      <a:pPr marL="0" indent="0">
                        <a:buNone/>
                      </a:pPr>
                      <a:r>
                        <a:rPr lang="en-US" sz="1100" b="1">
                          <a:solidFill>
                            <a:srgbClr val="FFFFFF"/>
                          </a:solidFill>
                          <a:latin typeface="Calibri" pitchFamily="34" charset="0"/>
                          <a:ea typeface="Calibri" pitchFamily="34" charset="-122"/>
                          <a:cs typeface="Calibri" pitchFamily="34" charset="-120"/>
                        </a:rPr>
                        <a:t>Data Source</a:t>
                      </a:r>
                      <a:endParaRPr lang="en-US" sz="110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A4A"/>
                    </a:solidFill>
                  </a:tcPr>
                </a:tc>
                <a:tc>
                  <a:txBody>
                    <a:bodyPr/>
                    <a:lstStyle/>
                    <a:p>
                      <a:pPr marL="0" indent="0">
                        <a:buNone/>
                      </a:pPr>
                      <a:r>
                        <a:rPr lang="en-US" sz="1100" b="1">
                          <a:solidFill>
                            <a:srgbClr val="FFFFFF"/>
                          </a:solidFill>
                          <a:latin typeface="Calibri" pitchFamily="34" charset="0"/>
                          <a:ea typeface="Calibri" pitchFamily="34" charset="-122"/>
                          <a:cs typeface="Calibri" pitchFamily="34" charset="-120"/>
                        </a:rPr>
                        <a:t>What</a:t>
                      </a:r>
                      <a:endParaRPr lang="en-US" sz="110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A4A"/>
                    </a:solidFill>
                  </a:tcPr>
                </a:tc>
                <a:tc>
                  <a:txBody>
                    <a:bodyPr/>
                    <a:lstStyle/>
                    <a:p>
                      <a:pPr marL="0" indent="0">
                        <a:buNone/>
                      </a:pPr>
                      <a:r>
                        <a:rPr lang="en-US" sz="1100" b="1">
                          <a:solidFill>
                            <a:srgbClr val="FFFFFF"/>
                          </a:solidFill>
                          <a:latin typeface="Calibri" pitchFamily="34" charset="0"/>
                          <a:ea typeface="Calibri" pitchFamily="34" charset="-122"/>
                          <a:cs typeface="Calibri" pitchFamily="34" charset="-120"/>
                        </a:rPr>
                        <a:t>Raw Format</a:t>
                      </a:r>
                      <a:endParaRPr lang="en-US" sz="110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A4A"/>
                    </a:solidFill>
                  </a:tcPr>
                </a:tc>
                <a:tc>
                  <a:txBody>
                    <a:bodyPr/>
                    <a:lstStyle/>
                    <a:p>
                      <a:pPr marL="0" indent="0">
                        <a:buNone/>
                      </a:pPr>
                      <a:r>
                        <a:rPr lang="en-US" sz="1100" b="1">
                          <a:solidFill>
                            <a:srgbClr val="FFFFFF"/>
                          </a:solidFill>
                          <a:latin typeface="Calibri" pitchFamily="34" charset="0"/>
                          <a:ea typeface="Calibri" pitchFamily="34" charset="-122"/>
                          <a:cs typeface="Calibri" pitchFamily="34" charset="-120"/>
                        </a:rPr>
                        <a:t>Python Method</a:t>
                      </a:r>
                      <a:endParaRPr lang="en-US" sz="110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47472">
                <a:tc>
                  <a:txBody>
                    <a:bodyPr/>
                    <a:lstStyle/>
                    <a:p>
                      <a:pPr marL="0" indent="0">
                        <a:buNone/>
                      </a:pPr>
                      <a:r>
                        <a:rPr lang="en-US" sz="1050">
                          <a:solidFill>
                            <a:srgbClr val="2D3436"/>
                          </a:solidFill>
                          <a:latin typeface="Calibri" pitchFamily="34" charset="0"/>
                          <a:ea typeface="Calibri" pitchFamily="34" charset="-122"/>
                          <a:cs typeface="Calibri" pitchFamily="34" charset="-120"/>
                        </a:rPr>
                        <a:t>DFAS Pay Chart</a:t>
                      </a:r>
                      <a:endParaRPr lang="en-US" sz="105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a:solidFill>
                            <a:srgbClr val="2D3436"/>
                          </a:solidFill>
                          <a:latin typeface="Calibri" pitchFamily="34" charset="0"/>
                          <a:ea typeface="Calibri" pitchFamily="34" charset="-122"/>
                          <a:cs typeface="Calibri" pitchFamily="34" charset="-120"/>
                        </a:rPr>
                        <a:t>Base pay for all ranks &amp; TIS</a:t>
                      </a:r>
                      <a:endParaRPr lang="en-US" sz="105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b="1">
                          <a:solidFill>
                            <a:srgbClr val="E74C3C"/>
                          </a:solidFill>
                          <a:latin typeface="Calibri" pitchFamily="34" charset="0"/>
                          <a:ea typeface="Calibri" pitchFamily="34" charset="-122"/>
                          <a:cs typeface="Calibri" pitchFamily="34" charset="-120"/>
                        </a:rPr>
                        <a:t>PDF</a:t>
                      </a:r>
                      <a:endParaRPr lang="en-US" sz="105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a:solidFill>
                            <a:srgbClr val="2D3436"/>
                          </a:solidFill>
                          <a:latin typeface="Calibri"/>
                          <a:ea typeface="Calibri"/>
                          <a:cs typeface="Calibri"/>
                        </a:rPr>
                        <a:t>pdfplumber -&gt; pandas</a:t>
                      </a:r>
                      <a:endParaRPr lang="en-US" sz="1050">
                        <a:latin typeface="Calibri"/>
                        <a:ea typeface="Calibri"/>
                        <a:cs typeface="Calibri"/>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050">
                          <a:solidFill>
                            <a:srgbClr val="2D3436"/>
                          </a:solidFill>
                          <a:latin typeface="Calibri" pitchFamily="34" charset="0"/>
                          <a:ea typeface="Calibri" pitchFamily="34" charset="-122"/>
                          <a:cs typeface="Calibri" pitchFamily="34" charset="-120"/>
                        </a:rPr>
                        <a:t>BAH Rate Tables</a:t>
                      </a:r>
                      <a:endParaRPr lang="en-US" sz="105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a:solidFill>
                            <a:srgbClr val="2D3436"/>
                          </a:solidFill>
                          <a:latin typeface="Calibri" pitchFamily="34" charset="0"/>
                          <a:ea typeface="Calibri" pitchFamily="34" charset="-122"/>
                          <a:cs typeface="Calibri" pitchFamily="34" charset="-120"/>
                        </a:rPr>
                        <a:t>All ranks, ~300 MHAs, w/ &amp; w/o deps</a:t>
                      </a:r>
                      <a:endParaRPr lang="en-US" sz="105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b="1">
                          <a:solidFill>
                            <a:srgbClr val="E74C3C"/>
                          </a:solidFill>
                          <a:latin typeface="Calibri" pitchFamily="34" charset="0"/>
                          <a:ea typeface="Calibri" pitchFamily="34" charset="-122"/>
                          <a:cs typeface="Calibri" pitchFamily="34" charset="-120"/>
                        </a:rPr>
                        <a:t>Comma-delimited ASCII</a:t>
                      </a:r>
                      <a:endParaRPr lang="en-US" sz="105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a:solidFill>
                            <a:srgbClr val="2D3436"/>
                          </a:solidFill>
                          <a:latin typeface="Calibri"/>
                          <a:ea typeface="Calibri"/>
                          <a:cs typeface="Calibri"/>
                        </a:rPr>
                        <a:t>pandas.read_csv()</a:t>
                      </a:r>
                      <a:endParaRPr lang="en-US" sz="1050">
                        <a:latin typeface="Calibri"/>
                        <a:ea typeface="Calibri"/>
                        <a:cs typeface="Calibri"/>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050">
                          <a:solidFill>
                            <a:srgbClr val="2D3436"/>
                          </a:solidFill>
                          <a:latin typeface="Calibri" pitchFamily="34" charset="0"/>
                          <a:ea typeface="Calibri" pitchFamily="34" charset="-122"/>
                          <a:cs typeface="Calibri" pitchFamily="34" charset="-120"/>
                        </a:rPr>
                        <a:t>ZIP -&gt; MHA Crosswalk</a:t>
                      </a:r>
                      <a:endParaRPr lang="en-US" sz="105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a:solidFill>
                            <a:srgbClr val="2D3436"/>
                          </a:solidFill>
                          <a:latin typeface="Calibri" pitchFamily="34" charset="0"/>
                          <a:ea typeface="Calibri" pitchFamily="34" charset="-122"/>
                          <a:cs typeface="Calibri" pitchFamily="34" charset="-120"/>
                        </a:rPr>
                        <a:t>40,000 zip codes merged with MHA </a:t>
                      </a:r>
                      <a:endParaRPr lang="en-US" sz="105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b="1">
                          <a:solidFill>
                            <a:srgbClr val="E74C3C"/>
                          </a:solidFill>
                          <a:latin typeface="Calibri" pitchFamily="34" charset="0"/>
                          <a:ea typeface="Calibri" pitchFamily="34" charset="-122"/>
                          <a:cs typeface="Calibri" pitchFamily="34" charset="-120"/>
                        </a:rPr>
                        <a:t>Space-delimited ASCII</a:t>
                      </a:r>
                      <a:endParaRPr lang="en-US" sz="105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a:solidFill>
                            <a:srgbClr val="2D3436"/>
                          </a:solidFill>
                          <a:latin typeface="Calibri"/>
                          <a:ea typeface="Calibri"/>
                          <a:cs typeface="Calibri"/>
                        </a:rPr>
                        <a:t>pandas.read_csv(sep=' ')</a:t>
                      </a:r>
                      <a:endParaRPr lang="en-US" sz="1050">
                        <a:latin typeface="Calibri"/>
                        <a:ea typeface="Calibri"/>
                        <a:cs typeface="Calibri"/>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050">
                          <a:solidFill>
                            <a:srgbClr val="2D3436"/>
                          </a:solidFill>
                          <a:latin typeface="Calibri" pitchFamily="34" charset="0"/>
                          <a:ea typeface="Calibri" pitchFamily="34" charset="-122"/>
                          <a:cs typeface="Calibri" pitchFamily="34" charset="-120"/>
                        </a:rPr>
                        <a:t>MHA Names</a:t>
                      </a:r>
                      <a:endParaRPr lang="en-US" sz="105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a:solidFill>
                            <a:srgbClr val="2D3436"/>
                          </a:solidFill>
                          <a:latin typeface="Calibri" pitchFamily="34" charset="0"/>
                          <a:ea typeface="Calibri" pitchFamily="34" charset="-122"/>
                          <a:cs typeface="Calibri" pitchFamily="34" charset="-120"/>
                        </a:rPr>
                        <a:t>Human-readable location labels</a:t>
                      </a:r>
                      <a:endParaRPr lang="en-US" sz="105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b="1">
                          <a:solidFill>
                            <a:srgbClr val="E74C3C"/>
                          </a:solidFill>
                          <a:latin typeface="Calibri" pitchFamily="34" charset="0"/>
                          <a:ea typeface="Calibri" pitchFamily="34" charset="-122"/>
                          <a:cs typeface="Calibri" pitchFamily="34" charset="-120"/>
                        </a:rPr>
                        <a:t>Semicolon-delimited ASCII</a:t>
                      </a:r>
                      <a:endParaRPr lang="en-US" sz="105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a:solidFill>
                            <a:srgbClr val="2D3436"/>
                          </a:solidFill>
                          <a:latin typeface="Calibri"/>
                          <a:ea typeface="Calibri"/>
                          <a:cs typeface="Calibri"/>
                        </a:rPr>
                        <a:t>pandas.read_csv(sep=';')</a:t>
                      </a:r>
                      <a:endParaRPr lang="en-US" sz="1050">
                        <a:latin typeface="Calibri"/>
                        <a:ea typeface="Calibri"/>
                        <a:cs typeface="Calibri"/>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050">
                          <a:solidFill>
                            <a:srgbClr val="2D3436"/>
                          </a:solidFill>
                          <a:latin typeface="Calibri" pitchFamily="34" charset="0"/>
                          <a:ea typeface="Calibri" pitchFamily="34" charset="-122"/>
                          <a:cs typeface="Calibri" pitchFamily="34" charset="-120"/>
                        </a:rPr>
                        <a:t>TSP Fund History</a:t>
                      </a:r>
                      <a:endParaRPr lang="en-US" sz="105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a:solidFill>
                            <a:srgbClr val="2D3436"/>
                          </a:solidFill>
                          <a:latin typeface="Calibri"/>
                          <a:ea typeface="Calibri"/>
                          <a:cs typeface="Calibri"/>
                        </a:rPr>
                        <a:t>Monthly returns since inception</a:t>
                      </a:r>
                      <a:endParaRPr lang="en-US" sz="1050">
                        <a:latin typeface="Calibri"/>
                        <a:ea typeface="Calibri"/>
                        <a:cs typeface="Calibri"/>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b="1">
                          <a:solidFill>
                            <a:srgbClr val="E74C3C"/>
                          </a:solidFill>
                          <a:latin typeface="Calibri" pitchFamily="34" charset="0"/>
                          <a:ea typeface="Calibri" pitchFamily="34" charset="-122"/>
                          <a:cs typeface="Calibri" pitchFamily="34" charset="-120"/>
                        </a:rPr>
                        <a:t>API (TSP.gov / Yahoo)</a:t>
                      </a:r>
                      <a:endParaRPr lang="en-US" sz="105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a:solidFill>
                            <a:srgbClr val="2D3436"/>
                          </a:solidFill>
                          <a:latin typeface="Calibri"/>
                          <a:ea typeface="Calibri"/>
                          <a:cs typeface="Calibri"/>
                        </a:rPr>
                        <a:t>yfinance -&gt; proxy data</a:t>
                      </a:r>
                      <a:endParaRPr lang="en-US" sz="105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buNone/>
                      </a:pPr>
                      <a:r>
                        <a:rPr lang="en-US" sz="1050">
                          <a:solidFill>
                            <a:srgbClr val="2D3436"/>
                          </a:solidFill>
                          <a:latin typeface="Calibri" pitchFamily="34" charset="0"/>
                          <a:ea typeface="Calibri" pitchFamily="34" charset="-122"/>
                          <a:cs typeface="Calibri" pitchFamily="34" charset="-120"/>
                        </a:rPr>
                        <a:t>BAS / Special Pays</a:t>
                      </a:r>
                      <a:endParaRPr lang="en-US" sz="105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a:solidFill>
                            <a:srgbClr val="2D3436"/>
                          </a:solidFill>
                          <a:latin typeface="Calibri" pitchFamily="34" charset="0"/>
                          <a:ea typeface="Calibri" pitchFamily="34" charset="-122"/>
                          <a:cs typeface="Calibri" pitchFamily="34" charset="-120"/>
                        </a:rPr>
                        <a:t>Officer &amp; enlisted food allowance</a:t>
                      </a:r>
                      <a:endParaRPr lang="en-US" sz="105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b="1">
                          <a:solidFill>
                            <a:srgbClr val="E74C3C"/>
                          </a:solidFill>
                          <a:latin typeface="Calibri" pitchFamily="34" charset="0"/>
                          <a:ea typeface="Calibri" pitchFamily="34" charset="-122"/>
                          <a:cs typeface="Calibri" pitchFamily="34" charset="-120"/>
                        </a:rPr>
                        <a:t>Manual lookup</a:t>
                      </a:r>
                      <a:endParaRPr lang="en-US" sz="105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50">
                          <a:solidFill>
                            <a:srgbClr val="2D3436"/>
                          </a:solidFill>
                          <a:latin typeface="Calibri" pitchFamily="34" charset="0"/>
                          <a:ea typeface="Calibri" pitchFamily="34" charset="-122"/>
                          <a:cs typeface="Calibri" pitchFamily="34" charset="-120"/>
                        </a:rPr>
                        <a:t>Hardcoded in configuration planning</a:t>
                      </a:r>
                      <a:endParaRPr lang="en-US" sz="105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Shape 2"/>
          <p:cNvSpPr/>
          <p:nvPr/>
        </p:nvSpPr>
        <p:spPr>
          <a:xfrm>
            <a:off x="457200" y="3977640"/>
            <a:ext cx="8229600" cy="502920"/>
          </a:xfrm>
          <a:prstGeom prst="rect">
            <a:avLst/>
          </a:prstGeom>
          <a:solidFill>
            <a:srgbClr val="F5ECD7"/>
          </a:solidFill>
          <a:ln/>
          <a:effectLst>
            <a:outerShdw blurRad="50800" dist="25400" dir="8100000" algn="bl" rotWithShape="0">
              <a:srgbClr val="000000">
                <a:alpha val="12000"/>
              </a:srgbClr>
            </a:outerShdw>
          </a:effectLst>
        </p:spPr>
        <p:txBody>
          <a:bodyPr/>
          <a:lstStyle/>
          <a:p>
            <a:endParaRPr lang="en-US"/>
          </a:p>
        </p:txBody>
      </p:sp>
      <p:sp>
        <p:nvSpPr>
          <p:cNvPr id="6" name="Text 3"/>
          <p:cNvSpPr/>
          <p:nvPr/>
        </p:nvSpPr>
        <p:spPr>
          <a:xfrm>
            <a:off x="640080" y="3977640"/>
            <a:ext cx="7863840" cy="502920"/>
          </a:xfrm>
          <a:prstGeom prst="rect">
            <a:avLst/>
          </a:prstGeom>
          <a:noFill/>
          <a:ln/>
        </p:spPr>
        <p:txBody>
          <a:bodyPr wrap="square" rtlCol="0" anchor="ctr"/>
          <a:lstStyle/>
          <a:p>
            <a:pPr marL="0" indent="0">
              <a:buNone/>
            </a:pPr>
            <a:r>
              <a:rPr lang="en-US" sz="1100">
                <a:solidFill>
                  <a:srgbClr val="1B2A4A"/>
                </a:solidFill>
                <a:latin typeface="Calibri" pitchFamily="34" charset="0"/>
                <a:ea typeface="Calibri" pitchFamily="34" charset="-122"/>
                <a:cs typeface="Calibri" pitchFamily="34" charset="-120"/>
              </a:rPr>
              <a:t>Pay: All pay data aggregated into a single </a:t>
            </a:r>
            <a:r>
              <a:rPr lang="en-US" sz="1100" err="1">
                <a:solidFill>
                  <a:srgbClr val="1B2A4A"/>
                </a:solidFill>
                <a:latin typeface="Calibri" pitchFamily="34" charset="0"/>
                <a:ea typeface="Calibri" pitchFamily="34" charset="-122"/>
                <a:cs typeface="Calibri" pitchFamily="34" charset="-120"/>
              </a:rPr>
              <a:t>military_data.json</a:t>
            </a:r>
            <a:r>
              <a:rPr lang="en-US" sz="1100">
                <a:solidFill>
                  <a:srgbClr val="1B2A4A"/>
                </a:solidFill>
                <a:latin typeface="Calibri" pitchFamily="34" charset="0"/>
                <a:ea typeface="Calibri" pitchFamily="34" charset="-122"/>
                <a:cs typeface="Calibri" pitchFamily="34" charset="-120"/>
              </a:rPr>
              <a:t> via a one-time build script. 2M+ data points compiled. </a:t>
            </a:r>
          </a:p>
          <a:p>
            <a:pPr marL="0" indent="0">
              <a:buNone/>
            </a:pPr>
            <a:r>
              <a:rPr lang="en-US" sz="1100">
                <a:solidFill>
                  <a:srgbClr val="1B2A4A"/>
                </a:solidFill>
                <a:latin typeface="Calibri" pitchFamily="34" charset="0"/>
                <a:ea typeface="Calibri" pitchFamily="34" charset="-122"/>
                <a:cs typeface="Calibri" pitchFamily="34" charset="-120"/>
              </a:rPr>
              <a:t>Finance: API for TSP fund monthly fund change, market proxy data from </a:t>
            </a:r>
            <a:r>
              <a:rPr lang="en-US" sz="1100" err="1">
                <a:solidFill>
                  <a:srgbClr val="1B2A4A"/>
                </a:solidFill>
                <a:latin typeface="Calibri" pitchFamily="34" charset="0"/>
                <a:ea typeface="Calibri" pitchFamily="34" charset="-122"/>
                <a:cs typeface="Calibri" pitchFamily="34" charset="-120"/>
              </a:rPr>
              <a:t>yfinance</a:t>
            </a:r>
            <a:r>
              <a:rPr lang="en-US" sz="1100">
                <a:solidFill>
                  <a:srgbClr val="1B2A4A"/>
                </a:solidFill>
                <a:latin typeface="Calibri" pitchFamily="34" charset="0"/>
                <a:ea typeface="Calibri" pitchFamily="34" charset="-122"/>
                <a:cs typeface="Calibri" pitchFamily="34" charset="-120"/>
              </a:rPr>
              <a:t> alternate, avg/</a:t>
            </a:r>
            <a:r>
              <a:rPr lang="en-US" sz="1100" err="1">
                <a:solidFill>
                  <a:srgbClr val="1B2A4A"/>
                </a:solidFill>
                <a:latin typeface="Calibri" pitchFamily="34" charset="0"/>
                <a:ea typeface="Calibri" pitchFamily="34" charset="-122"/>
                <a:cs typeface="Calibri" pitchFamily="34" charset="-120"/>
              </a:rPr>
              <a:t>st</a:t>
            </a:r>
            <a:r>
              <a:rPr lang="en-US" sz="1100">
                <a:solidFill>
                  <a:srgbClr val="1B2A4A"/>
                </a:solidFill>
                <a:latin typeface="Calibri" pitchFamily="34" charset="0"/>
                <a:ea typeface="Calibri" pitchFamily="34" charset="-122"/>
                <a:cs typeface="Calibri" pitchFamily="34" charset="-120"/>
              </a:rPr>
              <a:t>-dev random sampling tertiary. </a:t>
            </a:r>
            <a:endParaRPr lang="en-US" sz="1100"/>
          </a:p>
        </p:txBody>
      </p:sp>
      <p:sp>
        <p:nvSpPr>
          <p:cNvPr id="7" name="Text 4"/>
          <p:cNvSpPr/>
          <p:nvPr/>
        </p:nvSpPr>
        <p:spPr>
          <a:xfrm>
            <a:off x="457200" y="4709160"/>
            <a:ext cx="6400800" cy="320040"/>
          </a:xfrm>
          <a:prstGeom prst="rect">
            <a:avLst/>
          </a:prstGeom>
          <a:noFill/>
          <a:ln/>
        </p:spPr>
        <p:txBody>
          <a:bodyPr wrap="square" rtlCol="0" anchor="ctr"/>
          <a:lstStyle/>
          <a:p>
            <a:pPr marL="0" indent="0">
              <a:buNone/>
            </a:pPr>
            <a:r>
              <a:rPr lang="en-US" sz="900">
                <a:solidFill>
                  <a:srgbClr val="636E72"/>
                </a:solidFill>
                <a:latin typeface="Calibri" pitchFamily="34" charset="0"/>
                <a:ea typeface="Calibri" pitchFamily="34" charset="-122"/>
                <a:cs typeface="Calibri" pitchFamily="34" charset="-120"/>
              </a:rPr>
              <a:t>F.I.R.E. for Effect  |  OA3801</a:t>
            </a:r>
            <a:endParaRPr lang="en-US" sz="900"/>
          </a:p>
        </p:txBody>
      </p:sp>
      <p:sp>
        <p:nvSpPr>
          <p:cNvPr id="8" name="Text 5"/>
          <p:cNvSpPr/>
          <p:nvPr/>
        </p:nvSpPr>
        <p:spPr>
          <a:xfrm>
            <a:off x="8229600" y="4709160"/>
            <a:ext cx="640080" cy="320040"/>
          </a:xfrm>
          <a:prstGeom prst="rect">
            <a:avLst/>
          </a:prstGeom>
          <a:noFill/>
          <a:ln/>
        </p:spPr>
        <p:txBody>
          <a:bodyPr wrap="square" rtlCol="0" anchor="ctr"/>
          <a:lstStyle/>
          <a:p>
            <a:pPr marL="0" indent="0" algn="r">
              <a:buNone/>
            </a:pPr>
            <a:r>
              <a:rPr lang="en-US" sz="900">
                <a:solidFill>
                  <a:srgbClr val="636E72"/>
                </a:solidFill>
                <a:latin typeface="Calibri" pitchFamily="34" charset="0"/>
                <a:ea typeface="Calibri" pitchFamily="34" charset="-122"/>
                <a:cs typeface="Calibri" pitchFamily="34" charset="-120"/>
              </a:rPr>
              <a:t>3</a:t>
            </a:r>
            <a:endParaRPr lang="en-US"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5F5F0"/>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rtlCol="0" anchor="ctr"/>
          <a:lstStyle/>
          <a:p>
            <a:pPr marL="0" indent="0">
              <a:buNone/>
            </a:pPr>
            <a:r>
              <a:rPr lang="en-US" sz="3200" b="1">
                <a:solidFill>
                  <a:srgbClr val="1B2A4A"/>
                </a:solidFill>
                <a:latin typeface="Georgia" pitchFamily="34" charset="0"/>
                <a:ea typeface="Georgia" pitchFamily="34" charset="-122"/>
                <a:cs typeface="Georgia" pitchFamily="34" charset="-120"/>
              </a:rPr>
              <a:t>THREE CORE ENGINES</a:t>
            </a:r>
            <a:endParaRPr lang="en-US" sz="3200"/>
          </a:p>
        </p:txBody>
      </p:sp>
      <p:sp>
        <p:nvSpPr>
          <p:cNvPr id="3" name="Text 1"/>
          <p:cNvSpPr/>
          <p:nvPr/>
        </p:nvSpPr>
        <p:spPr>
          <a:xfrm>
            <a:off x="548640" y="822960"/>
            <a:ext cx="8046720" cy="365760"/>
          </a:xfrm>
          <a:prstGeom prst="rect">
            <a:avLst/>
          </a:prstGeom>
          <a:noFill/>
          <a:ln/>
        </p:spPr>
        <p:txBody>
          <a:bodyPr wrap="square" rtlCol="0" anchor="ctr"/>
          <a:lstStyle/>
          <a:p>
            <a:pPr marL="0" indent="0">
              <a:buNone/>
            </a:pPr>
            <a:r>
              <a:rPr lang="en-US" sz="1400" i="1">
                <a:solidFill>
                  <a:srgbClr val="636E72"/>
                </a:solidFill>
                <a:latin typeface="Calibri" pitchFamily="34" charset="0"/>
                <a:ea typeface="Calibri" pitchFamily="34" charset="-122"/>
                <a:cs typeface="Calibri" pitchFamily="34" charset="-120"/>
              </a:rPr>
              <a:t>The computational backbone</a:t>
            </a:r>
            <a:endParaRPr lang="en-US" sz="1400"/>
          </a:p>
        </p:txBody>
      </p:sp>
      <p:sp>
        <p:nvSpPr>
          <p:cNvPr id="4" name="Shape 2"/>
          <p:cNvSpPr/>
          <p:nvPr/>
        </p:nvSpPr>
        <p:spPr>
          <a:xfrm>
            <a:off x="365760" y="1371600"/>
            <a:ext cx="2697480" cy="31089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365760" y="1371600"/>
            <a:ext cx="2697480" cy="502920"/>
          </a:xfrm>
          <a:prstGeom prst="rect">
            <a:avLst/>
          </a:prstGeom>
          <a:solidFill>
            <a:srgbClr val="1B2A4A"/>
          </a:solidFill>
          <a:ln/>
        </p:spPr>
        <p:txBody>
          <a:bodyPr/>
          <a:lstStyle/>
          <a:p>
            <a:endParaRPr lang="en-US"/>
          </a:p>
        </p:txBody>
      </p:sp>
      <p:sp>
        <p:nvSpPr>
          <p:cNvPr id="6" name="Text 4"/>
          <p:cNvSpPr/>
          <p:nvPr/>
        </p:nvSpPr>
        <p:spPr>
          <a:xfrm>
            <a:off x="457200" y="1371600"/>
            <a:ext cx="2514600" cy="502920"/>
          </a:xfrm>
          <a:prstGeom prst="rect">
            <a:avLst/>
          </a:prstGeom>
          <a:noFill/>
          <a:ln/>
        </p:spPr>
        <p:txBody>
          <a:bodyPr wrap="square" rtlCol="0" anchor="ctr"/>
          <a:lstStyle/>
          <a:p>
            <a:pPr algn="ctr"/>
            <a:r>
              <a:rPr lang="en-US" sz="1300" b="1">
                <a:solidFill>
                  <a:srgbClr val="FFFFFF"/>
                </a:solidFill>
                <a:latin typeface="Georgia" pitchFamily="34" charset="0"/>
                <a:ea typeface="Georgia" pitchFamily="34" charset="-122"/>
                <a:cs typeface="Georgia" pitchFamily="34" charset="-120"/>
              </a:rPr>
              <a:t>Savings Rate Solver</a:t>
            </a:r>
            <a:endParaRPr lang="en-US" sz="1300"/>
          </a:p>
        </p:txBody>
      </p:sp>
      <p:sp>
        <p:nvSpPr>
          <p:cNvPr id="7" name="Text 5"/>
          <p:cNvSpPr/>
          <p:nvPr/>
        </p:nvSpPr>
        <p:spPr>
          <a:xfrm>
            <a:off x="502920" y="1965960"/>
            <a:ext cx="2423160" cy="2423160"/>
          </a:xfrm>
          <a:prstGeom prst="rect">
            <a:avLst/>
          </a:prstGeom>
          <a:noFill/>
          <a:ln/>
        </p:spPr>
        <p:txBody>
          <a:bodyPr wrap="square" rtlCol="0" anchor="t"/>
          <a:lstStyle/>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1,000 independent trials</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Normal(μ, σ) draws per fund, per month, per trial</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Dynamic contributions: shifts as pay changes based on % of base pay</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Convert nominal → real returns (inflation-adjusted)</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Outputs: Median/P10/P90 bands + success probability</a:t>
            </a:r>
            <a:endParaRPr lang="en-US" sz="1100"/>
          </a:p>
        </p:txBody>
      </p:sp>
      <p:sp>
        <p:nvSpPr>
          <p:cNvPr id="8" name="Shape 6"/>
          <p:cNvSpPr/>
          <p:nvPr/>
        </p:nvSpPr>
        <p:spPr>
          <a:xfrm>
            <a:off x="3246120" y="1371600"/>
            <a:ext cx="2697480" cy="31089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46120" y="1371600"/>
            <a:ext cx="2697480" cy="502920"/>
          </a:xfrm>
          <a:prstGeom prst="rect">
            <a:avLst/>
          </a:prstGeom>
          <a:solidFill>
            <a:srgbClr val="1B2A4A"/>
          </a:solidFill>
          <a:ln/>
        </p:spPr>
        <p:txBody>
          <a:bodyPr/>
          <a:lstStyle/>
          <a:p>
            <a:endParaRPr lang="en-US"/>
          </a:p>
        </p:txBody>
      </p:sp>
      <p:sp>
        <p:nvSpPr>
          <p:cNvPr id="10" name="Text 8"/>
          <p:cNvSpPr/>
          <p:nvPr/>
        </p:nvSpPr>
        <p:spPr>
          <a:xfrm>
            <a:off x="3337560" y="1371600"/>
            <a:ext cx="2514600" cy="502920"/>
          </a:xfrm>
          <a:prstGeom prst="rect">
            <a:avLst/>
          </a:prstGeom>
          <a:noFill/>
          <a:ln/>
        </p:spPr>
        <p:txBody>
          <a:bodyPr wrap="square" rtlCol="0" anchor="ctr"/>
          <a:lstStyle/>
          <a:p>
            <a:pPr marL="0" indent="0" algn="ctr">
              <a:buNone/>
            </a:pPr>
            <a:r>
              <a:rPr lang="en-US" sz="1300" b="1">
                <a:solidFill>
                  <a:srgbClr val="FFFFFF"/>
                </a:solidFill>
                <a:latin typeface="Georgia" pitchFamily="34" charset="0"/>
                <a:ea typeface="Georgia" pitchFamily="34" charset="-122"/>
                <a:cs typeface="Georgia" pitchFamily="34" charset="-120"/>
              </a:rPr>
              <a:t>Monte Carlo Simulator</a:t>
            </a:r>
            <a:endParaRPr lang="en-US" sz="1300"/>
          </a:p>
        </p:txBody>
      </p:sp>
      <p:sp>
        <p:nvSpPr>
          <p:cNvPr id="11" name="Text 9"/>
          <p:cNvSpPr/>
          <p:nvPr/>
        </p:nvSpPr>
        <p:spPr>
          <a:xfrm>
            <a:off x="3383280" y="1965960"/>
            <a:ext cx="2423160" cy="2423160"/>
          </a:xfrm>
          <a:prstGeom prst="rect">
            <a:avLst/>
          </a:prstGeom>
          <a:noFill/>
          <a:ln/>
        </p:spPr>
        <p:txBody>
          <a:bodyPr wrap="square" rtlCol="0" anchor="t"/>
          <a:lstStyle/>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Binary search: 60 iterations over 0–100% for a rate that achieves savings rate given a compounding formula</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Promotion-aware income schedule</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Multiple progression chains: Enlisted, Warrant, Officer, Prior-E</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Mirrors Monte Carlo allocation logic/user selection</a:t>
            </a:r>
          </a:p>
        </p:txBody>
      </p:sp>
      <p:sp>
        <p:nvSpPr>
          <p:cNvPr id="12" name="Shape 10"/>
          <p:cNvSpPr/>
          <p:nvPr/>
        </p:nvSpPr>
        <p:spPr>
          <a:xfrm>
            <a:off x="6126480" y="1371600"/>
            <a:ext cx="2697480" cy="31089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126480" y="1371600"/>
            <a:ext cx="2697480" cy="502920"/>
          </a:xfrm>
          <a:prstGeom prst="rect">
            <a:avLst/>
          </a:prstGeom>
          <a:solidFill>
            <a:srgbClr val="1B2A4A"/>
          </a:solidFill>
          <a:ln/>
        </p:spPr>
        <p:txBody>
          <a:bodyPr/>
          <a:lstStyle/>
          <a:p>
            <a:endParaRPr lang="en-US"/>
          </a:p>
        </p:txBody>
      </p:sp>
      <p:sp>
        <p:nvSpPr>
          <p:cNvPr id="14" name="Text 12"/>
          <p:cNvSpPr/>
          <p:nvPr/>
        </p:nvSpPr>
        <p:spPr>
          <a:xfrm>
            <a:off x="6217920" y="1371600"/>
            <a:ext cx="2514600" cy="502920"/>
          </a:xfrm>
          <a:prstGeom prst="rect">
            <a:avLst/>
          </a:prstGeom>
          <a:noFill/>
          <a:ln/>
        </p:spPr>
        <p:txBody>
          <a:bodyPr wrap="square" rtlCol="0" anchor="ctr"/>
          <a:lstStyle/>
          <a:p>
            <a:pPr marL="0" indent="0" algn="ctr">
              <a:buNone/>
            </a:pPr>
            <a:r>
              <a:rPr lang="en-US" sz="1300" b="1">
                <a:solidFill>
                  <a:srgbClr val="FFFFFF"/>
                </a:solidFill>
                <a:latin typeface="Georgia" pitchFamily="34" charset="0"/>
                <a:ea typeface="Georgia" pitchFamily="34" charset="-122"/>
                <a:cs typeface="Georgia" pitchFamily="34" charset="-120"/>
              </a:rPr>
              <a:t>Cash Flow Sankey</a:t>
            </a:r>
            <a:endParaRPr lang="en-US" sz="1300"/>
          </a:p>
        </p:txBody>
      </p:sp>
      <p:sp>
        <p:nvSpPr>
          <p:cNvPr id="15" name="Text 13"/>
          <p:cNvSpPr/>
          <p:nvPr/>
        </p:nvSpPr>
        <p:spPr>
          <a:xfrm>
            <a:off x="6263640" y="1965960"/>
            <a:ext cx="2423160" cy="2423160"/>
          </a:xfrm>
          <a:prstGeom prst="rect">
            <a:avLst/>
          </a:prstGeom>
          <a:noFill/>
          <a:ln/>
        </p:spPr>
        <p:txBody>
          <a:bodyPr wrap="square" rtlCol="0" anchor="t"/>
          <a:lstStyle/>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Gross → Taxes → Take-Home → Fixed / Invest / Guilt-Free / Surplus</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Node width proportional to actual dollar flow</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LES-mode or formula-mode input</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Deficit detection with red warning</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Plotly go.Sankey, dark theme</a:t>
            </a:r>
            <a:endParaRPr lang="en-US" sz="1100"/>
          </a:p>
        </p:txBody>
      </p:sp>
      <p:sp>
        <p:nvSpPr>
          <p:cNvPr id="16" name="Text 14"/>
          <p:cNvSpPr/>
          <p:nvPr/>
        </p:nvSpPr>
        <p:spPr>
          <a:xfrm>
            <a:off x="457200" y="4709160"/>
            <a:ext cx="6400800" cy="320040"/>
          </a:xfrm>
          <a:prstGeom prst="rect">
            <a:avLst/>
          </a:prstGeom>
          <a:noFill/>
          <a:ln/>
        </p:spPr>
        <p:txBody>
          <a:bodyPr wrap="square" rtlCol="0" anchor="ctr"/>
          <a:lstStyle/>
          <a:p>
            <a:pPr marL="0" indent="0">
              <a:buNone/>
            </a:pPr>
            <a:r>
              <a:rPr lang="en-US" sz="900">
                <a:solidFill>
                  <a:srgbClr val="636E72"/>
                </a:solidFill>
                <a:latin typeface="Calibri" pitchFamily="34" charset="0"/>
                <a:ea typeface="Calibri" pitchFamily="34" charset="-122"/>
                <a:cs typeface="Calibri" pitchFamily="34" charset="-120"/>
              </a:rPr>
              <a:t>F.I.R.E. for Effect  |  OA3801</a:t>
            </a:r>
            <a:endParaRPr lang="en-US" sz="900"/>
          </a:p>
        </p:txBody>
      </p:sp>
      <p:sp>
        <p:nvSpPr>
          <p:cNvPr id="17" name="Text 15"/>
          <p:cNvSpPr/>
          <p:nvPr/>
        </p:nvSpPr>
        <p:spPr>
          <a:xfrm>
            <a:off x="8229600" y="4709160"/>
            <a:ext cx="640080" cy="320040"/>
          </a:xfrm>
          <a:prstGeom prst="rect">
            <a:avLst/>
          </a:prstGeom>
          <a:noFill/>
          <a:ln/>
        </p:spPr>
        <p:txBody>
          <a:bodyPr wrap="square" rtlCol="0" anchor="ctr"/>
          <a:lstStyle/>
          <a:p>
            <a:pPr marL="0" indent="0" algn="r">
              <a:buNone/>
            </a:pPr>
            <a:r>
              <a:rPr lang="en-US" sz="900">
                <a:solidFill>
                  <a:srgbClr val="636E72"/>
                </a:solidFill>
                <a:latin typeface="Calibri" pitchFamily="34" charset="0"/>
                <a:ea typeface="Calibri" pitchFamily="34" charset="-122"/>
                <a:cs typeface="Calibri" pitchFamily="34" charset="-120"/>
              </a:rPr>
              <a:t>4</a:t>
            </a:r>
            <a:endParaRPr lang="en-US" sz="900"/>
          </a:p>
        </p:txBody>
      </p:sp>
      <p:pic>
        <p:nvPicPr>
          <p:cNvPr id="19" name="Picture 18">
            <a:extLst>
              <a:ext uri="{FF2B5EF4-FFF2-40B4-BE49-F238E27FC236}">
                <a16:creationId xmlns:a16="http://schemas.microsoft.com/office/drawing/2014/main" id="{11E777F3-6761-3B2D-0BEF-F3125C146093}"/>
              </a:ext>
            </a:extLst>
          </p:cNvPr>
          <p:cNvPicPr>
            <a:picLocks noChangeAspect="1"/>
          </p:cNvPicPr>
          <p:nvPr/>
        </p:nvPicPr>
        <p:blipFill>
          <a:blip r:embed="rId3"/>
          <a:srcRect l="4749" t="27604" r="68840" b="33086"/>
          <a:stretch>
            <a:fillRect/>
          </a:stretch>
        </p:blipFill>
        <p:spPr>
          <a:xfrm>
            <a:off x="3379158" y="1874519"/>
            <a:ext cx="2385684" cy="2367175"/>
          </a:xfrm>
          <a:prstGeom prst="rect">
            <a:avLst/>
          </a:prstGeom>
        </p:spPr>
      </p:pic>
      <p:pic>
        <p:nvPicPr>
          <p:cNvPr id="20" name="Picture 19">
            <a:extLst>
              <a:ext uri="{FF2B5EF4-FFF2-40B4-BE49-F238E27FC236}">
                <a16:creationId xmlns:a16="http://schemas.microsoft.com/office/drawing/2014/main" id="{9122598D-9ABD-B8B0-216C-85627A1B91D6}"/>
              </a:ext>
            </a:extLst>
          </p:cNvPr>
          <p:cNvPicPr>
            <a:picLocks noChangeAspect="1"/>
          </p:cNvPicPr>
          <p:nvPr/>
        </p:nvPicPr>
        <p:blipFill>
          <a:blip r:embed="rId3"/>
          <a:srcRect l="35571" t="27604" r="38281" b="33086"/>
          <a:stretch>
            <a:fillRect/>
          </a:stretch>
        </p:blipFill>
        <p:spPr>
          <a:xfrm>
            <a:off x="548640" y="1915889"/>
            <a:ext cx="2361941" cy="2367175"/>
          </a:xfrm>
          <a:prstGeom prst="rect">
            <a:avLst/>
          </a:prstGeom>
        </p:spPr>
      </p:pic>
      <p:pic>
        <p:nvPicPr>
          <p:cNvPr id="21" name="Picture 20">
            <a:extLst>
              <a:ext uri="{FF2B5EF4-FFF2-40B4-BE49-F238E27FC236}">
                <a16:creationId xmlns:a16="http://schemas.microsoft.com/office/drawing/2014/main" id="{8A2FF47E-F6EE-2C8F-FC48-368BFA2768DE}"/>
              </a:ext>
            </a:extLst>
          </p:cNvPr>
          <p:cNvPicPr>
            <a:picLocks noChangeAspect="1"/>
          </p:cNvPicPr>
          <p:nvPr/>
        </p:nvPicPr>
        <p:blipFill>
          <a:blip r:embed="rId3"/>
          <a:srcRect l="67848" t="27604" r="6673" b="33086"/>
          <a:stretch>
            <a:fillRect/>
          </a:stretch>
        </p:blipFill>
        <p:spPr>
          <a:xfrm>
            <a:off x="6339582" y="1874520"/>
            <a:ext cx="2301498" cy="23671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670A789-8A8A-3647-E61E-1DB72C6663E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A7CF19F-B3B6-CB78-A8FC-91096E1DFC49}"/>
              </a:ext>
            </a:extLst>
          </p:cNvPr>
          <p:cNvSpPr/>
          <p:nvPr/>
        </p:nvSpPr>
        <p:spPr>
          <a:xfrm>
            <a:off x="548640" y="274320"/>
            <a:ext cx="8046720" cy="640080"/>
          </a:xfrm>
          <a:prstGeom prst="rect">
            <a:avLst/>
          </a:prstGeom>
          <a:noFill/>
          <a:ln/>
        </p:spPr>
        <p:txBody>
          <a:bodyPr wrap="square" rtlCol="0" anchor="ctr"/>
          <a:lstStyle/>
          <a:p>
            <a:pPr marL="0" indent="0">
              <a:buNone/>
            </a:pPr>
            <a:r>
              <a:rPr lang="en-US" sz="3200" b="1">
                <a:solidFill>
                  <a:srgbClr val="1B2A4A"/>
                </a:solidFill>
                <a:latin typeface="Georgia" pitchFamily="34" charset="0"/>
                <a:ea typeface="Georgia" pitchFamily="34" charset="-122"/>
                <a:cs typeface="Georgia" pitchFamily="34" charset="-120"/>
              </a:rPr>
              <a:t>THREE CORE ENGINES</a:t>
            </a:r>
            <a:endParaRPr lang="en-US" sz="3200"/>
          </a:p>
        </p:txBody>
      </p:sp>
      <p:sp>
        <p:nvSpPr>
          <p:cNvPr id="3" name="Text 1">
            <a:extLst>
              <a:ext uri="{FF2B5EF4-FFF2-40B4-BE49-F238E27FC236}">
                <a16:creationId xmlns:a16="http://schemas.microsoft.com/office/drawing/2014/main" id="{F45E9ABA-9D6A-CD1E-72A3-A28D56674972}"/>
              </a:ext>
            </a:extLst>
          </p:cNvPr>
          <p:cNvSpPr/>
          <p:nvPr/>
        </p:nvSpPr>
        <p:spPr>
          <a:xfrm>
            <a:off x="548640" y="822960"/>
            <a:ext cx="8046720" cy="365760"/>
          </a:xfrm>
          <a:prstGeom prst="rect">
            <a:avLst/>
          </a:prstGeom>
          <a:noFill/>
          <a:ln/>
        </p:spPr>
        <p:txBody>
          <a:bodyPr wrap="square" rtlCol="0" anchor="ctr"/>
          <a:lstStyle/>
          <a:p>
            <a:pPr marL="0" indent="0">
              <a:buNone/>
            </a:pPr>
            <a:r>
              <a:rPr lang="en-US" sz="1400" i="1">
                <a:solidFill>
                  <a:srgbClr val="636E72"/>
                </a:solidFill>
                <a:latin typeface="Calibri" pitchFamily="34" charset="0"/>
                <a:ea typeface="Calibri" pitchFamily="34" charset="-122"/>
                <a:cs typeface="Calibri" pitchFamily="34" charset="-120"/>
              </a:rPr>
              <a:t>The computational backbone: user inputs to personalized financial intelligence</a:t>
            </a:r>
            <a:endParaRPr lang="en-US" sz="1400"/>
          </a:p>
        </p:txBody>
      </p:sp>
      <p:sp>
        <p:nvSpPr>
          <p:cNvPr id="4" name="Shape 2">
            <a:extLst>
              <a:ext uri="{FF2B5EF4-FFF2-40B4-BE49-F238E27FC236}">
                <a16:creationId xmlns:a16="http://schemas.microsoft.com/office/drawing/2014/main" id="{271F74F9-A6F0-F82E-6AFC-F2085B59D522}"/>
              </a:ext>
            </a:extLst>
          </p:cNvPr>
          <p:cNvSpPr/>
          <p:nvPr/>
        </p:nvSpPr>
        <p:spPr>
          <a:xfrm>
            <a:off x="365760" y="1371600"/>
            <a:ext cx="2697480" cy="31089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5" name="Shape 3">
            <a:extLst>
              <a:ext uri="{FF2B5EF4-FFF2-40B4-BE49-F238E27FC236}">
                <a16:creationId xmlns:a16="http://schemas.microsoft.com/office/drawing/2014/main" id="{BFFB86D1-9B5A-34C2-1C47-D1BFA6719C53}"/>
              </a:ext>
            </a:extLst>
          </p:cNvPr>
          <p:cNvSpPr/>
          <p:nvPr/>
        </p:nvSpPr>
        <p:spPr>
          <a:xfrm>
            <a:off x="365760" y="1371600"/>
            <a:ext cx="2697480" cy="502920"/>
          </a:xfrm>
          <a:prstGeom prst="rect">
            <a:avLst/>
          </a:prstGeom>
          <a:solidFill>
            <a:srgbClr val="1B2A4A"/>
          </a:solidFill>
          <a:ln/>
        </p:spPr>
        <p:txBody>
          <a:bodyPr/>
          <a:lstStyle/>
          <a:p>
            <a:endParaRPr lang="en-US"/>
          </a:p>
        </p:txBody>
      </p:sp>
      <p:sp>
        <p:nvSpPr>
          <p:cNvPr id="6" name="Text 4">
            <a:extLst>
              <a:ext uri="{FF2B5EF4-FFF2-40B4-BE49-F238E27FC236}">
                <a16:creationId xmlns:a16="http://schemas.microsoft.com/office/drawing/2014/main" id="{B91584D4-C059-3040-625A-215732918B1A}"/>
              </a:ext>
            </a:extLst>
          </p:cNvPr>
          <p:cNvSpPr/>
          <p:nvPr/>
        </p:nvSpPr>
        <p:spPr>
          <a:xfrm>
            <a:off x="457200" y="1371600"/>
            <a:ext cx="2514600" cy="502920"/>
          </a:xfrm>
          <a:prstGeom prst="rect">
            <a:avLst/>
          </a:prstGeom>
          <a:noFill/>
          <a:ln/>
        </p:spPr>
        <p:txBody>
          <a:bodyPr wrap="square" rtlCol="0" anchor="ctr"/>
          <a:lstStyle/>
          <a:p>
            <a:pPr marL="0" indent="0" algn="ctr">
              <a:buNone/>
            </a:pPr>
            <a:r>
              <a:rPr lang="en-US" sz="1300" b="1">
                <a:solidFill>
                  <a:srgbClr val="FFFFFF"/>
                </a:solidFill>
                <a:latin typeface="Georgia" pitchFamily="34" charset="0"/>
                <a:ea typeface="Georgia" pitchFamily="34" charset="-122"/>
                <a:cs typeface="Georgia" pitchFamily="34" charset="-120"/>
              </a:rPr>
              <a:t>Monte Carlo Simulation</a:t>
            </a:r>
            <a:endParaRPr lang="en-US" sz="1300"/>
          </a:p>
        </p:txBody>
      </p:sp>
      <p:sp>
        <p:nvSpPr>
          <p:cNvPr id="7" name="Text 5">
            <a:extLst>
              <a:ext uri="{FF2B5EF4-FFF2-40B4-BE49-F238E27FC236}">
                <a16:creationId xmlns:a16="http://schemas.microsoft.com/office/drawing/2014/main" id="{A93B45EB-C9A6-DD39-93E9-CFC47361F0FA}"/>
              </a:ext>
            </a:extLst>
          </p:cNvPr>
          <p:cNvSpPr/>
          <p:nvPr/>
        </p:nvSpPr>
        <p:spPr>
          <a:xfrm>
            <a:off x="502920" y="1965960"/>
            <a:ext cx="2423160" cy="2423160"/>
          </a:xfrm>
          <a:prstGeom prst="rect">
            <a:avLst/>
          </a:prstGeom>
          <a:noFill/>
          <a:ln/>
        </p:spPr>
        <p:txBody>
          <a:bodyPr wrap="square" rtlCol="0" anchor="t"/>
          <a:lstStyle/>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1,000 independent trials</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Normal(μ, σ) draws per fund, per month, per trial</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Dynamic contributions: shifts as pay changes based on % of base pay</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Convert nominal → real returns (inflation-adjusted)</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Outputs: Median/P10/P90 bands + success probability</a:t>
            </a:r>
            <a:endParaRPr lang="en-US" sz="1100"/>
          </a:p>
        </p:txBody>
      </p:sp>
      <p:sp>
        <p:nvSpPr>
          <p:cNvPr id="8" name="Shape 6">
            <a:extLst>
              <a:ext uri="{FF2B5EF4-FFF2-40B4-BE49-F238E27FC236}">
                <a16:creationId xmlns:a16="http://schemas.microsoft.com/office/drawing/2014/main" id="{ADB28AF5-C3F2-1517-2BF2-D76594257129}"/>
              </a:ext>
            </a:extLst>
          </p:cNvPr>
          <p:cNvSpPr/>
          <p:nvPr/>
        </p:nvSpPr>
        <p:spPr>
          <a:xfrm>
            <a:off x="3246120" y="1371600"/>
            <a:ext cx="2697480" cy="31089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9" name="Shape 7">
            <a:extLst>
              <a:ext uri="{FF2B5EF4-FFF2-40B4-BE49-F238E27FC236}">
                <a16:creationId xmlns:a16="http://schemas.microsoft.com/office/drawing/2014/main" id="{7C31FA28-2C62-484F-015E-0F2284A7B7AA}"/>
              </a:ext>
            </a:extLst>
          </p:cNvPr>
          <p:cNvSpPr/>
          <p:nvPr/>
        </p:nvSpPr>
        <p:spPr>
          <a:xfrm>
            <a:off x="3246120" y="1371600"/>
            <a:ext cx="2697480" cy="502920"/>
          </a:xfrm>
          <a:prstGeom prst="rect">
            <a:avLst/>
          </a:prstGeom>
          <a:solidFill>
            <a:srgbClr val="1B2A4A"/>
          </a:solidFill>
          <a:ln/>
        </p:spPr>
        <p:txBody>
          <a:bodyPr/>
          <a:lstStyle/>
          <a:p>
            <a:endParaRPr lang="en-US"/>
          </a:p>
        </p:txBody>
      </p:sp>
      <p:sp>
        <p:nvSpPr>
          <p:cNvPr id="10" name="Text 8">
            <a:extLst>
              <a:ext uri="{FF2B5EF4-FFF2-40B4-BE49-F238E27FC236}">
                <a16:creationId xmlns:a16="http://schemas.microsoft.com/office/drawing/2014/main" id="{39F5FD01-D380-3B38-0DD8-98E6FFAEB774}"/>
              </a:ext>
            </a:extLst>
          </p:cNvPr>
          <p:cNvSpPr/>
          <p:nvPr/>
        </p:nvSpPr>
        <p:spPr>
          <a:xfrm>
            <a:off x="3337560" y="1371600"/>
            <a:ext cx="2514600" cy="502920"/>
          </a:xfrm>
          <a:prstGeom prst="rect">
            <a:avLst/>
          </a:prstGeom>
          <a:noFill/>
          <a:ln/>
        </p:spPr>
        <p:txBody>
          <a:bodyPr wrap="square" rtlCol="0" anchor="ctr"/>
          <a:lstStyle/>
          <a:p>
            <a:pPr marL="0" indent="0" algn="ctr">
              <a:buNone/>
            </a:pPr>
            <a:r>
              <a:rPr lang="en-US" sz="1300" b="1">
                <a:solidFill>
                  <a:srgbClr val="FFFFFF"/>
                </a:solidFill>
                <a:latin typeface="Georgia" pitchFamily="34" charset="0"/>
                <a:ea typeface="Georgia" pitchFamily="34" charset="-122"/>
                <a:cs typeface="Georgia" pitchFamily="34" charset="-120"/>
              </a:rPr>
              <a:t>Savings Rate Solver</a:t>
            </a:r>
            <a:endParaRPr lang="en-US" sz="1300"/>
          </a:p>
        </p:txBody>
      </p:sp>
      <p:sp>
        <p:nvSpPr>
          <p:cNvPr id="11" name="Text 9">
            <a:extLst>
              <a:ext uri="{FF2B5EF4-FFF2-40B4-BE49-F238E27FC236}">
                <a16:creationId xmlns:a16="http://schemas.microsoft.com/office/drawing/2014/main" id="{5F26E3AC-272F-D204-C655-D27CB480FDD6}"/>
              </a:ext>
            </a:extLst>
          </p:cNvPr>
          <p:cNvSpPr/>
          <p:nvPr/>
        </p:nvSpPr>
        <p:spPr>
          <a:xfrm>
            <a:off x="3383280" y="1965960"/>
            <a:ext cx="2423160" cy="2423160"/>
          </a:xfrm>
          <a:prstGeom prst="rect">
            <a:avLst/>
          </a:prstGeom>
          <a:noFill/>
          <a:ln/>
        </p:spPr>
        <p:txBody>
          <a:bodyPr wrap="square" rtlCol="0" anchor="t"/>
          <a:lstStyle/>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Binary search: 60 iterations over 0–100% for a rate that achieves savings rate given a compounding formula</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Promotion-aware income schedule</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Multiple progression chains: Enlisted, Warrant, Officer, Prior-E</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Mirrors Monte Carlo allocation logic/user selection</a:t>
            </a:r>
          </a:p>
        </p:txBody>
      </p:sp>
      <p:sp>
        <p:nvSpPr>
          <p:cNvPr id="12" name="Shape 10">
            <a:extLst>
              <a:ext uri="{FF2B5EF4-FFF2-40B4-BE49-F238E27FC236}">
                <a16:creationId xmlns:a16="http://schemas.microsoft.com/office/drawing/2014/main" id="{D7B1385F-D384-C7EA-FB3C-E04AFA461B37}"/>
              </a:ext>
            </a:extLst>
          </p:cNvPr>
          <p:cNvSpPr/>
          <p:nvPr/>
        </p:nvSpPr>
        <p:spPr>
          <a:xfrm>
            <a:off x="6126480" y="1371600"/>
            <a:ext cx="2697480" cy="31089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3" name="Shape 11">
            <a:extLst>
              <a:ext uri="{FF2B5EF4-FFF2-40B4-BE49-F238E27FC236}">
                <a16:creationId xmlns:a16="http://schemas.microsoft.com/office/drawing/2014/main" id="{75E3A36B-DC3C-86C4-73D8-9A394A17A45C}"/>
              </a:ext>
            </a:extLst>
          </p:cNvPr>
          <p:cNvSpPr/>
          <p:nvPr/>
        </p:nvSpPr>
        <p:spPr>
          <a:xfrm>
            <a:off x="6126480" y="1371600"/>
            <a:ext cx="2697480" cy="502920"/>
          </a:xfrm>
          <a:prstGeom prst="rect">
            <a:avLst/>
          </a:prstGeom>
          <a:solidFill>
            <a:srgbClr val="1B2A4A"/>
          </a:solidFill>
          <a:ln/>
        </p:spPr>
        <p:txBody>
          <a:bodyPr/>
          <a:lstStyle/>
          <a:p>
            <a:endParaRPr lang="en-US"/>
          </a:p>
        </p:txBody>
      </p:sp>
      <p:sp>
        <p:nvSpPr>
          <p:cNvPr id="14" name="Text 12">
            <a:extLst>
              <a:ext uri="{FF2B5EF4-FFF2-40B4-BE49-F238E27FC236}">
                <a16:creationId xmlns:a16="http://schemas.microsoft.com/office/drawing/2014/main" id="{FEFDF7F2-DFA9-4D94-BA68-27E0862E8266}"/>
              </a:ext>
            </a:extLst>
          </p:cNvPr>
          <p:cNvSpPr/>
          <p:nvPr/>
        </p:nvSpPr>
        <p:spPr>
          <a:xfrm>
            <a:off x="6217920" y="1371600"/>
            <a:ext cx="2514600" cy="502920"/>
          </a:xfrm>
          <a:prstGeom prst="rect">
            <a:avLst/>
          </a:prstGeom>
          <a:noFill/>
          <a:ln/>
        </p:spPr>
        <p:txBody>
          <a:bodyPr wrap="square" rtlCol="0" anchor="ctr"/>
          <a:lstStyle/>
          <a:p>
            <a:pPr marL="0" indent="0" algn="ctr">
              <a:buNone/>
            </a:pPr>
            <a:r>
              <a:rPr lang="en-US" sz="1300" b="1">
                <a:solidFill>
                  <a:srgbClr val="FFFFFF"/>
                </a:solidFill>
                <a:latin typeface="Georgia" pitchFamily="34" charset="0"/>
                <a:ea typeface="Georgia" pitchFamily="34" charset="-122"/>
                <a:cs typeface="Georgia" pitchFamily="34" charset="-120"/>
              </a:rPr>
              <a:t>Cash Flow Sankey</a:t>
            </a:r>
            <a:endParaRPr lang="en-US" sz="1300"/>
          </a:p>
        </p:txBody>
      </p:sp>
      <p:sp>
        <p:nvSpPr>
          <p:cNvPr id="15" name="Text 13">
            <a:extLst>
              <a:ext uri="{FF2B5EF4-FFF2-40B4-BE49-F238E27FC236}">
                <a16:creationId xmlns:a16="http://schemas.microsoft.com/office/drawing/2014/main" id="{91789A77-0236-629F-E862-5F3125834794}"/>
              </a:ext>
            </a:extLst>
          </p:cNvPr>
          <p:cNvSpPr/>
          <p:nvPr/>
        </p:nvSpPr>
        <p:spPr>
          <a:xfrm>
            <a:off x="6263640" y="1965960"/>
            <a:ext cx="2423160" cy="2423160"/>
          </a:xfrm>
          <a:prstGeom prst="rect">
            <a:avLst/>
          </a:prstGeom>
          <a:noFill/>
          <a:ln/>
        </p:spPr>
        <p:txBody>
          <a:bodyPr wrap="square" rtlCol="0" anchor="t"/>
          <a:lstStyle/>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Gross → Taxes → Take-Home → Fixed / Invest / Guilt-Free / Surplus</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Node width proportional to actual dollar flow</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LES-mode or formula-mode input</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Deficit detection with red warning</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Plotly go.Sankey, dark theme</a:t>
            </a:r>
            <a:endParaRPr lang="en-US" sz="1100"/>
          </a:p>
        </p:txBody>
      </p:sp>
      <p:sp>
        <p:nvSpPr>
          <p:cNvPr id="16" name="Text 14">
            <a:extLst>
              <a:ext uri="{FF2B5EF4-FFF2-40B4-BE49-F238E27FC236}">
                <a16:creationId xmlns:a16="http://schemas.microsoft.com/office/drawing/2014/main" id="{898457A3-A9FC-1AB3-364E-13D24AD9AC91}"/>
              </a:ext>
            </a:extLst>
          </p:cNvPr>
          <p:cNvSpPr/>
          <p:nvPr/>
        </p:nvSpPr>
        <p:spPr>
          <a:xfrm>
            <a:off x="457200" y="4709160"/>
            <a:ext cx="6400800" cy="320040"/>
          </a:xfrm>
          <a:prstGeom prst="rect">
            <a:avLst/>
          </a:prstGeom>
          <a:noFill/>
          <a:ln/>
        </p:spPr>
        <p:txBody>
          <a:bodyPr wrap="square" rtlCol="0" anchor="ctr"/>
          <a:lstStyle/>
          <a:p>
            <a:pPr marL="0" indent="0">
              <a:buNone/>
            </a:pPr>
            <a:r>
              <a:rPr lang="en-US" sz="900">
                <a:solidFill>
                  <a:srgbClr val="636E72"/>
                </a:solidFill>
                <a:latin typeface="Calibri" pitchFamily="34" charset="0"/>
                <a:ea typeface="Calibri" pitchFamily="34" charset="-122"/>
                <a:cs typeface="Calibri" pitchFamily="34" charset="-120"/>
              </a:rPr>
              <a:t>F.I.R.E. for Effect  |  OA3801</a:t>
            </a:r>
            <a:endParaRPr lang="en-US" sz="900"/>
          </a:p>
        </p:txBody>
      </p:sp>
      <p:sp>
        <p:nvSpPr>
          <p:cNvPr id="17" name="Text 15">
            <a:extLst>
              <a:ext uri="{FF2B5EF4-FFF2-40B4-BE49-F238E27FC236}">
                <a16:creationId xmlns:a16="http://schemas.microsoft.com/office/drawing/2014/main" id="{4BA5D4C2-0344-6AE0-86B0-8994C157EC80}"/>
              </a:ext>
            </a:extLst>
          </p:cNvPr>
          <p:cNvSpPr/>
          <p:nvPr/>
        </p:nvSpPr>
        <p:spPr>
          <a:xfrm>
            <a:off x="8229600" y="4709160"/>
            <a:ext cx="640080" cy="320040"/>
          </a:xfrm>
          <a:prstGeom prst="rect">
            <a:avLst/>
          </a:prstGeom>
          <a:noFill/>
          <a:ln/>
        </p:spPr>
        <p:txBody>
          <a:bodyPr wrap="square" rtlCol="0" anchor="ctr"/>
          <a:lstStyle/>
          <a:p>
            <a:pPr marL="0" indent="0" algn="r">
              <a:buNone/>
            </a:pPr>
            <a:r>
              <a:rPr lang="en-US" sz="900">
                <a:solidFill>
                  <a:srgbClr val="636E72"/>
                </a:solidFill>
                <a:latin typeface="Calibri" pitchFamily="34" charset="0"/>
                <a:ea typeface="Calibri" pitchFamily="34" charset="-122"/>
                <a:cs typeface="Calibri" pitchFamily="34" charset="-120"/>
              </a:rPr>
              <a:t>4</a:t>
            </a:r>
            <a:endParaRPr lang="en-US" sz="900"/>
          </a:p>
        </p:txBody>
      </p:sp>
      <p:pic>
        <p:nvPicPr>
          <p:cNvPr id="19" name="Picture 18">
            <a:extLst>
              <a:ext uri="{FF2B5EF4-FFF2-40B4-BE49-F238E27FC236}">
                <a16:creationId xmlns:a16="http://schemas.microsoft.com/office/drawing/2014/main" id="{DFA8453B-B7B3-C4CA-5896-35370B56D3A7}"/>
              </a:ext>
            </a:extLst>
          </p:cNvPr>
          <p:cNvPicPr>
            <a:picLocks noChangeAspect="1"/>
          </p:cNvPicPr>
          <p:nvPr/>
        </p:nvPicPr>
        <p:blipFill>
          <a:blip r:embed="rId3"/>
          <a:srcRect l="4749" t="27604" r="68840" b="33086"/>
          <a:stretch>
            <a:fillRect/>
          </a:stretch>
        </p:blipFill>
        <p:spPr>
          <a:xfrm>
            <a:off x="457200" y="1953365"/>
            <a:ext cx="2385684" cy="2367175"/>
          </a:xfrm>
          <a:prstGeom prst="rect">
            <a:avLst/>
          </a:prstGeom>
        </p:spPr>
      </p:pic>
      <p:pic>
        <p:nvPicPr>
          <p:cNvPr id="20" name="Picture 19">
            <a:extLst>
              <a:ext uri="{FF2B5EF4-FFF2-40B4-BE49-F238E27FC236}">
                <a16:creationId xmlns:a16="http://schemas.microsoft.com/office/drawing/2014/main" id="{ECC10648-8806-E141-992F-BBC44461614A}"/>
              </a:ext>
            </a:extLst>
          </p:cNvPr>
          <p:cNvPicPr>
            <a:picLocks noChangeAspect="1"/>
          </p:cNvPicPr>
          <p:nvPr/>
        </p:nvPicPr>
        <p:blipFill>
          <a:blip r:embed="rId3"/>
          <a:srcRect l="35571" t="27604" r="38281" b="33086"/>
          <a:stretch>
            <a:fillRect/>
          </a:stretch>
        </p:blipFill>
        <p:spPr>
          <a:xfrm>
            <a:off x="3387028" y="1953364"/>
            <a:ext cx="2361941" cy="2367175"/>
          </a:xfrm>
          <a:prstGeom prst="rect">
            <a:avLst/>
          </a:prstGeom>
        </p:spPr>
      </p:pic>
    </p:spTree>
    <p:extLst>
      <p:ext uri="{BB962C8B-B14F-4D97-AF65-F5344CB8AC3E}">
        <p14:creationId xmlns:p14="http://schemas.microsoft.com/office/powerpoint/2010/main" val="2684033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3A72299-CA2B-B8E3-7805-BCC22F734F7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D7667F5-4A45-5AC3-3C33-CD3609912C77}"/>
              </a:ext>
            </a:extLst>
          </p:cNvPr>
          <p:cNvSpPr/>
          <p:nvPr/>
        </p:nvSpPr>
        <p:spPr>
          <a:xfrm>
            <a:off x="548640" y="274320"/>
            <a:ext cx="8046720" cy="640080"/>
          </a:xfrm>
          <a:prstGeom prst="rect">
            <a:avLst/>
          </a:prstGeom>
          <a:noFill/>
          <a:ln/>
        </p:spPr>
        <p:txBody>
          <a:bodyPr wrap="square" rtlCol="0" anchor="ctr"/>
          <a:lstStyle/>
          <a:p>
            <a:pPr marL="0" indent="0">
              <a:buNone/>
            </a:pPr>
            <a:r>
              <a:rPr lang="en-US" sz="3200" b="1">
                <a:solidFill>
                  <a:srgbClr val="1B2A4A"/>
                </a:solidFill>
                <a:latin typeface="Georgia" pitchFamily="34" charset="0"/>
                <a:ea typeface="Georgia" pitchFamily="34" charset="-122"/>
                <a:cs typeface="Georgia" pitchFamily="34" charset="-120"/>
              </a:rPr>
              <a:t>THREE CORE ENGINES</a:t>
            </a:r>
            <a:endParaRPr lang="en-US" sz="3200"/>
          </a:p>
        </p:txBody>
      </p:sp>
      <p:sp>
        <p:nvSpPr>
          <p:cNvPr id="3" name="Text 1">
            <a:extLst>
              <a:ext uri="{FF2B5EF4-FFF2-40B4-BE49-F238E27FC236}">
                <a16:creationId xmlns:a16="http://schemas.microsoft.com/office/drawing/2014/main" id="{A8FAA918-E1D9-A389-D713-DAAC9B473754}"/>
              </a:ext>
            </a:extLst>
          </p:cNvPr>
          <p:cNvSpPr/>
          <p:nvPr/>
        </p:nvSpPr>
        <p:spPr>
          <a:xfrm>
            <a:off x="548640" y="822960"/>
            <a:ext cx="8046720" cy="365760"/>
          </a:xfrm>
          <a:prstGeom prst="rect">
            <a:avLst/>
          </a:prstGeom>
          <a:noFill/>
          <a:ln/>
        </p:spPr>
        <p:txBody>
          <a:bodyPr wrap="square" rtlCol="0" anchor="ctr"/>
          <a:lstStyle/>
          <a:p>
            <a:pPr marL="0" indent="0">
              <a:buNone/>
            </a:pPr>
            <a:r>
              <a:rPr lang="en-US" sz="1400" i="1">
                <a:solidFill>
                  <a:srgbClr val="636E72"/>
                </a:solidFill>
                <a:latin typeface="Calibri" pitchFamily="34" charset="0"/>
                <a:ea typeface="Calibri" pitchFamily="34" charset="-122"/>
                <a:cs typeface="Calibri" pitchFamily="34" charset="-120"/>
              </a:rPr>
              <a:t>The computational backbone: user inputs to personalized financial intelligence</a:t>
            </a:r>
            <a:endParaRPr lang="en-US" sz="1400"/>
          </a:p>
        </p:txBody>
      </p:sp>
      <p:sp>
        <p:nvSpPr>
          <p:cNvPr id="4" name="Shape 2">
            <a:extLst>
              <a:ext uri="{FF2B5EF4-FFF2-40B4-BE49-F238E27FC236}">
                <a16:creationId xmlns:a16="http://schemas.microsoft.com/office/drawing/2014/main" id="{69DB6B40-2D9E-A670-B173-C36F0CCF7319}"/>
              </a:ext>
            </a:extLst>
          </p:cNvPr>
          <p:cNvSpPr/>
          <p:nvPr/>
        </p:nvSpPr>
        <p:spPr>
          <a:xfrm>
            <a:off x="365760" y="1371600"/>
            <a:ext cx="2697480" cy="3108960"/>
          </a:xfrm>
          <a:prstGeom prst="rect">
            <a:avLst/>
          </a:prstGeom>
          <a:solidFill>
            <a:schemeClr val="bg1">
              <a:alpha val="58000"/>
            </a:schemeClr>
          </a:solidFill>
          <a:ln/>
          <a:effectLst>
            <a:outerShdw blurRad="50800" dist="25400" dir="8100000" algn="bl" rotWithShape="0">
              <a:srgbClr val="000000">
                <a:alpha val="12000"/>
              </a:srgbClr>
            </a:outerShdw>
          </a:effectLst>
        </p:spPr>
        <p:txBody>
          <a:bodyPr/>
          <a:lstStyle/>
          <a:p>
            <a:endParaRPr lang="en-US"/>
          </a:p>
        </p:txBody>
      </p:sp>
      <p:sp>
        <p:nvSpPr>
          <p:cNvPr id="5" name="Shape 3">
            <a:extLst>
              <a:ext uri="{FF2B5EF4-FFF2-40B4-BE49-F238E27FC236}">
                <a16:creationId xmlns:a16="http://schemas.microsoft.com/office/drawing/2014/main" id="{9D86D74A-281B-7097-60CE-D05D379CD18A}"/>
              </a:ext>
            </a:extLst>
          </p:cNvPr>
          <p:cNvSpPr/>
          <p:nvPr/>
        </p:nvSpPr>
        <p:spPr>
          <a:xfrm>
            <a:off x="365760" y="1371600"/>
            <a:ext cx="2697480" cy="502920"/>
          </a:xfrm>
          <a:prstGeom prst="rect">
            <a:avLst/>
          </a:prstGeom>
          <a:solidFill>
            <a:srgbClr val="1B2A4A"/>
          </a:solidFill>
          <a:ln/>
        </p:spPr>
        <p:txBody>
          <a:bodyPr/>
          <a:lstStyle/>
          <a:p>
            <a:endParaRPr lang="en-US"/>
          </a:p>
        </p:txBody>
      </p:sp>
      <p:sp>
        <p:nvSpPr>
          <p:cNvPr id="6" name="Text 4">
            <a:extLst>
              <a:ext uri="{FF2B5EF4-FFF2-40B4-BE49-F238E27FC236}">
                <a16:creationId xmlns:a16="http://schemas.microsoft.com/office/drawing/2014/main" id="{36B3A267-3FB8-28BA-E7B5-961F318C04B0}"/>
              </a:ext>
            </a:extLst>
          </p:cNvPr>
          <p:cNvSpPr/>
          <p:nvPr/>
        </p:nvSpPr>
        <p:spPr>
          <a:xfrm>
            <a:off x="457200" y="1371600"/>
            <a:ext cx="2514600" cy="502920"/>
          </a:xfrm>
          <a:prstGeom prst="rect">
            <a:avLst/>
          </a:prstGeom>
          <a:noFill/>
          <a:ln/>
        </p:spPr>
        <p:txBody>
          <a:bodyPr wrap="square" rtlCol="0" anchor="ctr"/>
          <a:lstStyle/>
          <a:p>
            <a:pPr marL="0" indent="0" algn="ctr">
              <a:buNone/>
            </a:pPr>
            <a:r>
              <a:rPr lang="en-US" sz="1300" b="1">
                <a:solidFill>
                  <a:srgbClr val="FFFFFF"/>
                </a:solidFill>
                <a:latin typeface="Georgia" pitchFamily="34" charset="0"/>
                <a:ea typeface="Georgia" pitchFamily="34" charset="-122"/>
                <a:cs typeface="Georgia" pitchFamily="34" charset="-120"/>
              </a:rPr>
              <a:t>Monte Carlo Simulation</a:t>
            </a:r>
            <a:endParaRPr lang="en-US" sz="1300"/>
          </a:p>
        </p:txBody>
      </p:sp>
      <p:sp>
        <p:nvSpPr>
          <p:cNvPr id="8" name="Shape 6">
            <a:extLst>
              <a:ext uri="{FF2B5EF4-FFF2-40B4-BE49-F238E27FC236}">
                <a16:creationId xmlns:a16="http://schemas.microsoft.com/office/drawing/2014/main" id="{410E0462-FD7E-2862-0EE7-FDFDB0731C56}"/>
              </a:ext>
            </a:extLst>
          </p:cNvPr>
          <p:cNvSpPr/>
          <p:nvPr/>
        </p:nvSpPr>
        <p:spPr>
          <a:xfrm>
            <a:off x="3246120" y="1371600"/>
            <a:ext cx="2697480" cy="31089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9" name="Shape 7">
            <a:extLst>
              <a:ext uri="{FF2B5EF4-FFF2-40B4-BE49-F238E27FC236}">
                <a16:creationId xmlns:a16="http://schemas.microsoft.com/office/drawing/2014/main" id="{A55B40DD-9915-2167-61D9-F2B06607D6C4}"/>
              </a:ext>
            </a:extLst>
          </p:cNvPr>
          <p:cNvSpPr/>
          <p:nvPr/>
        </p:nvSpPr>
        <p:spPr>
          <a:xfrm>
            <a:off x="3246120" y="1371600"/>
            <a:ext cx="2697480" cy="502920"/>
          </a:xfrm>
          <a:prstGeom prst="rect">
            <a:avLst/>
          </a:prstGeom>
          <a:solidFill>
            <a:srgbClr val="1B2A4A"/>
          </a:solidFill>
          <a:ln/>
        </p:spPr>
        <p:txBody>
          <a:bodyPr/>
          <a:lstStyle/>
          <a:p>
            <a:endParaRPr lang="en-US"/>
          </a:p>
        </p:txBody>
      </p:sp>
      <p:sp>
        <p:nvSpPr>
          <p:cNvPr id="10" name="Text 8">
            <a:extLst>
              <a:ext uri="{FF2B5EF4-FFF2-40B4-BE49-F238E27FC236}">
                <a16:creationId xmlns:a16="http://schemas.microsoft.com/office/drawing/2014/main" id="{B6B5C738-85DA-3260-E576-2B58B9F2D557}"/>
              </a:ext>
            </a:extLst>
          </p:cNvPr>
          <p:cNvSpPr/>
          <p:nvPr/>
        </p:nvSpPr>
        <p:spPr>
          <a:xfrm>
            <a:off x="3337560" y="1371600"/>
            <a:ext cx="2514600" cy="502920"/>
          </a:xfrm>
          <a:prstGeom prst="rect">
            <a:avLst/>
          </a:prstGeom>
          <a:noFill/>
          <a:ln/>
        </p:spPr>
        <p:txBody>
          <a:bodyPr wrap="square" rtlCol="0" anchor="ctr"/>
          <a:lstStyle/>
          <a:p>
            <a:pPr marL="0" indent="0" algn="ctr">
              <a:buNone/>
            </a:pPr>
            <a:r>
              <a:rPr lang="en-US" sz="1300" b="1">
                <a:solidFill>
                  <a:srgbClr val="FFFFFF"/>
                </a:solidFill>
                <a:latin typeface="Georgia" pitchFamily="34" charset="0"/>
                <a:ea typeface="Georgia" pitchFamily="34" charset="-122"/>
                <a:cs typeface="Georgia" pitchFamily="34" charset="-120"/>
              </a:rPr>
              <a:t>Savings Rate Solver</a:t>
            </a:r>
            <a:endParaRPr lang="en-US" sz="1300"/>
          </a:p>
        </p:txBody>
      </p:sp>
      <p:sp>
        <p:nvSpPr>
          <p:cNvPr id="12" name="Shape 10">
            <a:extLst>
              <a:ext uri="{FF2B5EF4-FFF2-40B4-BE49-F238E27FC236}">
                <a16:creationId xmlns:a16="http://schemas.microsoft.com/office/drawing/2014/main" id="{12D9212F-7ACC-5BDA-B949-338B390AC37D}"/>
              </a:ext>
            </a:extLst>
          </p:cNvPr>
          <p:cNvSpPr/>
          <p:nvPr/>
        </p:nvSpPr>
        <p:spPr>
          <a:xfrm>
            <a:off x="6126480" y="1371600"/>
            <a:ext cx="2697480" cy="31089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3" name="Shape 11">
            <a:extLst>
              <a:ext uri="{FF2B5EF4-FFF2-40B4-BE49-F238E27FC236}">
                <a16:creationId xmlns:a16="http://schemas.microsoft.com/office/drawing/2014/main" id="{506C6CBD-632B-4B79-0887-B71D42DBDB3A}"/>
              </a:ext>
            </a:extLst>
          </p:cNvPr>
          <p:cNvSpPr/>
          <p:nvPr/>
        </p:nvSpPr>
        <p:spPr>
          <a:xfrm>
            <a:off x="6126480" y="1371600"/>
            <a:ext cx="2697480" cy="502920"/>
          </a:xfrm>
          <a:prstGeom prst="rect">
            <a:avLst/>
          </a:prstGeom>
          <a:solidFill>
            <a:srgbClr val="1B2A4A"/>
          </a:solidFill>
          <a:ln/>
        </p:spPr>
        <p:txBody>
          <a:bodyPr/>
          <a:lstStyle/>
          <a:p>
            <a:endParaRPr lang="en-US"/>
          </a:p>
        </p:txBody>
      </p:sp>
      <p:sp>
        <p:nvSpPr>
          <p:cNvPr id="14" name="Text 12">
            <a:extLst>
              <a:ext uri="{FF2B5EF4-FFF2-40B4-BE49-F238E27FC236}">
                <a16:creationId xmlns:a16="http://schemas.microsoft.com/office/drawing/2014/main" id="{F3B04819-5E54-2DC6-93F7-55C1025EB786}"/>
              </a:ext>
            </a:extLst>
          </p:cNvPr>
          <p:cNvSpPr/>
          <p:nvPr/>
        </p:nvSpPr>
        <p:spPr>
          <a:xfrm>
            <a:off x="6217920" y="1371600"/>
            <a:ext cx="2514600" cy="502920"/>
          </a:xfrm>
          <a:prstGeom prst="rect">
            <a:avLst/>
          </a:prstGeom>
          <a:noFill/>
          <a:ln/>
        </p:spPr>
        <p:txBody>
          <a:bodyPr wrap="square" rtlCol="0" anchor="ctr"/>
          <a:lstStyle/>
          <a:p>
            <a:pPr marL="0" indent="0" algn="ctr">
              <a:buNone/>
            </a:pPr>
            <a:r>
              <a:rPr lang="en-US" sz="1300" b="1">
                <a:solidFill>
                  <a:srgbClr val="FFFFFF"/>
                </a:solidFill>
                <a:latin typeface="Georgia" pitchFamily="34" charset="0"/>
                <a:ea typeface="Georgia" pitchFamily="34" charset="-122"/>
                <a:cs typeface="Georgia" pitchFamily="34" charset="-120"/>
              </a:rPr>
              <a:t>Cash Flow Sankey</a:t>
            </a:r>
            <a:endParaRPr lang="en-US" sz="1300"/>
          </a:p>
        </p:txBody>
      </p:sp>
      <p:sp>
        <p:nvSpPr>
          <p:cNvPr id="15" name="Text 13">
            <a:extLst>
              <a:ext uri="{FF2B5EF4-FFF2-40B4-BE49-F238E27FC236}">
                <a16:creationId xmlns:a16="http://schemas.microsoft.com/office/drawing/2014/main" id="{760009D1-9BE8-AED7-0A6F-E6693E4AE5CF}"/>
              </a:ext>
            </a:extLst>
          </p:cNvPr>
          <p:cNvSpPr/>
          <p:nvPr/>
        </p:nvSpPr>
        <p:spPr>
          <a:xfrm>
            <a:off x="6263640" y="1965960"/>
            <a:ext cx="2423160" cy="2423160"/>
          </a:xfrm>
          <a:prstGeom prst="rect">
            <a:avLst/>
          </a:prstGeom>
          <a:noFill/>
          <a:ln/>
        </p:spPr>
        <p:txBody>
          <a:bodyPr wrap="square" rtlCol="0" anchor="t"/>
          <a:lstStyle/>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Gross → Taxes → Take-Home → Fixed / Invest / Guilt-Free / Surplus</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Node width proportional to actual dollar flow</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LES-mode or formula-mode input</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Deficit detection with red warning</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Plotly go.Sankey, dark theme</a:t>
            </a:r>
            <a:endParaRPr lang="en-US" sz="1100"/>
          </a:p>
        </p:txBody>
      </p:sp>
      <p:sp>
        <p:nvSpPr>
          <p:cNvPr id="16" name="Text 14">
            <a:extLst>
              <a:ext uri="{FF2B5EF4-FFF2-40B4-BE49-F238E27FC236}">
                <a16:creationId xmlns:a16="http://schemas.microsoft.com/office/drawing/2014/main" id="{2109C3A3-433B-8823-4A00-3C48C0B62EF2}"/>
              </a:ext>
            </a:extLst>
          </p:cNvPr>
          <p:cNvSpPr/>
          <p:nvPr/>
        </p:nvSpPr>
        <p:spPr>
          <a:xfrm>
            <a:off x="457200" y="4709160"/>
            <a:ext cx="6400800" cy="320040"/>
          </a:xfrm>
          <a:prstGeom prst="rect">
            <a:avLst/>
          </a:prstGeom>
          <a:noFill/>
          <a:ln/>
        </p:spPr>
        <p:txBody>
          <a:bodyPr wrap="square" rtlCol="0" anchor="ctr"/>
          <a:lstStyle/>
          <a:p>
            <a:pPr marL="0" indent="0">
              <a:buNone/>
            </a:pPr>
            <a:r>
              <a:rPr lang="en-US" sz="900">
                <a:solidFill>
                  <a:srgbClr val="636E72"/>
                </a:solidFill>
                <a:latin typeface="Calibri" pitchFamily="34" charset="0"/>
                <a:ea typeface="Calibri" pitchFamily="34" charset="-122"/>
                <a:cs typeface="Calibri" pitchFamily="34" charset="-120"/>
              </a:rPr>
              <a:t>F.I.R.E. for Effect  |  OA3801</a:t>
            </a:r>
            <a:endParaRPr lang="en-US" sz="900"/>
          </a:p>
        </p:txBody>
      </p:sp>
      <p:sp>
        <p:nvSpPr>
          <p:cNvPr id="17" name="Text 15">
            <a:extLst>
              <a:ext uri="{FF2B5EF4-FFF2-40B4-BE49-F238E27FC236}">
                <a16:creationId xmlns:a16="http://schemas.microsoft.com/office/drawing/2014/main" id="{94BE5326-F12E-AAFA-C4FE-BC4B21E265BC}"/>
              </a:ext>
            </a:extLst>
          </p:cNvPr>
          <p:cNvSpPr/>
          <p:nvPr/>
        </p:nvSpPr>
        <p:spPr>
          <a:xfrm>
            <a:off x="8229600" y="4709160"/>
            <a:ext cx="640080" cy="320040"/>
          </a:xfrm>
          <a:prstGeom prst="rect">
            <a:avLst/>
          </a:prstGeom>
          <a:noFill/>
          <a:ln/>
        </p:spPr>
        <p:txBody>
          <a:bodyPr wrap="square" rtlCol="0" anchor="ctr"/>
          <a:lstStyle/>
          <a:p>
            <a:pPr marL="0" indent="0" algn="r">
              <a:buNone/>
            </a:pPr>
            <a:r>
              <a:rPr lang="en-US" sz="900">
                <a:solidFill>
                  <a:srgbClr val="636E72"/>
                </a:solidFill>
                <a:latin typeface="Calibri" pitchFamily="34" charset="0"/>
                <a:ea typeface="Calibri" pitchFamily="34" charset="-122"/>
                <a:cs typeface="Calibri" pitchFamily="34" charset="-120"/>
              </a:rPr>
              <a:t>4</a:t>
            </a:r>
            <a:endParaRPr lang="en-US" sz="900"/>
          </a:p>
        </p:txBody>
      </p:sp>
      <p:sp>
        <p:nvSpPr>
          <p:cNvPr id="18" name="Text 5">
            <a:extLst>
              <a:ext uri="{FF2B5EF4-FFF2-40B4-BE49-F238E27FC236}">
                <a16:creationId xmlns:a16="http://schemas.microsoft.com/office/drawing/2014/main" id="{1AE1C12F-54DB-22F1-EB3F-369BC594782B}"/>
              </a:ext>
            </a:extLst>
          </p:cNvPr>
          <p:cNvSpPr/>
          <p:nvPr/>
        </p:nvSpPr>
        <p:spPr>
          <a:xfrm>
            <a:off x="502920" y="1965960"/>
            <a:ext cx="2423160" cy="2423160"/>
          </a:xfrm>
          <a:prstGeom prst="rect">
            <a:avLst/>
          </a:prstGeom>
          <a:noFill/>
          <a:ln/>
        </p:spPr>
        <p:txBody>
          <a:bodyPr wrap="square" rtlCol="0" anchor="t"/>
          <a:lstStyle/>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1,000 independent trials</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Normal(μ, σ) draws per fund, per month, per trial</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Dynamic contributions: shifts as pay changes based on % of base pay</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Convert nominal → real returns (inflation-adjusted)</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Outputs: Median/P10/P90 bands + success probability</a:t>
            </a:r>
            <a:endParaRPr lang="en-US" sz="1100"/>
          </a:p>
        </p:txBody>
      </p:sp>
      <p:sp>
        <p:nvSpPr>
          <p:cNvPr id="19" name="Text 9">
            <a:extLst>
              <a:ext uri="{FF2B5EF4-FFF2-40B4-BE49-F238E27FC236}">
                <a16:creationId xmlns:a16="http://schemas.microsoft.com/office/drawing/2014/main" id="{0B2474CB-DD37-B3E2-294A-9FB51FFF4855}"/>
              </a:ext>
            </a:extLst>
          </p:cNvPr>
          <p:cNvSpPr/>
          <p:nvPr/>
        </p:nvSpPr>
        <p:spPr>
          <a:xfrm>
            <a:off x="3383280" y="1965960"/>
            <a:ext cx="2423160" cy="2423160"/>
          </a:xfrm>
          <a:prstGeom prst="rect">
            <a:avLst/>
          </a:prstGeom>
          <a:noFill/>
          <a:ln/>
        </p:spPr>
        <p:txBody>
          <a:bodyPr wrap="square" rtlCol="0" anchor="t"/>
          <a:lstStyle/>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Binary search: 60 iterations over 0–100% for a rate that achieves savings rate given a compounding formula</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Promotion-aware income schedule</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Multiple progression chains: Enlisted, Warrant, Officer, Prior-E</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Mirrors Monte Carlo allocation logic/user selection</a:t>
            </a:r>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Output: a single % to plug into </a:t>
            </a:r>
            <a:r>
              <a:rPr lang="en-US" sz="1100" err="1">
                <a:solidFill>
                  <a:srgbClr val="2D3436"/>
                </a:solidFill>
                <a:latin typeface="Calibri" pitchFamily="34" charset="0"/>
                <a:ea typeface="Calibri" pitchFamily="34" charset="-122"/>
                <a:cs typeface="Calibri" pitchFamily="34" charset="-120"/>
              </a:rPr>
              <a:t>MyPay</a:t>
            </a:r>
            <a:r>
              <a:rPr lang="en-US" sz="1100">
                <a:solidFill>
                  <a:srgbClr val="2D3436"/>
                </a:solidFill>
                <a:latin typeface="Calibri" pitchFamily="34" charset="0"/>
                <a:ea typeface="Calibri" pitchFamily="34" charset="-122"/>
                <a:cs typeface="Calibri" pitchFamily="34" charset="-120"/>
              </a:rPr>
              <a:t> for entire career (if career doesn’t stall)</a:t>
            </a:r>
            <a:endParaRPr lang="en-US" sz="1100"/>
          </a:p>
        </p:txBody>
      </p:sp>
    </p:spTree>
    <p:extLst>
      <p:ext uri="{BB962C8B-B14F-4D97-AF65-F5344CB8AC3E}">
        <p14:creationId xmlns:p14="http://schemas.microsoft.com/office/powerpoint/2010/main" val="2309673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8AC9006-C61F-0705-C83B-F2A50DAF952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7DB5349-A4E1-2701-53C8-6C936E2048D4}"/>
              </a:ext>
            </a:extLst>
          </p:cNvPr>
          <p:cNvSpPr/>
          <p:nvPr/>
        </p:nvSpPr>
        <p:spPr>
          <a:xfrm>
            <a:off x="457200" y="182880"/>
            <a:ext cx="8229600" cy="548640"/>
          </a:xfrm>
          <a:prstGeom prst="rect">
            <a:avLst/>
          </a:prstGeom>
          <a:noFill/>
          <a:ln/>
        </p:spPr>
        <p:txBody>
          <a:bodyPr wrap="square" lIns="0" tIns="0" rIns="0" bIns="0" rtlCol="0" anchor="ctr"/>
          <a:lstStyle/>
          <a:p>
            <a:pPr marL="0" indent="0">
              <a:buNone/>
            </a:pPr>
            <a:r>
              <a:rPr lang="en-US" sz="3000" b="1">
                <a:solidFill>
                  <a:srgbClr val="1E2A3A"/>
                </a:solidFill>
                <a:latin typeface="Georgia" pitchFamily="34" charset="0"/>
                <a:ea typeface="Georgia" pitchFamily="34" charset="-122"/>
                <a:cs typeface="Georgia" pitchFamily="34" charset="-120"/>
              </a:rPr>
              <a:t>DATA FLOW: INPUTS TO OUTPUT</a:t>
            </a:r>
            <a:endParaRPr lang="en-US" sz="3000"/>
          </a:p>
        </p:txBody>
      </p:sp>
      <p:sp>
        <p:nvSpPr>
          <p:cNvPr id="3" name="Text 1">
            <a:extLst>
              <a:ext uri="{FF2B5EF4-FFF2-40B4-BE49-F238E27FC236}">
                <a16:creationId xmlns:a16="http://schemas.microsoft.com/office/drawing/2014/main" id="{665DB021-B3DE-67D3-7954-5A8D8C0540C1}"/>
              </a:ext>
            </a:extLst>
          </p:cNvPr>
          <p:cNvSpPr/>
          <p:nvPr/>
        </p:nvSpPr>
        <p:spPr>
          <a:xfrm>
            <a:off x="457200" y="685800"/>
            <a:ext cx="8229600" cy="274320"/>
          </a:xfrm>
          <a:prstGeom prst="rect">
            <a:avLst/>
          </a:prstGeom>
          <a:noFill/>
          <a:ln/>
        </p:spPr>
        <p:txBody>
          <a:bodyPr wrap="square" lIns="0" tIns="0" rIns="0" bIns="0" rtlCol="0" anchor="ctr"/>
          <a:lstStyle/>
          <a:p>
            <a:pPr marL="0" indent="0">
              <a:buNone/>
            </a:pPr>
            <a:r>
              <a:rPr lang="en-US" sz="1200" i="1">
                <a:solidFill>
                  <a:srgbClr val="4A5568"/>
                </a:solidFill>
                <a:latin typeface="Calibri" pitchFamily="34" charset="0"/>
                <a:ea typeface="Calibri" pitchFamily="34" charset="-122"/>
                <a:cs typeface="Calibri" pitchFamily="34" charset="-120"/>
              </a:rPr>
              <a:t>How user inputs become a personalized Monte Carlo visualization</a:t>
            </a:r>
            <a:endParaRPr lang="en-US" sz="1200"/>
          </a:p>
        </p:txBody>
      </p:sp>
      <p:sp>
        <p:nvSpPr>
          <p:cNvPr id="4" name="Shape 2">
            <a:extLst>
              <a:ext uri="{FF2B5EF4-FFF2-40B4-BE49-F238E27FC236}">
                <a16:creationId xmlns:a16="http://schemas.microsoft.com/office/drawing/2014/main" id="{E2C55FAC-EBEF-0F11-71DD-773B6A67655E}"/>
              </a:ext>
            </a:extLst>
          </p:cNvPr>
          <p:cNvSpPr/>
          <p:nvPr/>
        </p:nvSpPr>
        <p:spPr>
          <a:xfrm>
            <a:off x="320040" y="1143000"/>
            <a:ext cx="2194560" cy="411480"/>
          </a:xfrm>
          <a:prstGeom prst="rect">
            <a:avLst/>
          </a:prstGeom>
          <a:solidFill>
            <a:srgbClr val="1E2A3A"/>
          </a:solidFill>
          <a:ln/>
          <a:effectLst>
            <a:outerShdw blurRad="76200" dist="25400" dir="8100000" algn="bl" rotWithShape="0">
              <a:srgbClr val="000000">
                <a:alpha val="12000"/>
              </a:srgbClr>
            </a:outerShdw>
          </a:effectLst>
        </p:spPr>
        <p:txBody>
          <a:bodyPr/>
          <a:lstStyle/>
          <a:p>
            <a:endParaRPr lang="en-US"/>
          </a:p>
        </p:txBody>
      </p:sp>
      <p:sp>
        <p:nvSpPr>
          <p:cNvPr id="5" name="Text 3">
            <a:extLst>
              <a:ext uri="{FF2B5EF4-FFF2-40B4-BE49-F238E27FC236}">
                <a16:creationId xmlns:a16="http://schemas.microsoft.com/office/drawing/2014/main" id="{06CEEB79-1E0D-D1FF-EBE0-12E93DEE3529}"/>
              </a:ext>
            </a:extLst>
          </p:cNvPr>
          <p:cNvSpPr/>
          <p:nvPr/>
        </p:nvSpPr>
        <p:spPr>
          <a:xfrm>
            <a:off x="320040" y="1143000"/>
            <a:ext cx="2194560" cy="41148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1. DATA INPUTS</a:t>
            </a:r>
            <a:endParaRPr lang="en-US" sz="1100"/>
          </a:p>
        </p:txBody>
      </p:sp>
      <p:sp>
        <p:nvSpPr>
          <p:cNvPr id="6" name="Shape 4">
            <a:extLst>
              <a:ext uri="{FF2B5EF4-FFF2-40B4-BE49-F238E27FC236}">
                <a16:creationId xmlns:a16="http://schemas.microsoft.com/office/drawing/2014/main" id="{BA447CD5-A626-A613-F4E2-D3B5D8EE98DB}"/>
              </a:ext>
            </a:extLst>
          </p:cNvPr>
          <p:cNvSpPr/>
          <p:nvPr/>
        </p:nvSpPr>
        <p:spPr>
          <a:xfrm>
            <a:off x="320040" y="1691640"/>
            <a:ext cx="2194560" cy="7772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US"/>
          </a:p>
        </p:txBody>
      </p:sp>
      <p:sp>
        <p:nvSpPr>
          <p:cNvPr id="7" name="Text 5">
            <a:extLst>
              <a:ext uri="{FF2B5EF4-FFF2-40B4-BE49-F238E27FC236}">
                <a16:creationId xmlns:a16="http://schemas.microsoft.com/office/drawing/2014/main" id="{98CEADA0-969A-1DCB-6C2E-254E893A721B}"/>
              </a:ext>
            </a:extLst>
          </p:cNvPr>
          <p:cNvSpPr/>
          <p:nvPr/>
        </p:nvSpPr>
        <p:spPr>
          <a:xfrm>
            <a:off x="411480" y="1737360"/>
            <a:ext cx="2011680" cy="228600"/>
          </a:xfrm>
          <a:prstGeom prst="rect">
            <a:avLst/>
          </a:prstGeom>
          <a:noFill/>
          <a:ln/>
        </p:spPr>
        <p:txBody>
          <a:bodyPr wrap="square" lIns="0" tIns="0" rIns="0" bIns="0" rtlCol="0" anchor="ctr"/>
          <a:lstStyle/>
          <a:p>
            <a:pPr marL="0" indent="0">
              <a:buNone/>
            </a:pPr>
            <a:r>
              <a:rPr lang="en-US" sz="950" b="1">
                <a:solidFill>
                  <a:srgbClr val="1E2A3A"/>
                </a:solidFill>
                <a:latin typeface="Calibri" pitchFamily="34" charset="0"/>
                <a:ea typeface="Calibri" pitchFamily="34" charset="-122"/>
                <a:cs typeface="Calibri" pitchFamily="34" charset="-120"/>
              </a:rPr>
              <a:t>User Inputs</a:t>
            </a:r>
            <a:endParaRPr lang="en-US" sz="950"/>
          </a:p>
        </p:txBody>
      </p:sp>
      <p:sp>
        <p:nvSpPr>
          <p:cNvPr id="8" name="Text 6">
            <a:extLst>
              <a:ext uri="{FF2B5EF4-FFF2-40B4-BE49-F238E27FC236}">
                <a16:creationId xmlns:a16="http://schemas.microsoft.com/office/drawing/2014/main" id="{5661B62B-8485-1158-E337-6F0036F411BF}"/>
              </a:ext>
            </a:extLst>
          </p:cNvPr>
          <p:cNvSpPr/>
          <p:nvPr/>
        </p:nvSpPr>
        <p:spPr>
          <a:xfrm>
            <a:off x="411480" y="1965960"/>
            <a:ext cx="2011680" cy="457200"/>
          </a:xfrm>
          <a:prstGeom prst="rect">
            <a:avLst/>
          </a:prstGeom>
          <a:noFill/>
          <a:ln/>
        </p:spPr>
        <p:txBody>
          <a:bodyPr wrap="square" lIns="0" tIns="0" rIns="0" bIns="0" rtlCol="0" anchor="ctr"/>
          <a:lstStyle/>
          <a:p>
            <a:pPr marL="0" indent="0">
              <a:buNone/>
            </a:pPr>
            <a:r>
              <a:rPr lang="en-US" sz="800">
                <a:solidFill>
                  <a:srgbClr val="4A5568"/>
                </a:solidFill>
                <a:latin typeface="Calibri" pitchFamily="34" charset="0"/>
                <a:ea typeface="Calibri" pitchFamily="34" charset="-122"/>
                <a:cs typeface="Calibri" pitchFamily="34" charset="-120"/>
              </a:rPr>
              <a:t>Current Age/Rank/TIS, Pension Rank/TIS, Retire Age, Current TSP, Desired Retirement Income, Expected Post-Military Salary,</a:t>
            </a:r>
            <a:endParaRPr lang="en-US" sz="800"/>
          </a:p>
          <a:p>
            <a:pPr marL="0" indent="0">
              <a:buNone/>
            </a:pPr>
            <a:r>
              <a:rPr lang="en-US" sz="800">
                <a:solidFill>
                  <a:srgbClr val="4A5568"/>
                </a:solidFill>
                <a:latin typeface="Calibri" pitchFamily="34" charset="0"/>
                <a:ea typeface="Calibri" pitchFamily="34" charset="-122"/>
                <a:cs typeface="Calibri" pitchFamily="34" charset="-120"/>
              </a:rPr>
              <a:t>Fund Allocation, Inflation Rate</a:t>
            </a:r>
            <a:endParaRPr lang="en-US" sz="800"/>
          </a:p>
        </p:txBody>
      </p:sp>
      <p:sp>
        <p:nvSpPr>
          <p:cNvPr id="9" name="Shape 7">
            <a:extLst>
              <a:ext uri="{FF2B5EF4-FFF2-40B4-BE49-F238E27FC236}">
                <a16:creationId xmlns:a16="http://schemas.microsoft.com/office/drawing/2014/main" id="{6263E61F-0693-595A-0EA3-BE7747E9BBCF}"/>
              </a:ext>
            </a:extLst>
          </p:cNvPr>
          <p:cNvSpPr/>
          <p:nvPr/>
        </p:nvSpPr>
        <p:spPr>
          <a:xfrm>
            <a:off x="320040" y="2560320"/>
            <a:ext cx="2194560" cy="7772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US"/>
          </a:p>
        </p:txBody>
      </p:sp>
      <p:sp>
        <p:nvSpPr>
          <p:cNvPr id="10" name="Text 8">
            <a:extLst>
              <a:ext uri="{FF2B5EF4-FFF2-40B4-BE49-F238E27FC236}">
                <a16:creationId xmlns:a16="http://schemas.microsoft.com/office/drawing/2014/main" id="{5CD3EC7A-575C-AA86-3158-CAD236BBAD0B}"/>
              </a:ext>
            </a:extLst>
          </p:cNvPr>
          <p:cNvSpPr/>
          <p:nvPr/>
        </p:nvSpPr>
        <p:spPr>
          <a:xfrm>
            <a:off x="411480" y="2606040"/>
            <a:ext cx="2011680" cy="228600"/>
          </a:xfrm>
          <a:prstGeom prst="rect">
            <a:avLst/>
          </a:prstGeom>
          <a:noFill/>
          <a:ln/>
        </p:spPr>
        <p:txBody>
          <a:bodyPr wrap="square" lIns="0" tIns="0" rIns="0" bIns="0" rtlCol="0" anchor="ctr"/>
          <a:lstStyle/>
          <a:p>
            <a:pPr marL="0" indent="0">
              <a:buNone/>
            </a:pPr>
            <a:r>
              <a:rPr lang="en-US" sz="950" b="1">
                <a:solidFill>
                  <a:srgbClr val="1E2A3A"/>
                </a:solidFill>
                <a:latin typeface="Calibri" pitchFamily="34" charset="0"/>
                <a:ea typeface="Calibri" pitchFamily="34" charset="-122"/>
                <a:cs typeface="Calibri" pitchFamily="34" charset="-120"/>
              </a:rPr>
              <a:t>External Data</a:t>
            </a:r>
            <a:endParaRPr lang="en-US" sz="950"/>
          </a:p>
        </p:txBody>
      </p:sp>
      <p:sp>
        <p:nvSpPr>
          <p:cNvPr id="11" name="Text 9">
            <a:extLst>
              <a:ext uri="{FF2B5EF4-FFF2-40B4-BE49-F238E27FC236}">
                <a16:creationId xmlns:a16="http://schemas.microsoft.com/office/drawing/2014/main" id="{25FE01F4-7C20-5B56-A882-73B64E902823}"/>
              </a:ext>
            </a:extLst>
          </p:cNvPr>
          <p:cNvSpPr/>
          <p:nvPr/>
        </p:nvSpPr>
        <p:spPr>
          <a:xfrm>
            <a:off x="411480" y="2834640"/>
            <a:ext cx="2011680" cy="457200"/>
          </a:xfrm>
          <a:prstGeom prst="rect">
            <a:avLst/>
          </a:prstGeom>
          <a:noFill/>
          <a:ln/>
        </p:spPr>
        <p:txBody>
          <a:bodyPr wrap="square" lIns="0" tIns="0" rIns="0" bIns="0" rtlCol="0" anchor="ctr"/>
          <a:lstStyle/>
          <a:p>
            <a:pPr marL="0" indent="0">
              <a:buNone/>
            </a:pPr>
            <a:r>
              <a:rPr lang="en-US" sz="800">
                <a:solidFill>
                  <a:srgbClr val="4A5568"/>
                </a:solidFill>
                <a:latin typeface="Calibri" pitchFamily="34" charset="0"/>
                <a:ea typeface="Calibri" pitchFamily="34" charset="-122"/>
                <a:cs typeface="Calibri" pitchFamily="34" charset="-120"/>
              </a:rPr>
              <a:t>TSP Fund Statistics</a:t>
            </a:r>
          </a:p>
          <a:p>
            <a:pPr marL="0" indent="0">
              <a:buNone/>
            </a:pPr>
            <a:r>
              <a:rPr lang="en-US" sz="800">
                <a:solidFill>
                  <a:srgbClr val="4A5568"/>
                </a:solidFill>
                <a:latin typeface="Calibri" pitchFamily="34" charset="0"/>
                <a:ea typeface="Calibri" pitchFamily="34" charset="-122"/>
                <a:cs typeface="Calibri" pitchFamily="34" charset="-120"/>
              </a:rPr>
              <a:t>Military Pay &amp; Expected Promotion Schedule Data (JSON)</a:t>
            </a:r>
            <a:endParaRPr lang="en-US" sz="800"/>
          </a:p>
        </p:txBody>
      </p:sp>
      <p:sp>
        <p:nvSpPr>
          <p:cNvPr id="12" name="Shape 10">
            <a:extLst>
              <a:ext uri="{FF2B5EF4-FFF2-40B4-BE49-F238E27FC236}">
                <a16:creationId xmlns:a16="http://schemas.microsoft.com/office/drawing/2014/main" id="{80FE0ADB-BC21-D9B0-F399-790F81E11023}"/>
              </a:ext>
            </a:extLst>
          </p:cNvPr>
          <p:cNvSpPr/>
          <p:nvPr/>
        </p:nvSpPr>
        <p:spPr>
          <a:xfrm>
            <a:off x="320040" y="3429000"/>
            <a:ext cx="2194560" cy="7772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US"/>
          </a:p>
        </p:txBody>
      </p:sp>
      <p:sp>
        <p:nvSpPr>
          <p:cNvPr id="13" name="Text 11">
            <a:extLst>
              <a:ext uri="{FF2B5EF4-FFF2-40B4-BE49-F238E27FC236}">
                <a16:creationId xmlns:a16="http://schemas.microsoft.com/office/drawing/2014/main" id="{601A85A8-251A-8FD2-DF3C-202C68B044CA}"/>
              </a:ext>
            </a:extLst>
          </p:cNvPr>
          <p:cNvSpPr/>
          <p:nvPr/>
        </p:nvSpPr>
        <p:spPr>
          <a:xfrm>
            <a:off x="411480" y="3474720"/>
            <a:ext cx="2011680" cy="228600"/>
          </a:xfrm>
          <a:prstGeom prst="rect">
            <a:avLst/>
          </a:prstGeom>
          <a:noFill/>
          <a:ln/>
        </p:spPr>
        <p:txBody>
          <a:bodyPr wrap="square" lIns="0" tIns="0" rIns="0" bIns="0" rtlCol="0" anchor="ctr"/>
          <a:lstStyle/>
          <a:p>
            <a:pPr marL="0" indent="0">
              <a:buNone/>
            </a:pPr>
            <a:r>
              <a:rPr lang="en-US" sz="950" b="1">
                <a:solidFill>
                  <a:srgbClr val="1E2A3A"/>
                </a:solidFill>
                <a:latin typeface="Calibri" pitchFamily="34" charset="0"/>
                <a:ea typeface="Calibri" pitchFamily="34" charset="-122"/>
                <a:cs typeface="Calibri" pitchFamily="34" charset="-120"/>
              </a:rPr>
              <a:t>Solver Output</a:t>
            </a:r>
            <a:endParaRPr lang="en-US" sz="950"/>
          </a:p>
        </p:txBody>
      </p:sp>
      <p:sp>
        <p:nvSpPr>
          <p:cNvPr id="14" name="Text 12">
            <a:extLst>
              <a:ext uri="{FF2B5EF4-FFF2-40B4-BE49-F238E27FC236}">
                <a16:creationId xmlns:a16="http://schemas.microsoft.com/office/drawing/2014/main" id="{079E7906-D3B3-D5BD-11CF-1B7840DB15BA}"/>
              </a:ext>
            </a:extLst>
          </p:cNvPr>
          <p:cNvSpPr/>
          <p:nvPr/>
        </p:nvSpPr>
        <p:spPr>
          <a:xfrm>
            <a:off x="411480" y="3703320"/>
            <a:ext cx="2011680" cy="457200"/>
          </a:xfrm>
          <a:prstGeom prst="rect">
            <a:avLst/>
          </a:prstGeom>
          <a:noFill/>
          <a:ln/>
        </p:spPr>
        <p:txBody>
          <a:bodyPr wrap="square" lIns="0" tIns="0" rIns="0" bIns="0" rtlCol="0" anchor="ctr"/>
          <a:lstStyle/>
          <a:p>
            <a:pPr marL="0" indent="0">
              <a:buNone/>
            </a:pPr>
            <a:r>
              <a:rPr lang="en-US" sz="800">
                <a:solidFill>
                  <a:srgbClr val="4A5568"/>
                </a:solidFill>
                <a:latin typeface="Calibri" pitchFamily="34" charset="0"/>
                <a:ea typeface="Calibri" pitchFamily="34" charset="-122"/>
                <a:cs typeface="Calibri" pitchFamily="34" charset="-120"/>
              </a:rPr>
              <a:t>Savings Rate % required to achieve nest egg </a:t>
            </a:r>
            <a:endParaRPr lang="en-US" sz="800"/>
          </a:p>
        </p:txBody>
      </p:sp>
      <p:sp>
        <p:nvSpPr>
          <p:cNvPr id="15" name="Shape 13">
            <a:extLst>
              <a:ext uri="{FF2B5EF4-FFF2-40B4-BE49-F238E27FC236}">
                <a16:creationId xmlns:a16="http://schemas.microsoft.com/office/drawing/2014/main" id="{4278A982-474F-9F9F-BF67-49B541C4FE21}"/>
              </a:ext>
            </a:extLst>
          </p:cNvPr>
          <p:cNvSpPr/>
          <p:nvPr/>
        </p:nvSpPr>
        <p:spPr>
          <a:xfrm>
            <a:off x="2606040" y="2560320"/>
            <a:ext cx="365760" cy="0"/>
          </a:xfrm>
          <a:prstGeom prst="line">
            <a:avLst/>
          </a:prstGeom>
          <a:noFill/>
          <a:ln w="25400">
            <a:solidFill>
              <a:srgbClr val="F0A500"/>
            </a:solidFill>
            <a:prstDash val="solid"/>
          </a:ln>
        </p:spPr>
        <p:txBody>
          <a:bodyPr/>
          <a:lstStyle/>
          <a:p>
            <a:endParaRPr lang="en-US"/>
          </a:p>
        </p:txBody>
      </p:sp>
      <p:sp>
        <p:nvSpPr>
          <p:cNvPr id="16" name="Shape 14">
            <a:extLst>
              <a:ext uri="{FF2B5EF4-FFF2-40B4-BE49-F238E27FC236}">
                <a16:creationId xmlns:a16="http://schemas.microsoft.com/office/drawing/2014/main" id="{4B5292DA-9EB2-8FFC-CAA6-A9F721612453}"/>
              </a:ext>
            </a:extLst>
          </p:cNvPr>
          <p:cNvSpPr/>
          <p:nvPr/>
        </p:nvSpPr>
        <p:spPr>
          <a:xfrm>
            <a:off x="3063240" y="1143000"/>
            <a:ext cx="3017520" cy="411480"/>
          </a:xfrm>
          <a:prstGeom prst="rect">
            <a:avLst/>
          </a:prstGeom>
          <a:solidFill>
            <a:srgbClr val="1E2A3A"/>
          </a:solidFill>
          <a:ln/>
          <a:effectLst>
            <a:outerShdw blurRad="76200" dist="25400" dir="8100000" algn="bl" rotWithShape="0">
              <a:srgbClr val="000000">
                <a:alpha val="12000"/>
              </a:srgbClr>
            </a:outerShdw>
          </a:effectLst>
        </p:spPr>
        <p:txBody>
          <a:bodyPr/>
          <a:lstStyle/>
          <a:p>
            <a:endParaRPr lang="en-US"/>
          </a:p>
        </p:txBody>
      </p:sp>
      <p:sp>
        <p:nvSpPr>
          <p:cNvPr id="17" name="Text 15">
            <a:extLst>
              <a:ext uri="{FF2B5EF4-FFF2-40B4-BE49-F238E27FC236}">
                <a16:creationId xmlns:a16="http://schemas.microsoft.com/office/drawing/2014/main" id="{00B85A75-3B61-5897-D737-A4A592CA945D}"/>
              </a:ext>
            </a:extLst>
          </p:cNvPr>
          <p:cNvSpPr/>
          <p:nvPr/>
        </p:nvSpPr>
        <p:spPr>
          <a:xfrm>
            <a:off x="3063240" y="1143000"/>
            <a:ext cx="3017520" cy="41148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2. PROCESSING &amp; SIMULATION</a:t>
            </a:r>
            <a:endParaRPr lang="en-US" sz="1100"/>
          </a:p>
        </p:txBody>
      </p:sp>
      <p:sp>
        <p:nvSpPr>
          <p:cNvPr id="18" name="Shape 16">
            <a:extLst>
              <a:ext uri="{FF2B5EF4-FFF2-40B4-BE49-F238E27FC236}">
                <a16:creationId xmlns:a16="http://schemas.microsoft.com/office/drawing/2014/main" id="{52DCC291-6AD6-E309-3FDD-F09DD7530654}"/>
              </a:ext>
            </a:extLst>
          </p:cNvPr>
          <p:cNvSpPr/>
          <p:nvPr/>
        </p:nvSpPr>
        <p:spPr>
          <a:xfrm>
            <a:off x="3063240" y="1691640"/>
            <a:ext cx="3017520" cy="1005840"/>
          </a:xfrm>
          <a:prstGeom prst="rect">
            <a:avLst/>
          </a:prstGeom>
          <a:solidFill>
            <a:srgbClr val="FFFFFF"/>
          </a:solidFill>
          <a:ln w="19050">
            <a:solidFill>
              <a:srgbClr val="00B4D8"/>
            </a:solidFill>
            <a:prstDash val="solid"/>
          </a:ln>
          <a:effectLst>
            <a:outerShdw blurRad="101600" dist="38100" dir="8100000" algn="bl" rotWithShape="0">
              <a:srgbClr val="000000">
                <a:alpha val="15000"/>
              </a:srgbClr>
            </a:outerShdw>
          </a:effectLst>
        </p:spPr>
        <p:txBody>
          <a:bodyPr/>
          <a:lstStyle/>
          <a:p>
            <a:endParaRPr lang="en-US"/>
          </a:p>
        </p:txBody>
      </p:sp>
      <p:sp>
        <p:nvSpPr>
          <p:cNvPr id="19" name="Text 17">
            <a:extLst>
              <a:ext uri="{FF2B5EF4-FFF2-40B4-BE49-F238E27FC236}">
                <a16:creationId xmlns:a16="http://schemas.microsoft.com/office/drawing/2014/main" id="{8E6D564C-4D91-14C5-289F-423A0B842270}"/>
              </a:ext>
            </a:extLst>
          </p:cNvPr>
          <p:cNvSpPr/>
          <p:nvPr/>
        </p:nvSpPr>
        <p:spPr>
          <a:xfrm>
            <a:off x="3154680" y="1737360"/>
            <a:ext cx="2834640" cy="274320"/>
          </a:xfrm>
          <a:prstGeom prst="rect">
            <a:avLst/>
          </a:prstGeom>
          <a:noFill/>
          <a:ln/>
        </p:spPr>
        <p:txBody>
          <a:bodyPr wrap="square" lIns="0" tIns="0" rIns="0" bIns="0" rtlCol="0" anchor="ctr"/>
          <a:lstStyle/>
          <a:p>
            <a:pPr marL="0" indent="0">
              <a:buNone/>
            </a:pPr>
            <a:r>
              <a:rPr lang="en-US" sz="1000" b="1">
                <a:solidFill>
                  <a:srgbClr val="00B4D8"/>
                </a:solidFill>
                <a:latin typeface="Calibri" pitchFamily="34" charset="0"/>
                <a:ea typeface="Calibri" pitchFamily="34" charset="-122"/>
                <a:cs typeface="Calibri" pitchFamily="34" charset="-120"/>
              </a:rPr>
              <a:t>Savings Rate Solver</a:t>
            </a:r>
            <a:endParaRPr lang="en-US" sz="1000"/>
          </a:p>
        </p:txBody>
      </p:sp>
      <p:sp>
        <p:nvSpPr>
          <p:cNvPr id="20" name="Text 18">
            <a:extLst>
              <a:ext uri="{FF2B5EF4-FFF2-40B4-BE49-F238E27FC236}">
                <a16:creationId xmlns:a16="http://schemas.microsoft.com/office/drawing/2014/main" id="{1CE50B89-0D83-D236-A235-B2996769DE17}"/>
              </a:ext>
            </a:extLst>
          </p:cNvPr>
          <p:cNvSpPr/>
          <p:nvPr/>
        </p:nvSpPr>
        <p:spPr>
          <a:xfrm>
            <a:off x="3154679" y="2093976"/>
            <a:ext cx="2834640" cy="640080"/>
          </a:xfrm>
          <a:prstGeom prst="rect">
            <a:avLst/>
          </a:prstGeom>
          <a:noFill/>
          <a:ln/>
        </p:spPr>
        <p:txBody>
          <a:bodyPr wrap="square" lIns="0" tIns="0" rIns="0" bIns="0" rtlCol="0" anchor="ctr"/>
          <a:lstStyle/>
          <a:p>
            <a:pPr marL="0" indent="0">
              <a:buNone/>
            </a:pPr>
            <a:r>
              <a:rPr lang="en-US" sz="800">
                <a:solidFill>
                  <a:srgbClr val="4A5568"/>
                </a:solidFill>
                <a:latin typeface="Calibri" pitchFamily="34" charset="0"/>
                <a:ea typeface="Calibri" pitchFamily="34" charset="-122"/>
                <a:cs typeface="Calibri" pitchFamily="34" charset="-120"/>
              </a:rPr>
              <a:t>Given required Nest Egg, known current balance, and projected income and interest from allocations, determine % of base pay that will achieve nest egg.</a:t>
            </a:r>
            <a:br>
              <a:rPr lang="en-US" sz="800">
                <a:solidFill>
                  <a:srgbClr val="4A5568"/>
                </a:solidFill>
                <a:latin typeface="Calibri" pitchFamily="34" charset="0"/>
                <a:ea typeface="Calibri" pitchFamily="34" charset="-122"/>
                <a:cs typeface="Calibri" pitchFamily="34" charset="-120"/>
              </a:rPr>
            </a:br>
            <a:br>
              <a:rPr lang="en-US" sz="800">
                <a:solidFill>
                  <a:srgbClr val="4A5568"/>
                </a:solidFill>
                <a:latin typeface="Calibri" pitchFamily="34" charset="0"/>
                <a:ea typeface="Calibri" pitchFamily="34" charset="-122"/>
                <a:cs typeface="Calibri" pitchFamily="34" charset="-120"/>
              </a:rPr>
            </a:br>
            <a:r>
              <a:rPr lang="en-US" sz="800">
                <a:solidFill>
                  <a:srgbClr val="4A5568"/>
                </a:solidFill>
                <a:latin typeface="Calibri" pitchFamily="34" charset="0"/>
                <a:ea typeface="Calibri" pitchFamily="34" charset="-122"/>
                <a:cs typeface="Calibri" pitchFamily="34" charset="-120"/>
              </a:rPr>
              <a:t>Uses Bisection Method that we learned in COMP 1</a:t>
            </a:r>
          </a:p>
          <a:p>
            <a:pPr marL="0" indent="0">
              <a:buNone/>
            </a:pPr>
            <a:endParaRPr lang="en-US" sz="800">
              <a:solidFill>
                <a:srgbClr val="4A5568"/>
              </a:solidFill>
              <a:latin typeface="Calibri" pitchFamily="34" charset="0"/>
              <a:ea typeface="Calibri" pitchFamily="34" charset="-122"/>
              <a:cs typeface="Calibri" pitchFamily="34" charset="-120"/>
            </a:endParaRPr>
          </a:p>
          <a:p>
            <a:pPr marL="0" indent="0">
              <a:buNone/>
            </a:pPr>
            <a:r>
              <a:rPr lang="en-US" sz="800">
                <a:solidFill>
                  <a:srgbClr val="4A5568"/>
                </a:solidFill>
                <a:latin typeface="Calibri" pitchFamily="34" charset="0"/>
                <a:ea typeface="Calibri" pitchFamily="34" charset="-122"/>
                <a:cs typeface="Calibri" pitchFamily="34" charset="-120"/>
              </a:rPr>
              <a:t>, </a:t>
            </a:r>
            <a:endParaRPr lang="en-US" sz="800"/>
          </a:p>
        </p:txBody>
      </p:sp>
      <p:sp>
        <p:nvSpPr>
          <p:cNvPr id="21" name="Shape 19">
            <a:extLst>
              <a:ext uri="{FF2B5EF4-FFF2-40B4-BE49-F238E27FC236}">
                <a16:creationId xmlns:a16="http://schemas.microsoft.com/office/drawing/2014/main" id="{D4807272-2E2A-2784-2563-84E32959F5C8}"/>
              </a:ext>
            </a:extLst>
          </p:cNvPr>
          <p:cNvSpPr/>
          <p:nvPr/>
        </p:nvSpPr>
        <p:spPr>
          <a:xfrm>
            <a:off x="4572000" y="2743200"/>
            <a:ext cx="0" cy="274320"/>
          </a:xfrm>
          <a:prstGeom prst="line">
            <a:avLst/>
          </a:prstGeom>
          <a:noFill/>
          <a:ln w="25400">
            <a:solidFill>
              <a:srgbClr val="F0A500"/>
            </a:solidFill>
            <a:prstDash val="solid"/>
          </a:ln>
        </p:spPr>
        <p:txBody>
          <a:bodyPr/>
          <a:lstStyle/>
          <a:p>
            <a:endParaRPr lang="en-US"/>
          </a:p>
        </p:txBody>
      </p:sp>
      <p:sp>
        <p:nvSpPr>
          <p:cNvPr id="22" name="Shape 20">
            <a:extLst>
              <a:ext uri="{FF2B5EF4-FFF2-40B4-BE49-F238E27FC236}">
                <a16:creationId xmlns:a16="http://schemas.microsoft.com/office/drawing/2014/main" id="{592EA2D3-8DAB-3D93-78A8-CB3EAAEE3E5C}"/>
              </a:ext>
            </a:extLst>
          </p:cNvPr>
          <p:cNvSpPr/>
          <p:nvPr/>
        </p:nvSpPr>
        <p:spPr>
          <a:xfrm>
            <a:off x="3063240" y="3108960"/>
            <a:ext cx="1371600" cy="82296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US"/>
          </a:p>
        </p:txBody>
      </p:sp>
      <p:sp>
        <p:nvSpPr>
          <p:cNvPr id="23" name="Text 21">
            <a:extLst>
              <a:ext uri="{FF2B5EF4-FFF2-40B4-BE49-F238E27FC236}">
                <a16:creationId xmlns:a16="http://schemas.microsoft.com/office/drawing/2014/main" id="{54B878CB-29A6-9FA3-71ED-4554B8DB1B70}"/>
              </a:ext>
            </a:extLst>
          </p:cNvPr>
          <p:cNvSpPr/>
          <p:nvPr/>
        </p:nvSpPr>
        <p:spPr>
          <a:xfrm>
            <a:off x="3108960" y="3127248"/>
            <a:ext cx="1280160" cy="228600"/>
          </a:xfrm>
          <a:prstGeom prst="rect">
            <a:avLst/>
          </a:prstGeom>
          <a:noFill/>
          <a:ln/>
        </p:spPr>
        <p:txBody>
          <a:bodyPr wrap="square" lIns="0" tIns="0" rIns="0" bIns="0" rtlCol="0" anchor="ctr"/>
          <a:lstStyle/>
          <a:p>
            <a:pPr marL="0" indent="0">
              <a:buNone/>
            </a:pPr>
            <a:r>
              <a:rPr lang="en-US" sz="850" b="1">
                <a:solidFill>
                  <a:srgbClr val="1E2A3A"/>
                </a:solidFill>
                <a:latin typeface="Calibri" pitchFamily="34" charset="0"/>
                <a:ea typeface="Calibri" pitchFamily="34" charset="-122"/>
                <a:cs typeface="Calibri" pitchFamily="34" charset="-120"/>
              </a:rPr>
              <a:t>Statistical Analysis</a:t>
            </a:r>
            <a:endParaRPr lang="en-US" sz="850"/>
          </a:p>
        </p:txBody>
      </p:sp>
      <p:sp>
        <p:nvSpPr>
          <p:cNvPr id="24" name="Text 22">
            <a:extLst>
              <a:ext uri="{FF2B5EF4-FFF2-40B4-BE49-F238E27FC236}">
                <a16:creationId xmlns:a16="http://schemas.microsoft.com/office/drawing/2014/main" id="{4B519047-2608-FC97-4A5D-742523014532}"/>
              </a:ext>
            </a:extLst>
          </p:cNvPr>
          <p:cNvSpPr/>
          <p:nvPr/>
        </p:nvSpPr>
        <p:spPr>
          <a:xfrm>
            <a:off x="3108960" y="3355848"/>
            <a:ext cx="1280160" cy="548640"/>
          </a:xfrm>
          <a:prstGeom prst="rect">
            <a:avLst/>
          </a:prstGeom>
          <a:noFill/>
          <a:ln/>
        </p:spPr>
        <p:txBody>
          <a:bodyPr wrap="square" lIns="0" tIns="0" rIns="0" bIns="0" rtlCol="0" anchor="ctr"/>
          <a:lstStyle/>
          <a:p>
            <a:pPr marL="0" indent="0">
              <a:buNone/>
            </a:pPr>
            <a:r>
              <a:rPr lang="en-US" sz="750">
                <a:solidFill>
                  <a:srgbClr val="4A5568"/>
                </a:solidFill>
                <a:latin typeface="Calibri" pitchFamily="34" charset="0"/>
                <a:ea typeface="Calibri" pitchFamily="34" charset="-122"/>
                <a:cs typeface="Calibri" pitchFamily="34" charset="-120"/>
              </a:rPr>
              <a:t>P10/P50/P90 percentiles</a:t>
            </a:r>
            <a:endParaRPr lang="en-US" sz="750"/>
          </a:p>
          <a:p>
            <a:pPr marL="0" indent="0">
              <a:buNone/>
            </a:pPr>
            <a:r>
              <a:rPr lang="en-US" sz="750">
                <a:solidFill>
                  <a:srgbClr val="4A5568"/>
                </a:solidFill>
                <a:latin typeface="Calibri" pitchFamily="34" charset="0"/>
                <a:ea typeface="Calibri" pitchFamily="34" charset="-122"/>
                <a:cs typeface="Calibri" pitchFamily="34" charset="-120"/>
              </a:rPr>
              <a:t>Success probability</a:t>
            </a:r>
            <a:endParaRPr lang="en-US" sz="750"/>
          </a:p>
          <a:p>
            <a:pPr marL="0" indent="0">
              <a:buNone/>
            </a:pPr>
            <a:r>
              <a:rPr lang="en-US" sz="750">
                <a:solidFill>
                  <a:srgbClr val="4A5568"/>
                </a:solidFill>
                <a:latin typeface="Calibri" pitchFamily="34" charset="0"/>
                <a:ea typeface="Calibri" pitchFamily="34" charset="-122"/>
                <a:cs typeface="Calibri" pitchFamily="34" charset="-120"/>
              </a:rPr>
              <a:t>(% trials ≥ target)</a:t>
            </a:r>
            <a:endParaRPr lang="en-US" sz="750"/>
          </a:p>
        </p:txBody>
      </p:sp>
      <p:sp>
        <p:nvSpPr>
          <p:cNvPr id="25" name="Shape 23">
            <a:extLst>
              <a:ext uri="{FF2B5EF4-FFF2-40B4-BE49-F238E27FC236}">
                <a16:creationId xmlns:a16="http://schemas.microsoft.com/office/drawing/2014/main" id="{5491A270-E087-25EA-F982-5F4DFDDD3AE3}"/>
              </a:ext>
            </a:extLst>
          </p:cNvPr>
          <p:cNvSpPr/>
          <p:nvPr/>
        </p:nvSpPr>
        <p:spPr>
          <a:xfrm>
            <a:off x="4617720" y="3108960"/>
            <a:ext cx="1463040" cy="82296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US"/>
          </a:p>
        </p:txBody>
      </p:sp>
      <p:sp>
        <p:nvSpPr>
          <p:cNvPr id="26" name="Text 24">
            <a:extLst>
              <a:ext uri="{FF2B5EF4-FFF2-40B4-BE49-F238E27FC236}">
                <a16:creationId xmlns:a16="http://schemas.microsoft.com/office/drawing/2014/main" id="{02F815C9-05B1-1520-95CE-D666AD2C6D9E}"/>
              </a:ext>
            </a:extLst>
          </p:cNvPr>
          <p:cNvSpPr/>
          <p:nvPr/>
        </p:nvSpPr>
        <p:spPr>
          <a:xfrm>
            <a:off x="4663440" y="3127248"/>
            <a:ext cx="1371600" cy="228600"/>
          </a:xfrm>
          <a:prstGeom prst="rect">
            <a:avLst/>
          </a:prstGeom>
          <a:noFill/>
          <a:ln/>
        </p:spPr>
        <p:txBody>
          <a:bodyPr wrap="square" lIns="0" tIns="0" rIns="0" bIns="0" rtlCol="0" anchor="ctr"/>
          <a:lstStyle/>
          <a:p>
            <a:pPr marL="0" indent="0">
              <a:buNone/>
            </a:pPr>
            <a:r>
              <a:rPr lang="en-US" sz="850" b="1">
                <a:solidFill>
                  <a:srgbClr val="1E2A3A"/>
                </a:solidFill>
                <a:latin typeface="Calibri" pitchFamily="34" charset="0"/>
                <a:ea typeface="Calibri" pitchFamily="34" charset="-122"/>
                <a:cs typeface="Calibri" pitchFamily="34" charset="-120"/>
              </a:rPr>
              <a:t>Visualization (</a:t>
            </a:r>
            <a:r>
              <a:rPr lang="en-US" sz="850" b="1" err="1">
                <a:solidFill>
                  <a:srgbClr val="1E2A3A"/>
                </a:solidFill>
                <a:latin typeface="Calibri" pitchFamily="34" charset="0"/>
                <a:ea typeface="Calibri" pitchFamily="34" charset="-122"/>
                <a:cs typeface="Calibri" pitchFamily="34" charset="-120"/>
              </a:rPr>
              <a:t>plotly</a:t>
            </a:r>
            <a:r>
              <a:rPr lang="en-US" sz="850" b="1">
                <a:solidFill>
                  <a:srgbClr val="1E2A3A"/>
                </a:solidFill>
                <a:latin typeface="Calibri" pitchFamily="34" charset="0"/>
                <a:ea typeface="Calibri" pitchFamily="34" charset="-122"/>
                <a:cs typeface="Calibri" pitchFamily="34" charset="-120"/>
              </a:rPr>
              <a:t>)</a:t>
            </a:r>
            <a:endParaRPr lang="en-US" sz="850"/>
          </a:p>
        </p:txBody>
      </p:sp>
      <p:sp>
        <p:nvSpPr>
          <p:cNvPr id="27" name="Text 25">
            <a:extLst>
              <a:ext uri="{FF2B5EF4-FFF2-40B4-BE49-F238E27FC236}">
                <a16:creationId xmlns:a16="http://schemas.microsoft.com/office/drawing/2014/main" id="{7D7D327D-F039-0AC2-9108-04861FE77833}"/>
              </a:ext>
            </a:extLst>
          </p:cNvPr>
          <p:cNvSpPr/>
          <p:nvPr/>
        </p:nvSpPr>
        <p:spPr>
          <a:xfrm>
            <a:off x="4663440" y="3355848"/>
            <a:ext cx="1371600" cy="548640"/>
          </a:xfrm>
          <a:prstGeom prst="rect">
            <a:avLst/>
          </a:prstGeom>
          <a:noFill/>
          <a:ln/>
        </p:spPr>
        <p:txBody>
          <a:bodyPr wrap="square" lIns="0" tIns="0" rIns="0" bIns="0" rtlCol="0" anchor="ctr"/>
          <a:lstStyle/>
          <a:p>
            <a:pPr marL="0" indent="0">
              <a:buNone/>
            </a:pPr>
            <a:r>
              <a:rPr lang="en-US" sz="750">
                <a:solidFill>
                  <a:srgbClr val="4A5568"/>
                </a:solidFill>
                <a:latin typeface="Calibri" pitchFamily="34" charset="0"/>
                <a:ea typeface="Calibri" pitchFamily="34" charset="-122"/>
                <a:cs typeface="Calibri" pitchFamily="34" charset="-120"/>
              </a:rPr>
              <a:t>20 sample paths (gray)</a:t>
            </a:r>
            <a:endParaRPr lang="en-US" sz="750"/>
          </a:p>
          <a:p>
            <a:pPr marL="0" indent="0">
              <a:buNone/>
            </a:pPr>
            <a:r>
              <a:rPr lang="en-US" sz="750">
                <a:solidFill>
                  <a:srgbClr val="4A5568"/>
                </a:solidFill>
                <a:latin typeface="Calibri" pitchFamily="34" charset="0"/>
                <a:ea typeface="Calibri" pitchFamily="34" charset="-122"/>
                <a:cs typeface="Calibri" pitchFamily="34" charset="-120"/>
              </a:rPr>
              <a:t>Percentile bands (fill)</a:t>
            </a:r>
            <a:endParaRPr lang="en-US" sz="750"/>
          </a:p>
          <a:p>
            <a:pPr marL="0" indent="0">
              <a:buNone/>
            </a:pPr>
            <a:r>
              <a:rPr lang="en-US" sz="750">
                <a:solidFill>
                  <a:srgbClr val="4A5568"/>
                </a:solidFill>
                <a:latin typeface="Calibri" pitchFamily="34" charset="0"/>
                <a:ea typeface="Calibri" pitchFamily="34" charset="-122"/>
                <a:cs typeface="Calibri" pitchFamily="34" charset="-120"/>
              </a:rPr>
              <a:t>Target line (dashed red)</a:t>
            </a:r>
            <a:endParaRPr lang="en-US" sz="750"/>
          </a:p>
        </p:txBody>
      </p:sp>
      <p:sp>
        <p:nvSpPr>
          <p:cNvPr id="28" name="Shape 26">
            <a:extLst>
              <a:ext uri="{FF2B5EF4-FFF2-40B4-BE49-F238E27FC236}">
                <a16:creationId xmlns:a16="http://schemas.microsoft.com/office/drawing/2014/main" id="{996FF4C6-9F49-ECAF-DF2E-B9B52203FCA2}"/>
              </a:ext>
            </a:extLst>
          </p:cNvPr>
          <p:cNvSpPr/>
          <p:nvPr/>
        </p:nvSpPr>
        <p:spPr>
          <a:xfrm>
            <a:off x="6172200" y="2560320"/>
            <a:ext cx="365760" cy="0"/>
          </a:xfrm>
          <a:prstGeom prst="line">
            <a:avLst/>
          </a:prstGeom>
          <a:noFill/>
          <a:ln w="25400">
            <a:solidFill>
              <a:srgbClr val="F0A500"/>
            </a:solidFill>
            <a:prstDash val="solid"/>
          </a:ln>
        </p:spPr>
        <p:txBody>
          <a:bodyPr/>
          <a:lstStyle/>
          <a:p>
            <a:endParaRPr lang="en-US"/>
          </a:p>
        </p:txBody>
      </p:sp>
      <p:sp>
        <p:nvSpPr>
          <p:cNvPr id="29" name="Shape 27">
            <a:extLst>
              <a:ext uri="{FF2B5EF4-FFF2-40B4-BE49-F238E27FC236}">
                <a16:creationId xmlns:a16="http://schemas.microsoft.com/office/drawing/2014/main" id="{9D4066BD-E78E-1545-CBAB-21E7A8E4B2A5}"/>
              </a:ext>
            </a:extLst>
          </p:cNvPr>
          <p:cNvSpPr/>
          <p:nvPr/>
        </p:nvSpPr>
        <p:spPr>
          <a:xfrm>
            <a:off x="6629400" y="1143000"/>
            <a:ext cx="2194560" cy="411480"/>
          </a:xfrm>
          <a:prstGeom prst="rect">
            <a:avLst/>
          </a:prstGeom>
          <a:solidFill>
            <a:srgbClr val="1E2A3A"/>
          </a:solidFill>
          <a:ln/>
          <a:effectLst>
            <a:outerShdw blurRad="76200" dist="25400" dir="8100000" algn="bl" rotWithShape="0">
              <a:srgbClr val="000000">
                <a:alpha val="12000"/>
              </a:srgbClr>
            </a:outerShdw>
          </a:effectLst>
        </p:spPr>
        <p:txBody>
          <a:bodyPr/>
          <a:lstStyle/>
          <a:p>
            <a:endParaRPr lang="en-US"/>
          </a:p>
        </p:txBody>
      </p:sp>
      <p:sp>
        <p:nvSpPr>
          <p:cNvPr id="30" name="Text 28">
            <a:extLst>
              <a:ext uri="{FF2B5EF4-FFF2-40B4-BE49-F238E27FC236}">
                <a16:creationId xmlns:a16="http://schemas.microsoft.com/office/drawing/2014/main" id="{17C7E42B-84EC-6184-2363-05499F063D98}"/>
              </a:ext>
            </a:extLst>
          </p:cNvPr>
          <p:cNvSpPr/>
          <p:nvPr/>
        </p:nvSpPr>
        <p:spPr>
          <a:xfrm>
            <a:off x="6629400" y="1143000"/>
            <a:ext cx="2194560" cy="41148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3. RENDERED OUTPUT</a:t>
            </a:r>
            <a:endParaRPr lang="en-US" sz="1100"/>
          </a:p>
        </p:txBody>
      </p:sp>
      <p:sp>
        <p:nvSpPr>
          <p:cNvPr id="31" name="Shape 29">
            <a:extLst>
              <a:ext uri="{FF2B5EF4-FFF2-40B4-BE49-F238E27FC236}">
                <a16:creationId xmlns:a16="http://schemas.microsoft.com/office/drawing/2014/main" id="{5DEA4D06-EC2C-1D02-D42B-4925B32F311C}"/>
              </a:ext>
            </a:extLst>
          </p:cNvPr>
          <p:cNvSpPr/>
          <p:nvPr/>
        </p:nvSpPr>
        <p:spPr>
          <a:xfrm>
            <a:off x="6629400" y="1691640"/>
            <a:ext cx="2194560" cy="2240280"/>
          </a:xfrm>
          <a:prstGeom prst="rect">
            <a:avLst/>
          </a:prstGeom>
          <a:solidFill>
            <a:srgbClr val="FFFFFF"/>
          </a:solidFill>
          <a:ln w="19050">
            <a:solidFill>
              <a:srgbClr val="06D6A0"/>
            </a:solidFill>
            <a:prstDash val="solid"/>
          </a:ln>
          <a:effectLst>
            <a:outerShdw blurRad="101600" dist="38100" dir="8100000" algn="bl" rotWithShape="0">
              <a:srgbClr val="000000">
                <a:alpha val="15000"/>
              </a:srgbClr>
            </a:outerShdw>
          </a:effectLst>
        </p:spPr>
        <p:txBody>
          <a:bodyPr/>
          <a:lstStyle/>
          <a:p>
            <a:endParaRPr lang="en-US"/>
          </a:p>
        </p:txBody>
      </p:sp>
      <p:sp>
        <p:nvSpPr>
          <p:cNvPr id="32" name="Text 30">
            <a:extLst>
              <a:ext uri="{FF2B5EF4-FFF2-40B4-BE49-F238E27FC236}">
                <a16:creationId xmlns:a16="http://schemas.microsoft.com/office/drawing/2014/main" id="{DA047CA2-12E0-F8FF-FAE5-86AA249F6322}"/>
              </a:ext>
            </a:extLst>
          </p:cNvPr>
          <p:cNvSpPr/>
          <p:nvPr/>
        </p:nvSpPr>
        <p:spPr>
          <a:xfrm>
            <a:off x="6720840" y="1737360"/>
            <a:ext cx="2011680" cy="228600"/>
          </a:xfrm>
          <a:prstGeom prst="rect">
            <a:avLst/>
          </a:prstGeom>
          <a:noFill/>
          <a:ln/>
        </p:spPr>
        <p:txBody>
          <a:bodyPr wrap="square" lIns="0" tIns="0" rIns="0" bIns="0" rtlCol="0" anchor="ctr"/>
          <a:lstStyle/>
          <a:p>
            <a:pPr marL="0" indent="0">
              <a:buNone/>
            </a:pPr>
            <a:r>
              <a:rPr lang="en-US" sz="1000" b="1">
                <a:solidFill>
                  <a:srgbClr val="06D6A0"/>
                </a:solidFill>
                <a:latin typeface="Calibri" pitchFamily="34" charset="0"/>
                <a:ea typeface="Calibri" pitchFamily="34" charset="-122"/>
                <a:cs typeface="Calibri" pitchFamily="34" charset="-120"/>
              </a:rPr>
              <a:t>Streamlit Display</a:t>
            </a:r>
            <a:endParaRPr lang="en-US" sz="1000"/>
          </a:p>
        </p:txBody>
      </p:sp>
      <p:sp>
        <p:nvSpPr>
          <p:cNvPr id="34" name="Text 31">
            <a:extLst>
              <a:ext uri="{FF2B5EF4-FFF2-40B4-BE49-F238E27FC236}">
                <a16:creationId xmlns:a16="http://schemas.microsoft.com/office/drawing/2014/main" id="{536F671A-2A25-298D-292C-4F30C4A0F236}"/>
              </a:ext>
            </a:extLst>
          </p:cNvPr>
          <p:cNvSpPr/>
          <p:nvPr/>
        </p:nvSpPr>
        <p:spPr>
          <a:xfrm>
            <a:off x="6720840" y="3154680"/>
            <a:ext cx="2011680" cy="731520"/>
          </a:xfrm>
          <a:prstGeom prst="rect">
            <a:avLst/>
          </a:prstGeom>
          <a:noFill/>
          <a:ln/>
        </p:spPr>
        <p:txBody>
          <a:bodyPr wrap="square" lIns="0" tIns="0" rIns="0" bIns="0" rtlCol="0" anchor="ctr"/>
          <a:lstStyle/>
          <a:p>
            <a:pPr marL="0" indent="0">
              <a:buNone/>
            </a:pPr>
            <a:r>
              <a:rPr lang="en-US" sz="750" b="1">
                <a:solidFill>
                  <a:srgbClr val="4A5568"/>
                </a:solidFill>
                <a:latin typeface="Calibri" pitchFamily="34" charset="0"/>
                <a:ea typeface="Calibri" pitchFamily="34" charset="-122"/>
                <a:cs typeface="Calibri" pitchFamily="34" charset="-120"/>
              </a:rPr>
              <a:t>Interactive </a:t>
            </a:r>
            <a:r>
              <a:rPr lang="en-US" sz="750" b="1" err="1">
                <a:solidFill>
                  <a:srgbClr val="4A5568"/>
                </a:solidFill>
                <a:latin typeface="Calibri" pitchFamily="34" charset="0"/>
                <a:ea typeface="Calibri" pitchFamily="34" charset="-122"/>
                <a:cs typeface="Calibri" pitchFamily="34" charset="-120"/>
              </a:rPr>
              <a:t>plotly</a:t>
            </a:r>
            <a:r>
              <a:rPr lang="en-US" sz="750" b="1">
                <a:solidFill>
                  <a:srgbClr val="4A5568"/>
                </a:solidFill>
                <a:latin typeface="Calibri" pitchFamily="34" charset="0"/>
                <a:ea typeface="Calibri" pitchFamily="34" charset="-122"/>
                <a:cs typeface="Calibri" pitchFamily="34" charset="-120"/>
              </a:rPr>
              <a:t> with:</a:t>
            </a:r>
            <a:endParaRPr lang="en-US" sz="750"/>
          </a:p>
          <a:p>
            <a:pPr marL="0" indent="0">
              <a:buNone/>
            </a:pPr>
            <a:r>
              <a:rPr lang="en-US" sz="750">
                <a:solidFill>
                  <a:srgbClr val="4A5568"/>
                </a:solidFill>
                <a:latin typeface="Calibri" pitchFamily="34" charset="0"/>
                <a:ea typeface="Calibri" pitchFamily="34" charset="-122"/>
                <a:cs typeface="Calibri" pitchFamily="34" charset="-120"/>
              </a:rPr>
              <a:t>• Time to success</a:t>
            </a:r>
          </a:p>
        </p:txBody>
      </p:sp>
      <p:sp>
        <p:nvSpPr>
          <p:cNvPr id="35" name="Text 32">
            <a:extLst>
              <a:ext uri="{FF2B5EF4-FFF2-40B4-BE49-F238E27FC236}">
                <a16:creationId xmlns:a16="http://schemas.microsoft.com/office/drawing/2014/main" id="{6156B79F-37AD-4C1F-4637-E9ADF0C8A5C3}"/>
              </a:ext>
            </a:extLst>
          </p:cNvPr>
          <p:cNvSpPr/>
          <p:nvPr/>
        </p:nvSpPr>
        <p:spPr>
          <a:xfrm>
            <a:off x="457200" y="4709160"/>
            <a:ext cx="8229600" cy="274320"/>
          </a:xfrm>
          <a:prstGeom prst="rect">
            <a:avLst/>
          </a:prstGeom>
          <a:noFill/>
          <a:ln/>
        </p:spPr>
        <p:txBody>
          <a:bodyPr wrap="square" lIns="0" tIns="0" rIns="0" bIns="0" rtlCol="0" anchor="ctr"/>
          <a:lstStyle/>
          <a:p>
            <a:pPr marL="0" indent="0">
              <a:buNone/>
            </a:pPr>
            <a:r>
              <a:rPr lang="en-US" sz="900" i="1">
                <a:solidFill>
                  <a:srgbClr val="8899AA"/>
                </a:solidFill>
                <a:latin typeface="Calibri" pitchFamily="34" charset="0"/>
                <a:ea typeface="Calibri" pitchFamily="34" charset="-122"/>
                <a:cs typeface="Calibri" pitchFamily="34" charset="-120"/>
              </a:rPr>
              <a:t>Corrected from original flowchart: Statistical Analysis and Visualization Generation happen in parallel after simulation completes, not sequentially.</a:t>
            </a:r>
            <a:endParaRPr lang="en-US" sz="900"/>
          </a:p>
        </p:txBody>
      </p:sp>
      <p:pic>
        <p:nvPicPr>
          <p:cNvPr id="37" name="Image 0" descr="/home/claude/savings_screenshot.png">
            <a:extLst>
              <a:ext uri="{FF2B5EF4-FFF2-40B4-BE49-F238E27FC236}">
                <a16:creationId xmlns:a16="http://schemas.microsoft.com/office/drawing/2014/main" id="{D999044C-E18A-F61D-FE4D-B89F878CE658}"/>
              </a:ext>
            </a:extLst>
          </p:cNvPr>
          <p:cNvPicPr>
            <a:picLocks noChangeAspect="1"/>
          </p:cNvPicPr>
          <p:nvPr/>
        </p:nvPicPr>
        <p:blipFill>
          <a:blip r:embed="rId3"/>
          <a:srcRect/>
          <a:stretch/>
        </p:blipFill>
        <p:spPr>
          <a:xfrm>
            <a:off x="6720839" y="2141544"/>
            <a:ext cx="2088324" cy="510216"/>
          </a:xfrm>
          <a:prstGeom prst="rect">
            <a:avLst/>
          </a:prstGeom>
        </p:spPr>
      </p:pic>
    </p:spTree>
    <p:extLst>
      <p:ext uri="{BB962C8B-B14F-4D97-AF65-F5344CB8AC3E}">
        <p14:creationId xmlns:p14="http://schemas.microsoft.com/office/powerpoint/2010/main" val="4074102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treamlit-app-2026-03-12-08-21-48">
            <a:hlinkClick r:id="" action="ppaction://media"/>
            <a:extLst>
              <a:ext uri="{FF2B5EF4-FFF2-40B4-BE49-F238E27FC236}">
                <a16:creationId xmlns:a16="http://schemas.microsoft.com/office/drawing/2014/main" id="{96CAFC6E-4006-AF61-33EA-B2FC31D30DC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 y="-1"/>
            <a:ext cx="9152787" cy="4919623"/>
          </a:xfrm>
          <a:prstGeom prst="rect">
            <a:avLst/>
          </a:prstGeom>
        </p:spPr>
      </p:pic>
    </p:spTree>
    <p:extLst>
      <p:ext uri="{BB962C8B-B14F-4D97-AF65-F5344CB8AC3E}">
        <p14:creationId xmlns:p14="http://schemas.microsoft.com/office/powerpoint/2010/main" val="18003037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53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F5F5F0"/>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rtlCol="0" anchor="ctr"/>
          <a:lstStyle/>
          <a:p>
            <a:pPr marL="0" indent="0">
              <a:buNone/>
            </a:pPr>
            <a:r>
              <a:rPr lang="en-US" sz="3200" b="1">
                <a:solidFill>
                  <a:srgbClr val="1B2A4A"/>
                </a:solidFill>
                <a:latin typeface="Georgia" pitchFamily="34" charset="0"/>
                <a:ea typeface="Georgia" pitchFamily="34" charset="-122"/>
                <a:cs typeface="Georgia" pitchFamily="34" charset="-120"/>
              </a:rPr>
              <a:t>SAVINGS RATE SOLVER</a:t>
            </a:r>
            <a:endParaRPr lang="en-US" sz="3200"/>
          </a:p>
        </p:txBody>
      </p:sp>
      <p:sp>
        <p:nvSpPr>
          <p:cNvPr id="3" name="Text 1"/>
          <p:cNvSpPr/>
          <p:nvPr/>
        </p:nvSpPr>
        <p:spPr>
          <a:xfrm>
            <a:off x="548640" y="822960"/>
            <a:ext cx="8046720" cy="365760"/>
          </a:xfrm>
          <a:prstGeom prst="rect">
            <a:avLst/>
          </a:prstGeom>
          <a:noFill/>
          <a:ln/>
        </p:spPr>
        <p:txBody>
          <a:bodyPr wrap="square" rtlCol="0" anchor="ctr"/>
          <a:lstStyle/>
          <a:p>
            <a:pPr marL="0" indent="0">
              <a:buNone/>
            </a:pPr>
            <a:r>
              <a:rPr lang="en-US" sz="1400" i="1">
                <a:solidFill>
                  <a:srgbClr val="636E72"/>
                </a:solidFill>
                <a:latin typeface="Calibri" pitchFamily="34" charset="0"/>
                <a:ea typeface="Calibri" pitchFamily="34" charset="-122"/>
                <a:cs typeface="Calibri" pitchFamily="34" charset="-120"/>
              </a:rPr>
              <a:t>Given a retirement goal, figure out the single number you plug into </a:t>
            </a:r>
            <a:r>
              <a:rPr lang="en-US" sz="1400" i="1" err="1">
                <a:solidFill>
                  <a:srgbClr val="636E72"/>
                </a:solidFill>
                <a:latin typeface="Calibri" pitchFamily="34" charset="0"/>
                <a:ea typeface="Calibri" pitchFamily="34" charset="-122"/>
                <a:cs typeface="Calibri" pitchFamily="34" charset="-120"/>
              </a:rPr>
              <a:t>MyPay</a:t>
            </a:r>
            <a:r>
              <a:rPr lang="en-US" sz="1400" i="1">
                <a:solidFill>
                  <a:srgbClr val="636E72"/>
                </a:solidFill>
                <a:latin typeface="Calibri" pitchFamily="34" charset="0"/>
                <a:ea typeface="Calibri" pitchFamily="34" charset="-122"/>
                <a:cs typeface="Calibri" pitchFamily="34" charset="-120"/>
              </a:rPr>
              <a:t> to get there.</a:t>
            </a:r>
            <a:endParaRPr lang="en-US" sz="1400"/>
          </a:p>
        </p:txBody>
      </p:sp>
      <p:sp>
        <p:nvSpPr>
          <p:cNvPr id="4" name="Shape 2"/>
          <p:cNvSpPr/>
          <p:nvPr/>
        </p:nvSpPr>
        <p:spPr>
          <a:xfrm>
            <a:off x="365760" y="1280160"/>
            <a:ext cx="8412480" cy="2148840"/>
          </a:xfrm>
          <a:prstGeom prst="rect">
            <a:avLst/>
          </a:prstGeom>
          <a:solidFill>
            <a:srgbClr val="1A1A2E"/>
          </a:solidFill>
          <a:ln/>
          <a:effectLst>
            <a:outerShdw blurRad="50800" dist="25400" dir="8100000" algn="bl" rotWithShape="0">
              <a:srgbClr val="000000">
                <a:alpha val="12000"/>
              </a:srgbClr>
            </a:outerShdw>
          </a:effectLst>
        </p:spPr>
        <p:txBody>
          <a:bodyPr/>
          <a:lstStyle/>
          <a:p>
            <a:endParaRPr lang="en-US"/>
          </a:p>
        </p:txBody>
      </p:sp>
      <p:pic>
        <p:nvPicPr>
          <p:cNvPr id="5" name="Image 0" descr="/home/claude/savings_screenshot.png"/>
          <p:cNvPicPr>
            <a:picLocks noChangeAspect="1"/>
          </p:cNvPicPr>
          <p:nvPr/>
        </p:nvPicPr>
        <p:blipFill>
          <a:blip r:embed="rId3"/>
          <a:srcRect/>
          <a:stretch/>
        </p:blipFill>
        <p:spPr>
          <a:xfrm>
            <a:off x="548640" y="1371600"/>
            <a:ext cx="8046720" cy="1965960"/>
          </a:xfrm>
          <a:prstGeom prst="rect">
            <a:avLst/>
          </a:prstGeom>
        </p:spPr>
      </p:pic>
      <p:sp>
        <p:nvSpPr>
          <p:cNvPr id="6" name="Shape 3"/>
          <p:cNvSpPr/>
          <p:nvPr/>
        </p:nvSpPr>
        <p:spPr>
          <a:xfrm>
            <a:off x="457200" y="3566160"/>
            <a:ext cx="3931920" cy="8686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7" name="Shape 4"/>
          <p:cNvSpPr/>
          <p:nvPr/>
        </p:nvSpPr>
        <p:spPr>
          <a:xfrm>
            <a:off x="457200" y="3566160"/>
            <a:ext cx="64008" cy="868680"/>
          </a:xfrm>
          <a:prstGeom prst="rect">
            <a:avLst/>
          </a:prstGeom>
          <a:solidFill>
            <a:srgbClr val="C5A55A"/>
          </a:solidFill>
          <a:ln/>
        </p:spPr>
        <p:txBody>
          <a:bodyPr/>
          <a:lstStyle/>
          <a:p>
            <a:endParaRPr lang="en-US"/>
          </a:p>
        </p:txBody>
      </p:sp>
      <p:sp>
        <p:nvSpPr>
          <p:cNvPr id="8" name="Text 5"/>
          <p:cNvSpPr/>
          <p:nvPr/>
        </p:nvSpPr>
        <p:spPr>
          <a:xfrm>
            <a:off x="658368" y="3611880"/>
            <a:ext cx="3566160" cy="777240"/>
          </a:xfrm>
          <a:prstGeom prst="rect">
            <a:avLst/>
          </a:prstGeom>
          <a:noFill/>
          <a:ln/>
        </p:spPr>
        <p:txBody>
          <a:bodyPr wrap="square" rtlCol="0" anchor="t"/>
          <a:lstStyle/>
          <a:p>
            <a:pPr marL="0" indent="0">
              <a:buNone/>
            </a:pPr>
            <a:r>
              <a:rPr lang="en-US" sz="1100" b="1">
                <a:solidFill>
                  <a:srgbClr val="1B2A4A"/>
                </a:solidFill>
                <a:latin typeface="Calibri" pitchFamily="34" charset="0"/>
                <a:ea typeface="Calibri" pitchFamily="34" charset="-122"/>
                <a:cs typeface="Calibri" pitchFamily="34" charset="-120"/>
              </a:rPr>
              <a:t>How it works:</a:t>
            </a:r>
            <a:endParaRPr lang="en-US" sz="1100"/>
          </a:p>
          <a:p>
            <a:pPr marL="0" indent="0">
              <a:buNone/>
            </a:pPr>
            <a:r>
              <a:rPr lang="en-US" sz="1050">
                <a:solidFill>
                  <a:srgbClr val="2D3436"/>
                </a:solidFill>
                <a:latin typeface="Calibri" pitchFamily="34" charset="0"/>
                <a:ea typeface="Calibri" pitchFamily="34" charset="-122"/>
                <a:cs typeface="Calibri" pitchFamily="34" charset="-120"/>
              </a:rPr>
              <a:t>Binary search/Bi-Section Method (60 times) over 0–100% savings rate. Uses month-by-month allocation identical to Monte Carlo — always calibrated.</a:t>
            </a:r>
            <a:endParaRPr lang="en-US" sz="1100"/>
          </a:p>
        </p:txBody>
      </p:sp>
      <p:sp>
        <p:nvSpPr>
          <p:cNvPr id="9" name="Shape 6"/>
          <p:cNvSpPr/>
          <p:nvPr/>
        </p:nvSpPr>
        <p:spPr>
          <a:xfrm>
            <a:off x="4754880" y="3566160"/>
            <a:ext cx="3931920" cy="8686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0" name="Shape 7"/>
          <p:cNvSpPr/>
          <p:nvPr/>
        </p:nvSpPr>
        <p:spPr>
          <a:xfrm>
            <a:off x="4754880" y="3566160"/>
            <a:ext cx="64008" cy="868680"/>
          </a:xfrm>
          <a:prstGeom prst="rect">
            <a:avLst/>
          </a:prstGeom>
          <a:solidFill>
            <a:srgbClr val="C5A55A"/>
          </a:solidFill>
          <a:ln/>
        </p:spPr>
        <p:txBody>
          <a:bodyPr/>
          <a:lstStyle/>
          <a:p>
            <a:endParaRPr lang="en-US"/>
          </a:p>
        </p:txBody>
      </p:sp>
      <p:sp>
        <p:nvSpPr>
          <p:cNvPr id="11" name="Text 8"/>
          <p:cNvSpPr/>
          <p:nvPr/>
        </p:nvSpPr>
        <p:spPr>
          <a:xfrm>
            <a:off x="4956048" y="3611880"/>
            <a:ext cx="3566160" cy="777240"/>
          </a:xfrm>
          <a:prstGeom prst="rect">
            <a:avLst/>
          </a:prstGeom>
          <a:noFill/>
          <a:ln/>
        </p:spPr>
        <p:txBody>
          <a:bodyPr wrap="square" rtlCol="0" anchor="t"/>
          <a:lstStyle/>
          <a:p>
            <a:pPr marL="0" indent="0">
              <a:buNone/>
            </a:pPr>
            <a:r>
              <a:rPr lang="en-US" sz="1100" b="1">
                <a:solidFill>
                  <a:srgbClr val="1B2A4A"/>
                </a:solidFill>
                <a:latin typeface="Calibri" pitchFamily="34" charset="0"/>
                <a:ea typeface="Calibri" pitchFamily="34" charset="-122"/>
                <a:cs typeface="Calibri" pitchFamily="34" charset="-120"/>
              </a:rPr>
              <a:t>Why it matters:</a:t>
            </a:r>
            <a:endParaRPr lang="en-US" sz="1100"/>
          </a:p>
          <a:p>
            <a:pPr marL="0" indent="0">
              <a:buNone/>
            </a:pPr>
            <a:r>
              <a:rPr lang="en-US" sz="1050">
                <a:solidFill>
                  <a:srgbClr val="2D3436"/>
                </a:solidFill>
                <a:latin typeface="Calibri" pitchFamily="34" charset="0"/>
                <a:ea typeface="Calibri" pitchFamily="34" charset="-122"/>
                <a:cs typeface="Calibri" pitchFamily="34" charset="-120"/>
              </a:rPr>
              <a:t>One actionable % to plug into </a:t>
            </a:r>
            <a:r>
              <a:rPr lang="en-US" sz="1050" err="1">
                <a:solidFill>
                  <a:srgbClr val="2D3436"/>
                </a:solidFill>
                <a:latin typeface="Calibri" pitchFamily="34" charset="0"/>
                <a:ea typeface="Calibri" pitchFamily="34" charset="-122"/>
                <a:cs typeface="Calibri" pitchFamily="34" charset="-120"/>
              </a:rPr>
              <a:t>MyPay</a:t>
            </a:r>
            <a:r>
              <a:rPr lang="en-US" sz="1050">
                <a:solidFill>
                  <a:srgbClr val="2D3436"/>
                </a:solidFill>
                <a:latin typeface="Calibri" pitchFamily="34" charset="0"/>
                <a:ea typeface="Calibri" pitchFamily="34" charset="-122"/>
                <a:cs typeface="Calibri" pitchFamily="34" charset="-120"/>
              </a:rPr>
              <a:t> and post-military to meet retirement goal.</a:t>
            </a:r>
            <a:endParaRPr lang="en-US" sz="1100"/>
          </a:p>
        </p:txBody>
      </p:sp>
      <p:sp>
        <p:nvSpPr>
          <p:cNvPr id="12" name="Text 9"/>
          <p:cNvSpPr/>
          <p:nvPr/>
        </p:nvSpPr>
        <p:spPr>
          <a:xfrm>
            <a:off x="457200" y="4709160"/>
            <a:ext cx="6400800" cy="320040"/>
          </a:xfrm>
          <a:prstGeom prst="rect">
            <a:avLst/>
          </a:prstGeom>
          <a:noFill/>
          <a:ln/>
        </p:spPr>
        <p:txBody>
          <a:bodyPr wrap="square" rtlCol="0" anchor="ctr"/>
          <a:lstStyle/>
          <a:p>
            <a:pPr marL="0" indent="0">
              <a:buNone/>
            </a:pPr>
            <a:r>
              <a:rPr lang="en-US" sz="900">
                <a:solidFill>
                  <a:srgbClr val="636E72"/>
                </a:solidFill>
                <a:latin typeface="Calibri" pitchFamily="34" charset="0"/>
                <a:ea typeface="Calibri" pitchFamily="34" charset="-122"/>
                <a:cs typeface="Calibri" pitchFamily="34" charset="-120"/>
              </a:rPr>
              <a:t>F.I.R.E. for Effect  |  OA3801</a:t>
            </a:r>
            <a:endParaRPr lang="en-US" sz="900"/>
          </a:p>
        </p:txBody>
      </p:sp>
      <p:sp>
        <p:nvSpPr>
          <p:cNvPr id="13" name="Text 10"/>
          <p:cNvSpPr/>
          <p:nvPr/>
        </p:nvSpPr>
        <p:spPr>
          <a:xfrm>
            <a:off x="8229600" y="4709160"/>
            <a:ext cx="640080" cy="320040"/>
          </a:xfrm>
          <a:prstGeom prst="rect">
            <a:avLst/>
          </a:prstGeom>
          <a:noFill/>
          <a:ln/>
        </p:spPr>
        <p:txBody>
          <a:bodyPr wrap="square" rtlCol="0" anchor="ctr"/>
          <a:lstStyle/>
          <a:p>
            <a:pPr marL="0" indent="0" algn="r">
              <a:buNone/>
            </a:pPr>
            <a:r>
              <a:rPr lang="en-US" sz="900">
                <a:solidFill>
                  <a:srgbClr val="636E72"/>
                </a:solidFill>
                <a:latin typeface="Calibri" pitchFamily="34" charset="0"/>
                <a:ea typeface="Calibri" pitchFamily="34" charset="-122"/>
                <a:cs typeface="Calibri" pitchFamily="34" charset="-120"/>
              </a:rPr>
              <a:t>6</a:t>
            </a:r>
            <a:endParaRPr lang="en-US" sz="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lIns="0" tIns="0" rIns="0" bIns="0" rtlCol="0" anchor="ctr"/>
          <a:lstStyle/>
          <a:p>
            <a:pPr marL="0" indent="0">
              <a:buNone/>
            </a:pPr>
            <a:r>
              <a:rPr lang="en-US" sz="3000" b="1">
                <a:solidFill>
                  <a:srgbClr val="1E2A3A"/>
                </a:solidFill>
                <a:latin typeface="Georgia" pitchFamily="34" charset="0"/>
                <a:ea typeface="Georgia" pitchFamily="34" charset="-122"/>
                <a:cs typeface="Georgia" pitchFamily="34" charset="-120"/>
              </a:rPr>
              <a:t>DATA FLOW: INPUTS TO OUTPUT</a:t>
            </a:r>
            <a:endParaRPr lang="en-US" sz="3000"/>
          </a:p>
        </p:txBody>
      </p:sp>
      <p:sp>
        <p:nvSpPr>
          <p:cNvPr id="3" name="Text 1"/>
          <p:cNvSpPr/>
          <p:nvPr/>
        </p:nvSpPr>
        <p:spPr>
          <a:xfrm>
            <a:off x="457200" y="685800"/>
            <a:ext cx="8229600" cy="274320"/>
          </a:xfrm>
          <a:prstGeom prst="rect">
            <a:avLst/>
          </a:prstGeom>
          <a:noFill/>
          <a:ln/>
        </p:spPr>
        <p:txBody>
          <a:bodyPr wrap="square" lIns="0" tIns="0" rIns="0" bIns="0" rtlCol="0" anchor="ctr"/>
          <a:lstStyle/>
          <a:p>
            <a:pPr marL="0" indent="0">
              <a:buNone/>
            </a:pPr>
            <a:r>
              <a:rPr lang="en-US" sz="1200" i="1">
                <a:solidFill>
                  <a:srgbClr val="4A5568"/>
                </a:solidFill>
                <a:latin typeface="Calibri" pitchFamily="34" charset="0"/>
                <a:ea typeface="Calibri" pitchFamily="34" charset="-122"/>
                <a:cs typeface="Calibri" pitchFamily="34" charset="-120"/>
              </a:rPr>
              <a:t>How user inputs become a personalized Monte Carlo visualization</a:t>
            </a:r>
            <a:endParaRPr lang="en-US" sz="1200"/>
          </a:p>
        </p:txBody>
      </p:sp>
      <p:sp>
        <p:nvSpPr>
          <p:cNvPr id="4" name="Shape 2"/>
          <p:cNvSpPr/>
          <p:nvPr/>
        </p:nvSpPr>
        <p:spPr>
          <a:xfrm>
            <a:off x="320040" y="1143000"/>
            <a:ext cx="2194560" cy="411480"/>
          </a:xfrm>
          <a:prstGeom prst="rect">
            <a:avLst/>
          </a:prstGeom>
          <a:solidFill>
            <a:srgbClr val="1E2A3A"/>
          </a:solidFill>
          <a:ln/>
          <a:effectLst>
            <a:outerShdw blurRad="76200" dist="25400" dir="8100000" algn="bl" rotWithShape="0">
              <a:srgbClr val="000000">
                <a:alpha val="12000"/>
              </a:srgbClr>
            </a:outerShdw>
          </a:effectLst>
        </p:spPr>
        <p:txBody>
          <a:bodyPr/>
          <a:lstStyle/>
          <a:p>
            <a:endParaRPr lang="en-US"/>
          </a:p>
        </p:txBody>
      </p:sp>
      <p:sp>
        <p:nvSpPr>
          <p:cNvPr id="5" name="Text 3"/>
          <p:cNvSpPr/>
          <p:nvPr/>
        </p:nvSpPr>
        <p:spPr>
          <a:xfrm>
            <a:off x="320040" y="1143000"/>
            <a:ext cx="2194560" cy="41148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1. DATA INPUTS</a:t>
            </a:r>
            <a:endParaRPr lang="en-US" sz="1100"/>
          </a:p>
        </p:txBody>
      </p:sp>
      <p:sp>
        <p:nvSpPr>
          <p:cNvPr id="6" name="Shape 4"/>
          <p:cNvSpPr/>
          <p:nvPr/>
        </p:nvSpPr>
        <p:spPr>
          <a:xfrm>
            <a:off x="320040" y="1691640"/>
            <a:ext cx="2194560" cy="7772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US"/>
          </a:p>
        </p:txBody>
      </p:sp>
      <p:sp>
        <p:nvSpPr>
          <p:cNvPr id="7" name="Text 5"/>
          <p:cNvSpPr/>
          <p:nvPr/>
        </p:nvSpPr>
        <p:spPr>
          <a:xfrm>
            <a:off x="411480" y="1737360"/>
            <a:ext cx="2011680" cy="228600"/>
          </a:xfrm>
          <a:prstGeom prst="rect">
            <a:avLst/>
          </a:prstGeom>
          <a:noFill/>
          <a:ln/>
        </p:spPr>
        <p:txBody>
          <a:bodyPr wrap="square" lIns="0" tIns="0" rIns="0" bIns="0" rtlCol="0" anchor="ctr"/>
          <a:lstStyle/>
          <a:p>
            <a:pPr marL="0" indent="0">
              <a:buNone/>
            </a:pPr>
            <a:r>
              <a:rPr lang="en-US" sz="950" b="1">
                <a:solidFill>
                  <a:srgbClr val="1E2A3A"/>
                </a:solidFill>
                <a:latin typeface="Calibri" pitchFamily="34" charset="0"/>
                <a:ea typeface="Calibri" pitchFamily="34" charset="-122"/>
                <a:cs typeface="Calibri" pitchFamily="34" charset="-120"/>
              </a:rPr>
              <a:t>User Inputs</a:t>
            </a:r>
            <a:endParaRPr lang="en-US" sz="950"/>
          </a:p>
        </p:txBody>
      </p:sp>
      <p:sp>
        <p:nvSpPr>
          <p:cNvPr id="8" name="Text 6"/>
          <p:cNvSpPr/>
          <p:nvPr/>
        </p:nvSpPr>
        <p:spPr>
          <a:xfrm>
            <a:off x="411480" y="1965960"/>
            <a:ext cx="2011680" cy="457200"/>
          </a:xfrm>
          <a:prstGeom prst="rect">
            <a:avLst/>
          </a:prstGeom>
          <a:noFill/>
          <a:ln/>
        </p:spPr>
        <p:txBody>
          <a:bodyPr wrap="square" lIns="0" tIns="0" rIns="0" bIns="0" rtlCol="0" anchor="ctr"/>
          <a:lstStyle/>
          <a:p>
            <a:pPr marL="0" indent="0">
              <a:buNone/>
            </a:pPr>
            <a:r>
              <a:rPr lang="en-US" sz="800">
                <a:solidFill>
                  <a:srgbClr val="4A5568"/>
                </a:solidFill>
                <a:latin typeface="Calibri" pitchFamily="34" charset="0"/>
                <a:ea typeface="Calibri" pitchFamily="34" charset="-122"/>
                <a:cs typeface="Calibri" pitchFamily="34" charset="-120"/>
              </a:rPr>
              <a:t>Current Age, Retire Age, Current TSP,</a:t>
            </a:r>
            <a:endParaRPr lang="en-US" sz="800"/>
          </a:p>
          <a:p>
            <a:pPr marL="0" indent="0">
              <a:buNone/>
            </a:pPr>
            <a:r>
              <a:rPr lang="en-US" sz="800">
                <a:solidFill>
                  <a:srgbClr val="4A5568"/>
                </a:solidFill>
                <a:latin typeface="Calibri" pitchFamily="34" charset="0"/>
                <a:ea typeface="Calibri" pitchFamily="34" charset="-122"/>
                <a:cs typeface="Calibri" pitchFamily="34" charset="-120"/>
              </a:rPr>
              <a:t>Fund Allocation, Inflation Rate</a:t>
            </a:r>
            <a:endParaRPr lang="en-US" sz="800"/>
          </a:p>
        </p:txBody>
      </p:sp>
      <p:sp>
        <p:nvSpPr>
          <p:cNvPr id="9" name="Shape 7"/>
          <p:cNvSpPr/>
          <p:nvPr/>
        </p:nvSpPr>
        <p:spPr>
          <a:xfrm>
            <a:off x="320040" y="2560320"/>
            <a:ext cx="2194560" cy="7772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US"/>
          </a:p>
        </p:txBody>
      </p:sp>
      <p:sp>
        <p:nvSpPr>
          <p:cNvPr id="10" name="Text 8"/>
          <p:cNvSpPr/>
          <p:nvPr/>
        </p:nvSpPr>
        <p:spPr>
          <a:xfrm>
            <a:off x="411480" y="2606040"/>
            <a:ext cx="2011680" cy="228600"/>
          </a:xfrm>
          <a:prstGeom prst="rect">
            <a:avLst/>
          </a:prstGeom>
          <a:noFill/>
          <a:ln/>
        </p:spPr>
        <p:txBody>
          <a:bodyPr wrap="square" lIns="0" tIns="0" rIns="0" bIns="0" rtlCol="0" anchor="ctr"/>
          <a:lstStyle/>
          <a:p>
            <a:pPr marL="0" indent="0">
              <a:buNone/>
            </a:pPr>
            <a:r>
              <a:rPr lang="en-US" sz="950" b="1">
                <a:solidFill>
                  <a:srgbClr val="1E2A3A"/>
                </a:solidFill>
                <a:latin typeface="Calibri" pitchFamily="34" charset="0"/>
                <a:ea typeface="Calibri" pitchFamily="34" charset="-122"/>
                <a:cs typeface="Calibri" pitchFamily="34" charset="-120"/>
              </a:rPr>
              <a:t>External Data</a:t>
            </a:r>
            <a:endParaRPr lang="en-US" sz="950"/>
          </a:p>
        </p:txBody>
      </p:sp>
      <p:sp>
        <p:nvSpPr>
          <p:cNvPr id="11" name="Text 9"/>
          <p:cNvSpPr/>
          <p:nvPr/>
        </p:nvSpPr>
        <p:spPr>
          <a:xfrm>
            <a:off x="411480" y="2834640"/>
            <a:ext cx="2011680" cy="457200"/>
          </a:xfrm>
          <a:prstGeom prst="rect">
            <a:avLst/>
          </a:prstGeom>
          <a:noFill/>
          <a:ln/>
        </p:spPr>
        <p:txBody>
          <a:bodyPr wrap="square" lIns="0" tIns="0" rIns="0" bIns="0" rtlCol="0" anchor="ctr"/>
          <a:lstStyle/>
          <a:p>
            <a:pPr marL="0" indent="0">
              <a:buNone/>
            </a:pPr>
            <a:r>
              <a:rPr lang="en-US" sz="800">
                <a:solidFill>
                  <a:srgbClr val="4A5568"/>
                </a:solidFill>
                <a:latin typeface="Calibri" pitchFamily="34" charset="0"/>
                <a:ea typeface="Calibri" pitchFamily="34" charset="-122"/>
                <a:cs typeface="Calibri" pitchFamily="34" charset="-120"/>
              </a:rPr>
              <a:t>TSP Fund Statistics (tspfolio.com)</a:t>
            </a:r>
            <a:endParaRPr lang="en-US" sz="800"/>
          </a:p>
          <a:p>
            <a:pPr marL="0" indent="0">
              <a:buNone/>
            </a:pPr>
            <a:r>
              <a:rPr lang="en-US" sz="800">
                <a:solidFill>
                  <a:srgbClr val="4A5568"/>
                </a:solidFill>
                <a:latin typeface="Calibri" pitchFamily="34" charset="0"/>
                <a:ea typeface="Calibri" pitchFamily="34" charset="-122"/>
                <a:cs typeface="Calibri" pitchFamily="34" charset="-120"/>
              </a:rPr>
              <a:t>Military Pay &amp; Promotion Data (JSON)</a:t>
            </a:r>
            <a:endParaRPr lang="en-US" sz="800"/>
          </a:p>
        </p:txBody>
      </p:sp>
      <p:sp>
        <p:nvSpPr>
          <p:cNvPr id="12" name="Shape 10"/>
          <p:cNvSpPr/>
          <p:nvPr/>
        </p:nvSpPr>
        <p:spPr>
          <a:xfrm>
            <a:off x="320040" y="3429000"/>
            <a:ext cx="2194560" cy="77724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US"/>
          </a:p>
        </p:txBody>
      </p:sp>
      <p:sp>
        <p:nvSpPr>
          <p:cNvPr id="13" name="Text 11"/>
          <p:cNvSpPr/>
          <p:nvPr/>
        </p:nvSpPr>
        <p:spPr>
          <a:xfrm>
            <a:off x="411480" y="3474720"/>
            <a:ext cx="2011680" cy="228600"/>
          </a:xfrm>
          <a:prstGeom prst="rect">
            <a:avLst/>
          </a:prstGeom>
          <a:noFill/>
          <a:ln/>
        </p:spPr>
        <p:txBody>
          <a:bodyPr wrap="square" lIns="0" tIns="0" rIns="0" bIns="0" rtlCol="0" anchor="ctr"/>
          <a:lstStyle/>
          <a:p>
            <a:pPr marL="0" indent="0">
              <a:buNone/>
            </a:pPr>
            <a:r>
              <a:rPr lang="en-US" sz="950" b="1">
                <a:solidFill>
                  <a:srgbClr val="1E2A3A"/>
                </a:solidFill>
                <a:latin typeface="Calibri" pitchFamily="34" charset="0"/>
                <a:ea typeface="Calibri" pitchFamily="34" charset="-122"/>
                <a:cs typeface="Calibri" pitchFamily="34" charset="-120"/>
              </a:rPr>
              <a:t>Solver Output</a:t>
            </a:r>
            <a:endParaRPr lang="en-US" sz="950"/>
          </a:p>
        </p:txBody>
      </p:sp>
      <p:sp>
        <p:nvSpPr>
          <p:cNvPr id="14" name="Text 12"/>
          <p:cNvSpPr/>
          <p:nvPr/>
        </p:nvSpPr>
        <p:spPr>
          <a:xfrm>
            <a:off x="411480" y="3703320"/>
            <a:ext cx="2011680" cy="457200"/>
          </a:xfrm>
          <a:prstGeom prst="rect">
            <a:avLst/>
          </a:prstGeom>
          <a:noFill/>
          <a:ln/>
        </p:spPr>
        <p:txBody>
          <a:bodyPr wrap="square" lIns="0" tIns="0" rIns="0" bIns="0" rtlCol="0" anchor="ctr"/>
          <a:lstStyle/>
          <a:p>
            <a:pPr marL="0" indent="0">
              <a:buNone/>
            </a:pPr>
            <a:r>
              <a:rPr lang="en-US" sz="800">
                <a:solidFill>
                  <a:srgbClr val="4A5568"/>
                </a:solidFill>
                <a:latin typeface="Calibri" pitchFamily="34" charset="0"/>
                <a:ea typeface="Calibri" pitchFamily="34" charset="-122"/>
                <a:cs typeface="Calibri" pitchFamily="34" charset="-120"/>
              </a:rPr>
              <a:t>Savings Rate %, Contribution</a:t>
            </a:r>
            <a:endParaRPr lang="en-US" sz="800"/>
          </a:p>
          <a:p>
            <a:pPr marL="0" indent="0">
              <a:buNone/>
            </a:pPr>
            <a:r>
              <a:rPr lang="en-US" sz="800">
                <a:solidFill>
                  <a:srgbClr val="4A5568"/>
                </a:solidFill>
                <a:latin typeface="Calibri" pitchFamily="34" charset="0"/>
                <a:ea typeface="Calibri" pitchFamily="34" charset="-122"/>
                <a:cs typeface="Calibri" pitchFamily="34" charset="-120"/>
              </a:rPr>
              <a:t>Schedule (monthly $ amounts)</a:t>
            </a:r>
            <a:endParaRPr lang="en-US" sz="800"/>
          </a:p>
        </p:txBody>
      </p:sp>
      <p:sp>
        <p:nvSpPr>
          <p:cNvPr id="15" name="Shape 13"/>
          <p:cNvSpPr/>
          <p:nvPr/>
        </p:nvSpPr>
        <p:spPr>
          <a:xfrm>
            <a:off x="2606040" y="2560320"/>
            <a:ext cx="365760" cy="0"/>
          </a:xfrm>
          <a:prstGeom prst="line">
            <a:avLst/>
          </a:prstGeom>
          <a:noFill/>
          <a:ln w="25400">
            <a:solidFill>
              <a:srgbClr val="F0A500"/>
            </a:solidFill>
            <a:prstDash val="solid"/>
          </a:ln>
        </p:spPr>
        <p:txBody>
          <a:bodyPr/>
          <a:lstStyle/>
          <a:p>
            <a:endParaRPr lang="en-US"/>
          </a:p>
        </p:txBody>
      </p:sp>
      <p:sp>
        <p:nvSpPr>
          <p:cNvPr id="16" name="Shape 14"/>
          <p:cNvSpPr/>
          <p:nvPr/>
        </p:nvSpPr>
        <p:spPr>
          <a:xfrm>
            <a:off x="3063240" y="1143000"/>
            <a:ext cx="3017520" cy="411480"/>
          </a:xfrm>
          <a:prstGeom prst="rect">
            <a:avLst/>
          </a:prstGeom>
          <a:solidFill>
            <a:srgbClr val="1E2A3A"/>
          </a:solidFill>
          <a:ln/>
          <a:effectLst>
            <a:outerShdw blurRad="76200" dist="25400" dir="8100000" algn="bl" rotWithShape="0">
              <a:srgbClr val="000000">
                <a:alpha val="12000"/>
              </a:srgbClr>
            </a:outerShdw>
          </a:effectLst>
        </p:spPr>
        <p:txBody>
          <a:bodyPr/>
          <a:lstStyle/>
          <a:p>
            <a:endParaRPr lang="en-US"/>
          </a:p>
        </p:txBody>
      </p:sp>
      <p:sp>
        <p:nvSpPr>
          <p:cNvPr id="17" name="Text 15"/>
          <p:cNvSpPr/>
          <p:nvPr/>
        </p:nvSpPr>
        <p:spPr>
          <a:xfrm>
            <a:off x="3063240" y="1143000"/>
            <a:ext cx="3017520" cy="41148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2. PROCESSING &amp; SIMULATION</a:t>
            </a:r>
            <a:endParaRPr lang="en-US" sz="1100"/>
          </a:p>
        </p:txBody>
      </p:sp>
      <p:sp>
        <p:nvSpPr>
          <p:cNvPr id="18" name="Shape 16"/>
          <p:cNvSpPr/>
          <p:nvPr/>
        </p:nvSpPr>
        <p:spPr>
          <a:xfrm>
            <a:off x="3063240" y="1691640"/>
            <a:ext cx="3017520" cy="1005840"/>
          </a:xfrm>
          <a:prstGeom prst="rect">
            <a:avLst/>
          </a:prstGeom>
          <a:solidFill>
            <a:srgbClr val="FFFFFF"/>
          </a:solidFill>
          <a:ln w="19050">
            <a:solidFill>
              <a:srgbClr val="00B4D8"/>
            </a:solidFill>
            <a:prstDash val="solid"/>
          </a:ln>
          <a:effectLst>
            <a:outerShdw blurRad="101600" dist="38100" dir="8100000" algn="bl" rotWithShape="0">
              <a:srgbClr val="000000">
                <a:alpha val="15000"/>
              </a:srgbClr>
            </a:outerShdw>
          </a:effectLst>
        </p:spPr>
        <p:txBody>
          <a:bodyPr/>
          <a:lstStyle/>
          <a:p>
            <a:endParaRPr lang="en-US"/>
          </a:p>
        </p:txBody>
      </p:sp>
      <p:sp>
        <p:nvSpPr>
          <p:cNvPr id="19" name="Text 17"/>
          <p:cNvSpPr/>
          <p:nvPr/>
        </p:nvSpPr>
        <p:spPr>
          <a:xfrm>
            <a:off x="3154680" y="1737360"/>
            <a:ext cx="2834640" cy="274320"/>
          </a:xfrm>
          <a:prstGeom prst="rect">
            <a:avLst/>
          </a:prstGeom>
          <a:noFill/>
          <a:ln/>
        </p:spPr>
        <p:txBody>
          <a:bodyPr wrap="square" lIns="0" tIns="0" rIns="0" bIns="0" rtlCol="0" anchor="ctr"/>
          <a:lstStyle/>
          <a:p>
            <a:pPr marL="0" indent="0">
              <a:buNone/>
            </a:pPr>
            <a:r>
              <a:rPr lang="en-US" sz="1000" b="1">
                <a:solidFill>
                  <a:srgbClr val="00B4D8"/>
                </a:solidFill>
                <a:latin typeface="Calibri" pitchFamily="34" charset="0"/>
                <a:ea typeface="Calibri" pitchFamily="34" charset="-122"/>
                <a:cs typeface="Calibri" pitchFamily="34" charset="-120"/>
              </a:rPr>
              <a:t>Monte Carlo Simulation</a:t>
            </a:r>
            <a:endParaRPr lang="en-US" sz="1000"/>
          </a:p>
        </p:txBody>
      </p:sp>
      <p:sp>
        <p:nvSpPr>
          <p:cNvPr id="20" name="Text 18"/>
          <p:cNvSpPr/>
          <p:nvPr/>
        </p:nvSpPr>
        <p:spPr>
          <a:xfrm>
            <a:off x="3154680" y="2011680"/>
            <a:ext cx="2834640" cy="640080"/>
          </a:xfrm>
          <a:prstGeom prst="rect">
            <a:avLst/>
          </a:prstGeom>
          <a:noFill/>
          <a:ln/>
        </p:spPr>
        <p:txBody>
          <a:bodyPr wrap="square" lIns="0" tIns="0" rIns="0" bIns="0" rtlCol="0" anchor="ctr"/>
          <a:lstStyle/>
          <a:p>
            <a:pPr marL="0" indent="0">
              <a:buNone/>
            </a:pPr>
            <a:r>
              <a:rPr lang="en-US" sz="800">
                <a:solidFill>
                  <a:srgbClr val="4A5568"/>
                </a:solidFill>
                <a:latin typeface="Calibri" pitchFamily="34" charset="0"/>
                <a:ea typeface="Calibri" pitchFamily="34" charset="-122"/>
                <a:cs typeface="Calibri" pitchFamily="34" charset="-120"/>
              </a:rPr>
              <a:t>run_real_monte_carlo()</a:t>
            </a:r>
            <a:endParaRPr lang="en-US" sz="800"/>
          </a:p>
          <a:p>
            <a:pPr marL="0" indent="0">
              <a:buNone/>
            </a:pPr>
            <a:r>
              <a:rPr lang="en-US" sz="800">
                <a:solidFill>
                  <a:srgbClr val="4A5568"/>
                </a:solidFill>
                <a:latin typeface="Calibri" pitchFamily="34" charset="0"/>
                <a:ea typeface="Calibri" pitchFamily="34" charset="-122"/>
                <a:cs typeface="Calibri" pitchFamily="34" charset="-120"/>
              </a:rPr>
              <a:t>Generates 1,000 path arrays of projected portfolio</a:t>
            </a:r>
            <a:endParaRPr lang="en-US" sz="800"/>
          </a:p>
          <a:p>
            <a:pPr marL="0" indent="0">
              <a:buNone/>
            </a:pPr>
            <a:r>
              <a:rPr lang="en-US" sz="800">
                <a:solidFill>
                  <a:srgbClr val="4A5568"/>
                </a:solidFill>
                <a:latin typeface="Calibri" pitchFamily="34" charset="0"/>
                <a:ea typeface="Calibri" pitchFamily="34" charset="-122"/>
                <a:cs typeface="Calibri" pitchFamily="34" charset="-120"/>
              </a:rPr>
              <a:t>balance, applying random Normal(μ,σ) returns</a:t>
            </a:r>
            <a:endParaRPr lang="en-US" sz="800"/>
          </a:p>
          <a:p>
            <a:pPr marL="0" indent="0">
              <a:buNone/>
            </a:pPr>
            <a:r>
              <a:rPr lang="en-US" sz="800">
                <a:solidFill>
                  <a:srgbClr val="4A5568"/>
                </a:solidFill>
                <a:latin typeface="Calibri" pitchFamily="34" charset="0"/>
                <a:ea typeface="Calibri" pitchFamily="34" charset="-122"/>
                <a:cs typeface="Calibri" pitchFamily="34" charset="-120"/>
              </a:rPr>
              <a:t>per fund per month + user contributions</a:t>
            </a:r>
            <a:endParaRPr lang="en-US" sz="800"/>
          </a:p>
        </p:txBody>
      </p:sp>
      <p:sp>
        <p:nvSpPr>
          <p:cNvPr id="21" name="Shape 19"/>
          <p:cNvSpPr/>
          <p:nvPr/>
        </p:nvSpPr>
        <p:spPr>
          <a:xfrm>
            <a:off x="4572000" y="2743200"/>
            <a:ext cx="0" cy="274320"/>
          </a:xfrm>
          <a:prstGeom prst="line">
            <a:avLst/>
          </a:prstGeom>
          <a:noFill/>
          <a:ln w="25400">
            <a:solidFill>
              <a:srgbClr val="F0A500"/>
            </a:solidFill>
            <a:prstDash val="solid"/>
          </a:ln>
        </p:spPr>
        <p:txBody>
          <a:bodyPr/>
          <a:lstStyle/>
          <a:p>
            <a:endParaRPr lang="en-US"/>
          </a:p>
        </p:txBody>
      </p:sp>
      <p:sp>
        <p:nvSpPr>
          <p:cNvPr id="22" name="Shape 20"/>
          <p:cNvSpPr/>
          <p:nvPr/>
        </p:nvSpPr>
        <p:spPr>
          <a:xfrm>
            <a:off x="3063240" y="3108960"/>
            <a:ext cx="1371600" cy="82296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US"/>
          </a:p>
        </p:txBody>
      </p:sp>
      <p:sp>
        <p:nvSpPr>
          <p:cNvPr id="23" name="Text 21"/>
          <p:cNvSpPr/>
          <p:nvPr/>
        </p:nvSpPr>
        <p:spPr>
          <a:xfrm>
            <a:off x="3108960" y="3127248"/>
            <a:ext cx="1280160" cy="228600"/>
          </a:xfrm>
          <a:prstGeom prst="rect">
            <a:avLst/>
          </a:prstGeom>
          <a:noFill/>
          <a:ln/>
        </p:spPr>
        <p:txBody>
          <a:bodyPr wrap="square" lIns="0" tIns="0" rIns="0" bIns="0" rtlCol="0" anchor="ctr"/>
          <a:lstStyle/>
          <a:p>
            <a:pPr marL="0" indent="0">
              <a:buNone/>
            </a:pPr>
            <a:r>
              <a:rPr lang="en-US" sz="850" b="1">
                <a:solidFill>
                  <a:srgbClr val="1E2A3A"/>
                </a:solidFill>
                <a:latin typeface="Calibri" pitchFamily="34" charset="0"/>
                <a:ea typeface="Calibri" pitchFamily="34" charset="-122"/>
                <a:cs typeface="Calibri" pitchFamily="34" charset="-120"/>
              </a:rPr>
              <a:t>Statistical Analysis</a:t>
            </a:r>
            <a:endParaRPr lang="en-US" sz="850"/>
          </a:p>
        </p:txBody>
      </p:sp>
      <p:sp>
        <p:nvSpPr>
          <p:cNvPr id="24" name="Text 22"/>
          <p:cNvSpPr/>
          <p:nvPr/>
        </p:nvSpPr>
        <p:spPr>
          <a:xfrm>
            <a:off x="3108960" y="3355848"/>
            <a:ext cx="1280160" cy="548640"/>
          </a:xfrm>
          <a:prstGeom prst="rect">
            <a:avLst/>
          </a:prstGeom>
          <a:noFill/>
          <a:ln/>
        </p:spPr>
        <p:txBody>
          <a:bodyPr wrap="square" lIns="0" tIns="0" rIns="0" bIns="0" rtlCol="0" anchor="ctr"/>
          <a:lstStyle/>
          <a:p>
            <a:pPr marL="0" indent="0">
              <a:buNone/>
            </a:pPr>
            <a:r>
              <a:rPr lang="en-US" sz="750">
                <a:solidFill>
                  <a:srgbClr val="4A5568"/>
                </a:solidFill>
                <a:latin typeface="Calibri" pitchFamily="34" charset="0"/>
                <a:ea typeface="Calibri" pitchFamily="34" charset="-122"/>
                <a:cs typeface="Calibri" pitchFamily="34" charset="-120"/>
              </a:rPr>
              <a:t>P10/P50/P90 percentiles</a:t>
            </a:r>
            <a:endParaRPr lang="en-US" sz="750"/>
          </a:p>
          <a:p>
            <a:pPr marL="0" indent="0">
              <a:buNone/>
            </a:pPr>
            <a:r>
              <a:rPr lang="en-US" sz="750">
                <a:solidFill>
                  <a:srgbClr val="4A5568"/>
                </a:solidFill>
                <a:latin typeface="Calibri" pitchFamily="34" charset="0"/>
                <a:ea typeface="Calibri" pitchFamily="34" charset="-122"/>
                <a:cs typeface="Calibri" pitchFamily="34" charset="-120"/>
              </a:rPr>
              <a:t>Success probability</a:t>
            </a:r>
            <a:endParaRPr lang="en-US" sz="750"/>
          </a:p>
          <a:p>
            <a:pPr marL="0" indent="0">
              <a:buNone/>
            </a:pPr>
            <a:r>
              <a:rPr lang="en-US" sz="750">
                <a:solidFill>
                  <a:srgbClr val="4A5568"/>
                </a:solidFill>
                <a:latin typeface="Calibri" pitchFamily="34" charset="0"/>
                <a:ea typeface="Calibri" pitchFamily="34" charset="-122"/>
                <a:cs typeface="Calibri" pitchFamily="34" charset="-120"/>
              </a:rPr>
              <a:t>(% trials ≥ target)</a:t>
            </a:r>
            <a:endParaRPr lang="en-US" sz="750"/>
          </a:p>
        </p:txBody>
      </p:sp>
      <p:sp>
        <p:nvSpPr>
          <p:cNvPr id="25" name="Shape 23"/>
          <p:cNvSpPr/>
          <p:nvPr/>
        </p:nvSpPr>
        <p:spPr>
          <a:xfrm>
            <a:off x="4617720" y="3108960"/>
            <a:ext cx="1463040" cy="822960"/>
          </a:xfrm>
          <a:prstGeom prst="rect">
            <a:avLst/>
          </a:prstGeom>
          <a:solidFill>
            <a:srgbClr val="FFFFFF"/>
          </a:solidFill>
          <a:ln w="6350">
            <a:solidFill>
              <a:srgbClr val="E2E8F0"/>
            </a:solidFill>
            <a:prstDash val="solid"/>
          </a:ln>
          <a:effectLst>
            <a:outerShdw blurRad="76200" dist="25400" dir="8100000" algn="bl" rotWithShape="0">
              <a:srgbClr val="000000">
                <a:alpha val="12000"/>
              </a:srgbClr>
            </a:outerShdw>
          </a:effectLst>
        </p:spPr>
        <p:txBody>
          <a:bodyPr/>
          <a:lstStyle/>
          <a:p>
            <a:endParaRPr lang="en-US"/>
          </a:p>
        </p:txBody>
      </p:sp>
      <p:sp>
        <p:nvSpPr>
          <p:cNvPr id="26" name="Text 24"/>
          <p:cNvSpPr/>
          <p:nvPr/>
        </p:nvSpPr>
        <p:spPr>
          <a:xfrm>
            <a:off x="4663440" y="3127248"/>
            <a:ext cx="1371600" cy="228600"/>
          </a:xfrm>
          <a:prstGeom prst="rect">
            <a:avLst/>
          </a:prstGeom>
          <a:noFill/>
          <a:ln/>
        </p:spPr>
        <p:txBody>
          <a:bodyPr wrap="square" lIns="0" tIns="0" rIns="0" bIns="0" rtlCol="0" anchor="ctr"/>
          <a:lstStyle/>
          <a:p>
            <a:pPr marL="0" indent="0">
              <a:buNone/>
            </a:pPr>
            <a:r>
              <a:rPr lang="en-US" sz="850" b="1">
                <a:solidFill>
                  <a:srgbClr val="1E2A3A"/>
                </a:solidFill>
                <a:latin typeface="Calibri" pitchFamily="34" charset="0"/>
                <a:ea typeface="Calibri" pitchFamily="34" charset="-122"/>
                <a:cs typeface="Calibri" pitchFamily="34" charset="-120"/>
              </a:rPr>
              <a:t>Visualization (Matplotlib)</a:t>
            </a:r>
            <a:endParaRPr lang="en-US" sz="850"/>
          </a:p>
        </p:txBody>
      </p:sp>
      <p:sp>
        <p:nvSpPr>
          <p:cNvPr id="27" name="Text 25"/>
          <p:cNvSpPr/>
          <p:nvPr/>
        </p:nvSpPr>
        <p:spPr>
          <a:xfrm>
            <a:off x="4663440" y="3355848"/>
            <a:ext cx="1371600" cy="548640"/>
          </a:xfrm>
          <a:prstGeom prst="rect">
            <a:avLst/>
          </a:prstGeom>
          <a:noFill/>
          <a:ln/>
        </p:spPr>
        <p:txBody>
          <a:bodyPr wrap="square" lIns="0" tIns="0" rIns="0" bIns="0" rtlCol="0" anchor="ctr"/>
          <a:lstStyle/>
          <a:p>
            <a:pPr marL="0" indent="0">
              <a:buNone/>
            </a:pPr>
            <a:r>
              <a:rPr lang="en-US" sz="750">
                <a:solidFill>
                  <a:srgbClr val="4A5568"/>
                </a:solidFill>
                <a:latin typeface="Calibri" pitchFamily="34" charset="0"/>
                <a:ea typeface="Calibri" pitchFamily="34" charset="-122"/>
                <a:cs typeface="Calibri" pitchFamily="34" charset="-120"/>
              </a:rPr>
              <a:t>20 sample paths (gray)</a:t>
            </a:r>
            <a:endParaRPr lang="en-US" sz="750"/>
          </a:p>
          <a:p>
            <a:pPr marL="0" indent="0">
              <a:buNone/>
            </a:pPr>
            <a:r>
              <a:rPr lang="en-US" sz="750">
                <a:solidFill>
                  <a:srgbClr val="4A5568"/>
                </a:solidFill>
                <a:latin typeface="Calibri" pitchFamily="34" charset="0"/>
                <a:ea typeface="Calibri" pitchFamily="34" charset="-122"/>
                <a:cs typeface="Calibri" pitchFamily="34" charset="-120"/>
              </a:rPr>
              <a:t>Percentile bands (fill)</a:t>
            </a:r>
            <a:endParaRPr lang="en-US" sz="750"/>
          </a:p>
          <a:p>
            <a:pPr marL="0" indent="0">
              <a:buNone/>
            </a:pPr>
            <a:r>
              <a:rPr lang="en-US" sz="750">
                <a:solidFill>
                  <a:srgbClr val="4A5568"/>
                </a:solidFill>
                <a:latin typeface="Calibri" pitchFamily="34" charset="0"/>
                <a:ea typeface="Calibri" pitchFamily="34" charset="-122"/>
                <a:cs typeface="Calibri" pitchFamily="34" charset="-120"/>
              </a:rPr>
              <a:t>Target line (dashed red)</a:t>
            </a:r>
            <a:endParaRPr lang="en-US" sz="750"/>
          </a:p>
        </p:txBody>
      </p:sp>
      <p:sp>
        <p:nvSpPr>
          <p:cNvPr id="28" name="Shape 26"/>
          <p:cNvSpPr/>
          <p:nvPr/>
        </p:nvSpPr>
        <p:spPr>
          <a:xfrm>
            <a:off x="6172200" y="2560320"/>
            <a:ext cx="365760" cy="0"/>
          </a:xfrm>
          <a:prstGeom prst="line">
            <a:avLst/>
          </a:prstGeom>
          <a:noFill/>
          <a:ln w="25400">
            <a:solidFill>
              <a:srgbClr val="F0A500"/>
            </a:solidFill>
            <a:prstDash val="solid"/>
          </a:ln>
        </p:spPr>
        <p:txBody>
          <a:bodyPr/>
          <a:lstStyle/>
          <a:p>
            <a:endParaRPr lang="en-US"/>
          </a:p>
        </p:txBody>
      </p:sp>
      <p:sp>
        <p:nvSpPr>
          <p:cNvPr id="29" name="Shape 27"/>
          <p:cNvSpPr/>
          <p:nvPr/>
        </p:nvSpPr>
        <p:spPr>
          <a:xfrm>
            <a:off x="6629400" y="1143000"/>
            <a:ext cx="2194560" cy="411480"/>
          </a:xfrm>
          <a:prstGeom prst="rect">
            <a:avLst/>
          </a:prstGeom>
          <a:solidFill>
            <a:srgbClr val="1E2A3A"/>
          </a:solidFill>
          <a:ln/>
          <a:effectLst>
            <a:outerShdw blurRad="76200" dist="25400" dir="8100000" algn="bl" rotWithShape="0">
              <a:srgbClr val="000000">
                <a:alpha val="12000"/>
              </a:srgbClr>
            </a:outerShdw>
          </a:effectLst>
        </p:spPr>
        <p:txBody>
          <a:bodyPr/>
          <a:lstStyle/>
          <a:p>
            <a:endParaRPr lang="en-US"/>
          </a:p>
        </p:txBody>
      </p:sp>
      <p:sp>
        <p:nvSpPr>
          <p:cNvPr id="30" name="Text 28"/>
          <p:cNvSpPr/>
          <p:nvPr/>
        </p:nvSpPr>
        <p:spPr>
          <a:xfrm>
            <a:off x="6629400" y="1143000"/>
            <a:ext cx="2194560" cy="41148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3. RENDERED OUTPUT</a:t>
            </a:r>
            <a:endParaRPr lang="en-US" sz="1100"/>
          </a:p>
        </p:txBody>
      </p:sp>
      <p:sp>
        <p:nvSpPr>
          <p:cNvPr id="31" name="Shape 29"/>
          <p:cNvSpPr/>
          <p:nvPr/>
        </p:nvSpPr>
        <p:spPr>
          <a:xfrm>
            <a:off x="6629400" y="1691640"/>
            <a:ext cx="2194560" cy="2240280"/>
          </a:xfrm>
          <a:prstGeom prst="rect">
            <a:avLst/>
          </a:prstGeom>
          <a:solidFill>
            <a:srgbClr val="FFFFFF"/>
          </a:solidFill>
          <a:ln w="19050">
            <a:solidFill>
              <a:srgbClr val="06D6A0"/>
            </a:solidFill>
            <a:prstDash val="solid"/>
          </a:ln>
          <a:effectLst>
            <a:outerShdw blurRad="101600" dist="38100" dir="8100000" algn="bl" rotWithShape="0">
              <a:srgbClr val="000000">
                <a:alpha val="15000"/>
              </a:srgbClr>
            </a:outerShdw>
          </a:effectLst>
        </p:spPr>
        <p:txBody>
          <a:bodyPr/>
          <a:lstStyle/>
          <a:p>
            <a:endParaRPr lang="en-US"/>
          </a:p>
        </p:txBody>
      </p:sp>
      <p:sp>
        <p:nvSpPr>
          <p:cNvPr id="32" name="Text 30"/>
          <p:cNvSpPr/>
          <p:nvPr/>
        </p:nvSpPr>
        <p:spPr>
          <a:xfrm>
            <a:off x="6720840" y="1737360"/>
            <a:ext cx="2011680" cy="228600"/>
          </a:xfrm>
          <a:prstGeom prst="rect">
            <a:avLst/>
          </a:prstGeom>
          <a:noFill/>
          <a:ln/>
        </p:spPr>
        <p:txBody>
          <a:bodyPr wrap="square" lIns="0" tIns="0" rIns="0" bIns="0" rtlCol="0" anchor="ctr"/>
          <a:lstStyle/>
          <a:p>
            <a:pPr marL="0" indent="0">
              <a:buNone/>
            </a:pPr>
            <a:r>
              <a:rPr lang="en-US" sz="1000" b="1">
                <a:solidFill>
                  <a:srgbClr val="06D6A0"/>
                </a:solidFill>
                <a:latin typeface="Calibri" pitchFamily="34" charset="0"/>
                <a:ea typeface="Calibri" pitchFamily="34" charset="-122"/>
                <a:cs typeface="Calibri" pitchFamily="34" charset="-120"/>
              </a:rPr>
              <a:t>Streamlit Display</a:t>
            </a:r>
            <a:endParaRPr lang="en-US" sz="1000"/>
          </a:p>
        </p:txBody>
      </p:sp>
      <p:pic>
        <p:nvPicPr>
          <p:cNvPr id="33" name="Image 0" descr="/home/claude/mc_chart.png"/>
          <p:cNvPicPr>
            <a:picLocks noChangeAspect="1"/>
          </p:cNvPicPr>
          <p:nvPr/>
        </p:nvPicPr>
        <p:blipFill>
          <a:blip r:embed="rId3"/>
          <a:stretch>
            <a:fillRect/>
          </a:stretch>
        </p:blipFill>
        <p:spPr>
          <a:xfrm>
            <a:off x="6720840" y="2011680"/>
            <a:ext cx="2011680" cy="1097280"/>
          </a:xfrm>
          <a:prstGeom prst="rect">
            <a:avLst/>
          </a:prstGeom>
        </p:spPr>
      </p:pic>
      <p:sp>
        <p:nvSpPr>
          <p:cNvPr id="34" name="Text 31"/>
          <p:cNvSpPr/>
          <p:nvPr/>
        </p:nvSpPr>
        <p:spPr>
          <a:xfrm>
            <a:off x="6720840" y="3154680"/>
            <a:ext cx="2011680" cy="731520"/>
          </a:xfrm>
          <a:prstGeom prst="rect">
            <a:avLst/>
          </a:prstGeom>
          <a:noFill/>
          <a:ln/>
        </p:spPr>
        <p:txBody>
          <a:bodyPr wrap="square" lIns="0" tIns="0" rIns="0" bIns="0" rtlCol="0" anchor="ctr"/>
          <a:lstStyle/>
          <a:p>
            <a:pPr marL="0" indent="0">
              <a:buNone/>
            </a:pPr>
            <a:r>
              <a:rPr lang="en-US" sz="750" b="1">
                <a:solidFill>
                  <a:srgbClr val="4A5568"/>
                </a:solidFill>
                <a:latin typeface="Calibri" pitchFamily="34" charset="0"/>
                <a:ea typeface="Calibri" pitchFamily="34" charset="-122"/>
                <a:cs typeface="Calibri" pitchFamily="34" charset="-120"/>
              </a:rPr>
              <a:t>Static fan chart with:</a:t>
            </a:r>
            <a:endParaRPr lang="en-US" sz="750"/>
          </a:p>
          <a:p>
            <a:pPr marL="0" indent="0">
              <a:buNone/>
            </a:pPr>
            <a:r>
              <a:rPr lang="en-US" sz="750">
                <a:solidFill>
                  <a:srgbClr val="4A5568"/>
                </a:solidFill>
                <a:latin typeface="Calibri" pitchFamily="34" charset="0"/>
                <a:ea typeface="Calibri" pitchFamily="34" charset="-122"/>
                <a:cs typeface="Calibri" pitchFamily="34" charset="-120"/>
              </a:rPr>
              <a:t>• Success rate in legend</a:t>
            </a:r>
            <a:endParaRPr lang="en-US" sz="750"/>
          </a:p>
          <a:p>
            <a:pPr marL="0" indent="0">
              <a:buNone/>
            </a:pPr>
            <a:r>
              <a:rPr lang="en-US" sz="750">
                <a:solidFill>
                  <a:srgbClr val="4A5568"/>
                </a:solidFill>
                <a:latin typeface="Calibri" pitchFamily="34" charset="0"/>
                <a:ea typeface="Calibri" pitchFamily="34" charset="-122"/>
                <a:cs typeface="Calibri" pitchFamily="34" charset="-120"/>
              </a:rPr>
              <a:t>• Savings rate label</a:t>
            </a:r>
            <a:endParaRPr lang="en-US" sz="750"/>
          </a:p>
          <a:p>
            <a:pPr marL="0" indent="0">
              <a:buNone/>
            </a:pPr>
            <a:r>
              <a:rPr lang="en-US" sz="750">
                <a:solidFill>
                  <a:srgbClr val="4A5568"/>
                </a:solidFill>
                <a:latin typeface="Calibri" pitchFamily="34" charset="0"/>
                <a:ea typeface="Calibri" pitchFamily="34" charset="-122"/>
                <a:cs typeface="Calibri" pitchFamily="34" charset="-120"/>
              </a:rPr>
              <a:t>• Persists across widget reruns</a:t>
            </a:r>
            <a:endParaRPr lang="en-US" sz="7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mc_chart.png"/>
          <p:cNvPicPr>
            <a:picLocks noChangeAspect="1"/>
          </p:cNvPicPr>
          <p:nvPr/>
        </p:nvPicPr>
        <p:blipFill>
          <a:blip r:embed="rId3"/>
          <a:srcRect b="20797"/>
          <a:stretch>
            <a:fillRect/>
          </a:stretch>
        </p:blipFill>
        <p:spPr>
          <a:xfrm>
            <a:off x="0" y="64346"/>
            <a:ext cx="9144000" cy="3295227"/>
          </a:xfrm>
          <a:prstGeom prst="rect">
            <a:avLst/>
          </a:prstGeom>
        </p:spPr>
      </p:pic>
      <p:sp>
        <p:nvSpPr>
          <p:cNvPr id="3" name="Shape 0"/>
          <p:cNvSpPr/>
          <p:nvPr/>
        </p:nvSpPr>
        <p:spPr>
          <a:xfrm>
            <a:off x="7223760" y="251460"/>
            <a:ext cx="1828800" cy="777240"/>
          </a:xfrm>
          <a:prstGeom prst="rect">
            <a:avLst/>
          </a:prstGeom>
          <a:solidFill>
            <a:srgbClr val="0F1923">
              <a:alpha val="85000"/>
            </a:srgbClr>
          </a:solidFill>
          <a:ln w="19050">
            <a:solidFill>
              <a:srgbClr val="00B4D8"/>
            </a:solidFill>
            <a:prstDash val="solid"/>
          </a:ln>
          <a:effectLst>
            <a:outerShdw blurRad="76200" dist="25400" dir="8100000" algn="bl" rotWithShape="0">
              <a:srgbClr val="000000">
                <a:alpha val="12000"/>
              </a:srgbClr>
            </a:outerShdw>
          </a:effectLst>
        </p:spPr>
        <p:txBody>
          <a:bodyPr/>
          <a:lstStyle/>
          <a:p>
            <a:endParaRPr lang="en-US"/>
          </a:p>
        </p:txBody>
      </p:sp>
      <p:sp>
        <p:nvSpPr>
          <p:cNvPr id="4" name="Text 1"/>
          <p:cNvSpPr/>
          <p:nvPr/>
        </p:nvSpPr>
        <p:spPr>
          <a:xfrm>
            <a:off x="7167880" y="365760"/>
            <a:ext cx="1828800" cy="502920"/>
          </a:xfrm>
          <a:prstGeom prst="rect">
            <a:avLst/>
          </a:prstGeom>
          <a:noFill/>
          <a:ln/>
        </p:spPr>
        <p:txBody>
          <a:bodyPr wrap="square" lIns="0" tIns="0" rIns="0" bIns="0" rtlCol="0" anchor="ctr"/>
          <a:lstStyle/>
          <a:p>
            <a:pPr marL="0" indent="0" algn="ctr">
              <a:buNone/>
            </a:pPr>
            <a:r>
              <a:rPr lang="en-US" sz="2800" b="1">
                <a:solidFill>
                  <a:srgbClr val="00B4D8"/>
                </a:solidFill>
                <a:latin typeface="Georgia" pitchFamily="34" charset="0"/>
                <a:ea typeface="Georgia" pitchFamily="34" charset="-122"/>
                <a:cs typeface="Georgia" pitchFamily="34" charset="-120"/>
              </a:rPr>
              <a:t>55.2%</a:t>
            </a:r>
            <a:endParaRPr lang="en-US" sz="2800"/>
          </a:p>
        </p:txBody>
      </p:sp>
      <p:sp>
        <p:nvSpPr>
          <p:cNvPr id="5" name="Text 2"/>
          <p:cNvSpPr/>
          <p:nvPr/>
        </p:nvSpPr>
        <p:spPr>
          <a:xfrm>
            <a:off x="7223760" y="731520"/>
            <a:ext cx="1828800" cy="274320"/>
          </a:xfrm>
          <a:prstGeom prst="rect">
            <a:avLst/>
          </a:prstGeom>
          <a:noFill/>
          <a:ln/>
        </p:spPr>
        <p:txBody>
          <a:bodyPr wrap="square" lIns="0" tIns="0" rIns="0" bIns="0" rtlCol="0" anchor="ctr"/>
          <a:lstStyle/>
          <a:p>
            <a:pPr marL="0" indent="0" algn="ctr">
              <a:buNone/>
            </a:pPr>
            <a:r>
              <a:rPr lang="en-US" sz="900">
                <a:solidFill>
                  <a:srgbClr val="FFFFFF"/>
                </a:solidFill>
                <a:latin typeface="Calibri" pitchFamily="34" charset="0"/>
                <a:ea typeface="Calibri" pitchFamily="34" charset="-122"/>
                <a:cs typeface="Calibri" pitchFamily="34" charset="-120"/>
              </a:rPr>
              <a:t>Probability of Success</a:t>
            </a:r>
            <a:endParaRPr lang="en-US" sz="900"/>
          </a:p>
        </p:txBody>
      </p:sp>
      <p:sp>
        <p:nvSpPr>
          <p:cNvPr id="6" name="Shape 3"/>
          <p:cNvSpPr/>
          <p:nvPr/>
        </p:nvSpPr>
        <p:spPr>
          <a:xfrm>
            <a:off x="457200" y="4251960"/>
            <a:ext cx="3931920" cy="685800"/>
          </a:xfrm>
          <a:prstGeom prst="rect">
            <a:avLst/>
          </a:prstGeom>
          <a:solidFill>
            <a:srgbClr val="1A2533"/>
          </a:solidFill>
          <a:ln w="6350">
            <a:solidFill>
              <a:srgbClr val="2A3A4A"/>
            </a:solidFill>
            <a:prstDash val="solid"/>
          </a:ln>
        </p:spPr>
        <p:txBody>
          <a:bodyPr/>
          <a:lstStyle/>
          <a:p>
            <a:endParaRPr lang="en-US"/>
          </a:p>
        </p:txBody>
      </p:sp>
      <p:sp>
        <p:nvSpPr>
          <p:cNvPr id="7" name="Shape 4"/>
          <p:cNvSpPr/>
          <p:nvPr/>
        </p:nvSpPr>
        <p:spPr>
          <a:xfrm>
            <a:off x="457200" y="4251960"/>
            <a:ext cx="54864" cy="685800"/>
          </a:xfrm>
          <a:prstGeom prst="rect">
            <a:avLst/>
          </a:prstGeom>
          <a:solidFill>
            <a:srgbClr val="00B4D8"/>
          </a:solidFill>
          <a:ln/>
        </p:spPr>
        <p:txBody>
          <a:bodyPr/>
          <a:lstStyle/>
          <a:p>
            <a:endParaRPr lang="en-US"/>
          </a:p>
        </p:txBody>
      </p:sp>
      <p:sp>
        <p:nvSpPr>
          <p:cNvPr id="8" name="Text 5"/>
          <p:cNvSpPr/>
          <p:nvPr/>
        </p:nvSpPr>
        <p:spPr>
          <a:xfrm>
            <a:off x="640080" y="4251960"/>
            <a:ext cx="3566160" cy="685800"/>
          </a:xfrm>
          <a:prstGeom prst="rect">
            <a:avLst/>
          </a:prstGeom>
          <a:noFill/>
          <a:ln/>
        </p:spPr>
        <p:txBody>
          <a:bodyPr wrap="square" lIns="0" tIns="0" rIns="0" bIns="0" rtlCol="0" anchor="ctr"/>
          <a:lstStyle/>
          <a:p>
            <a:pPr marL="0" indent="0">
              <a:buNone/>
            </a:pPr>
            <a:r>
              <a:rPr lang="en-US" sz="900" b="1">
                <a:solidFill>
                  <a:srgbClr val="00B4D8"/>
                </a:solidFill>
                <a:latin typeface="Calibri" pitchFamily="34" charset="0"/>
                <a:ea typeface="Calibri" pitchFamily="34" charset="-122"/>
                <a:cs typeface="Calibri" pitchFamily="34" charset="-120"/>
              </a:rPr>
              <a:t>Why matplotlib?  </a:t>
            </a:r>
            <a:r>
              <a:rPr lang="en-US" sz="900">
                <a:solidFill>
                  <a:srgbClr val="C8D6E5"/>
                </a:solidFill>
                <a:latin typeface="Calibri" pitchFamily="34" charset="0"/>
                <a:ea typeface="Calibri" pitchFamily="34" charset="-122"/>
                <a:cs typeface="Calibri" pitchFamily="34" charset="-120"/>
              </a:rPr>
              <a:t>Pixel-level control for 1,000 overlapping paths. </a:t>
            </a:r>
            <a:r>
              <a:rPr lang="en-US" sz="900" err="1">
                <a:solidFill>
                  <a:srgbClr val="C8D6E5"/>
                </a:solidFill>
                <a:latin typeface="Calibri" pitchFamily="34" charset="0"/>
                <a:ea typeface="Calibri" pitchFamily="34" charset="-122"/>
                <a:cs typeface="Calibri" pitchFamily="34" charset="-120"/>
              </a:rPr>
              <a:t>Plotly</a:t>
            </a:r>
            <a:r>
              <a:rPr lang="en-US" sz="900">
                <a:solidFill>
                  <a:srgbClr val="C8D6E5"/>
                </a:solidFill>
                <a:latin typeface="Calibri" pitchFamily="34" charset="0"/>
                <a:ea typeface="Calibri" pitchFamily="34" charset="-122"/>
                <a:cs typeface="Calibri" pitchFamily="34" charset="-120"/>
              </a:rPr>
              <a:t> can't render this density without lag. Matplotlib also writes directly to the PDF export.</a:t>
            </a:r>
            <a:endParaRPr lang="en-US" sz="900"/>
          </a:p>
        </p:txBody>
      </p:sp>
      <p:sp>
        <p:nvSpPr>
          <p:cNvPr id="9" name="Shape 6"/>
          <p:cNvSpPr/>
          <p:nvPr/>
        </p:nvSpPr>
        <p:spPr>
          <a:xfrm>
            <a:off x="4754880" y="4251960"/>
            <a:ext cx="4114800" cy="685800"/>
          </a:xfrm>
          <a:prstGeom prst="rect">
            <a:avLst/>
          </a:prstGeom>
          <a:solidFill>
            <a:srgbClr val="1A2533"/>
          </a:solidFill>
          <a:ln w="6350">
            <a:solidFill>
              <a:srgbClr val="2A3A4A"/>
            </a:solidFill>
            <a:prstDash val="solid"/>
          </a:ln>
        </p:spPr>
        <p:txBody>
          <a:bodyPr/>
          <a:lstStyle/>
          <a:p>
            <a:endParaRPr lang="en-US"/>
          </a:p>
        </p:txBody>
      </p:sp>
      <p:sp>
        <p:nvSpPr>
          <p:cNvPr id="10" name="Shape 7"/>
          <p:cNvSpPr/>
          <p:nvPr/>
        </p:nvSpPr>
        <p:spPr>
          <a:xfrm>
            <a:off x="4754880" y="4251960"/>
            <a:ext cx="54864" cy="685800"/>
          </a:xfrm>
          <a:prstGeom prst="rect">
            <a:avLst/>
          </a:prstGeom>
          <a:solidFill>
            <a:srgbClr val="EF476F"/>
          </a:solidFill>
          <a:ln/>
        </p:spPr>
        <p:txBody>
          <a:bodyPr/>
          <a:lstStyle/>
          <a:p>
            <a:endParaRPr lang="en-US"/>
          </a:p>
        </p:txBody>
      </p:sp>
      <p:sp>
        <p:nvSpPr>
          <p:cNvPr id="11" name="Text 8"/>
          <p:cNvSpPr/>
          <p:nvPr/>
        </p:nvSpPr>
        <p:spPr>
          <a:xfrm>
            <a:off x="4937760" y="4251960"/>
            <a:ext cx="3749040" cy="685800"/>
          </a:xfrm>
          <a:prstGeom prst="rect">
            <a:avLst/>
          </a:prstGeom>
          <a:noFill/>
          <a:ln/>
        </p:spPr>
        <p:txBody>
          <a:bodyPr wrap="square" lIns="0" tIns="0" rIns="0" bIns="0" rtlCol="0" anchor="ctr"/>
          <a:lstStyle/>
          <a:p>
            <a:pPr marL="0" indent="0">
              <a:buNone/>
            </a:pPr>
            <a:r>
              <a:rPr lang="en-US" sz="900" b="1">
                <a:solidFill>
                  <a:srgbClr val="EF476F"/>
                </a:solidFill>
                <a:latin typeface="Calibri" pitchFamily="34" charset="0"/>
                <a:ea typeface="Calibri" pitchFamily="34" charset="-122"/>
                <a:cs typeface="Calibri" pitchFamily="34" charset="-120"/>
              </a:rPr>
              <a:t>What you see:  </a:t>
            </a:r>
            <a:r>
              <a:rPr lang="en-US" sz="900">
                <a:solidFill>
                  <a:srgbClr val="C8D6E5"/>
                </a:solidFill>
                <a:latin typeface="Calibri" pitchFamily="34" charset="0"/>
                <a:ea typeface="Calibri" pitchFamily="34" charset="-122"/>
                <a:cs typeface="Calibri" pitchFamily="34" charset="-120"/>
              </a:rPr>
              <a:t>20 sampled paths (gray), P10/P50/P90 percentile lines, shaded 80% confidence band, red dashed target nest egg line.</a:t>
            </a:r>
            <a:endParaRPr lang="en-US" sz="9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5F5F0"/>
        </a:solidFill>
        <a:effectLst/>
      </p:bgPr>
    </p:bg>
    <p:spTree>
      <p:nvGrpSpPr>
        <p:cNvPr id="1" name="">
          <a:extLst>
            <a:ext uri="{FF2B5EF4-FFF2-40B4-BE49-F238E27FC236}">
              <a16:creationId xmlns:a16="http://schemas.microsoft.com/office/drawing/2014/main" id="{0D993A6C-816E-D506-0332-CB730D7437E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11564DC-85C7-4323-A9F4-90110EC600A0}"/>
              </a:ext>
            </a:extLst>
          </p:cNvPr>
          <p:cNvSpPr/>
          <p:nvPr/>
        </p:nvSpPr>
        <p:spPr>
          <a:xfrm>
            <a:off x="548640" y="274320"/>
            <a:ext cx="8046720" cy="640080"/>
          </a:xfrm>
          <a:prstGeom prst="rect">
            <a:avLst/>
          </a:prstGeom>
          <a:noFill/>
          <a:ln/>
        </p:spPr>
        <p:txBody>
          <a:bodyPr wrap="square" rtlCol="0" anchor="ctr"/>
          <a:lstStyle/>
          <a:p>
            <a:pPr marL="0" indent="0">
              <a:buNone/>
            </a:pPr>
            <a:r>
              <a:rPr lang="en-US" sz="3200" b="1">
                <a:solidFill>
                  <a:srgbClr val="1B2A4A"/>
                </a:solidFill>
                <a:latin typeface="Georgia" pitchFamily="34" charset="0"/>
                <a:ea typeface="Georgia" pitchFamily="34" charset="-122"/>
                <a:cs typeface="Georgia" pitchFamily="34" charset="-120"/>
              </a:rPr>
              <a:t>VISUALIZATIONS</a:t>
            </a:r>
            <a:endParaRPr lang="en-US" sz="3200"/>
          </a:p>
        </p:txBody>
      </p:sp>
      <p:sp>
        <p:nvSpPr>
          <p:cNvPr id="3" name="Text 1">
            <a:extLst>
              <a:ext uri="{FF2B5EF4-FFF2-40B4-BE49-F238E27FC236}">
                <a16:creationId xmlns:a16="http://schemas.microsoft.com/office/drawing/2014/main" id="{3B18BC5E-24C0-4AEE-0C71-2EEC3163B618}"/>
              </a:ext>
            </a:extLst>
          </p:cNvPr>
          <p:cNvSpPr/>
          <p:nvPr/>
        </p:nvSpPr>
        <p:spPr>
          <a:xfrm>
            <a:off x="548640" y="822960"/>
            <a:ext cx="8046720" cy="365760"/>
          </a:xfrm>
          <a:prstGeom prst="rect">
            <a:avLst/>
          </a:prstGeom>
          <a:noFill/>
          <a:ln/>
        </p:spPr>
        <p:txBody>
          <a:bodyPr wrap="square" rtlCol="0" anchor="ctr"/>
          <a:lstStyle/>
          <a:p>
            <a:pPr marL="0" indent="0">
              <a:buNone/>
            </a:pPr>
            <a:r>
              <a:rPr lang="en-US" sz="1400" i="1">
                <a:solidFill>
                  <a:srgbClr val="636E72"/>
                </a:solidFill>
                <a:latin typeface="Calibri" pitchFamily="34" charset="0"/>
                <a:ea typeface="Calibri" pitchFamily="34" charset="-122"/>
                <a:cs typeface="Calibri" pitchFamily="34" charset="-120"/>
              </a:rPr>
              <a:t>What each visualization reveals and the technical choices that make it speak</a:t>
            </a:r>
            <a:endParaRPr lang="en-US" sz="1400"/>
          </a:p>
        </p:txBody>
      </p:sp>
      <p:sp>
        <p:nvSpPr>
          <p:cNvPr id="4" name="Shape 2">
            <a:extLst>
              <a:ext uri="{FF2B5EF4-FFF2-40B4-BE49-F238E27FC236}">
                <a16:creationId xmlns:a16="http://schemas.microsoft.com/office/drawing/2014/main" id="{F6166327-7F41-E633-AAA2-5FA7DA110741}"/>
              </a:ext>
            </a:extLst>
          </p:cNvPr>
          <p:cNvSpPr/>
          <p:nvPr/>
        </p:nvSpPr>
        <p:spPr>
          <a:xfrm>
            <a:off x="365760" y="1371600"/>
            <a:ext cx="2697480" cy="30175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5" name="Text 3">
            <a:extLst>
              <a:ext uri="{FF2B5EF4-FFF2-40B4-BE49-F238E27FC236}">
                <a16:creationId xmlns:a16="http://schemas.microsoft.com/office/drawing/2014/main" id="{D143C6EB-71BA-3D81-2F59-7735FA18D823}"/>
              </a:ext>
            </a:extLst>
          </p:cNvPr>
          <p:cNvSpPr/>
          <p:nvPr/>
        </p:nvSpPr>
        <p:spPr>
          <a:xfrm>
            <a:off x="502920" y="1417320"/>
            <a:ext cx="2423160" cy="365760"/>
          </a:xfrm>
          <a:prstGeom prst="rect">
            <a:avLst/>
          </a:prstGeom>
          <a:noFill/>
          <a:ln/>
        </p:spPr>
        <p:txBody>
          <a:bodyPr wrap="square" rtlCol="0" anchor="ctr"/>
          <a:lstStyle/>
          <a:p>
            <a:pPr marL="0" indent="0">
              <a:buNone/>
            </a:pPr>
            <a:r>
              <a:rPr lang="en-US" sz="1400" b="1">
                <a:solidFill>
                  <a:srgbClr val="1B2A4A"/>
                </a:solidFill>
                <a:latin typeface="Georgia" pitchFamily="34" charset="0"/>
                <a:ea typeface="Georgia" pitchFamily="34" charset="-122"/>
                <a:cs typeface="Georgia" pitchFamily="34" charset="-120"/>
              </a:rPr>
              <a:t>Monte Carlo Fan Chart</a:t>
            </a:r>
            <a:endParaRPr lang="en-US" sz="1400"/>
          </a:p>
        </p:txBody>
      </p:sp>
      <p:sp>
        <p:nvSpPr>
          <p:cNvPr id="6" name="Text 4">
            <a:extLst>
              <a:ext uri="{FF2B5EF4-FFF2-40B4-BE49-F238E27FC236}">
                <a16:creationId xmlns:a16="http://schemas.microsoft.com/office/drawing/2014/main" id="{792239FE-951A-0AD1-6372-82052CA68418}"/>
              </a:ext>
            </a:extLst>
          </p:cNvPr>
          <p:cNvSpPr/>
          <p:nvPr/>
        </p:nvSpPr>
        <p:spPr>
          <a:xfrm>
            <a:off x="502920" y="1737360"/>
            <a:ext cx="2423160" cy="274320"/>
          </a:xfrm>
          <a:prstGeom prst="rect">
            <a:avLst/>
          </a:prstGeom>
          <a:noFill/>
          <a:ln/>
        </p:spPr>
        <p:txBody>
          <a:bodyPr wrap="square" rtlCol="0" anchor="ctr"/>
          <a:lstStyle/>
          <a:p>
            <a:pPr marL="0" indent="0">
              <a:buNone/>
            </a:pPr>
            <a:r>
              <a:rPr lang="en-US" sz="1000">
                <a:solidFill>
                  <a:srgbClr val="636E72"/>
                </a:solidFill>
                <a:latin typeface="Consolas" pitchFamily="34" charset="0"/>
                <a:ea typeface="Consolas" pitchFamily="34" charset="-122"/>
                <a:cs typeface="Consolas" pitchFamily="34" charset="-120"/>
              </a:rPr>
              <a:t>Matplotlib</a:t>
            </a:r>
            <a:endParaRPr lang="en-US" sz="1000"/>
          </a:p>
        </p:txBody>
      </p:sp>
      <p:sp>
        <p:nvSpPr>
          <p:cNvPr id="7" name="Text 5">
            <a:extLst>
              <a:ext uri="{FF2B5EF4-FFF2-40B4-BE49-F238E27FC236}">
                <a16:creationId xmlns:a16="http://schemas.microsoft.com/office/drawing/2014/main" id="{BE076744-E57E-6E06-D684-2908FBCF5FBC}"/>
              </a:ext>
            </a:extLst>
          </p:cNvPr>
          <p:cNvSpPr/>
          <p:nvPr/>
        </p:nvSpPr>
        <p:spPr>
          <a:xfrm>
            <a:off x="502920" y="2057400"/>
            <a:ext cx="2423160" cy="228600"/>
          </a:xfrm>
          <a:prstGeom prst="rect">
            <a:avLst/>
          </a:prstGeom>
          <a:noFill/>
          <a:ln/>
        </p:spPr>
        <p:txBody>
          <a:bodyPr wrap="square" rtlCol="0" anchor="ctr"/>
          <a:lstStyle/>
          <a:p>
            <a:pPr marL="0" indent="0">
              <a:buNone/>
            </a:pPr>
            <a:r>
              <a:rPr lang="en-US" sz="900" b="1" kern="0" spc="200">
                <a:solidFill>
                  <a:srgbClr val="C5A55A"/>
                </a:solidFill>
                <a:latin typeface="Calibri" pitchFamily="34" charset="0"/>
                <a:ea typeface="Calibri" pitchFamily="34" charset="-122"/>
                <a:cs typeface="Calibri" pitchFamily="34" charset="-120"/>
              </a:rPr>
              <a:t>WHAT IT SHOWS</a:t>
            </a:r>
            <a:endParaRPr lang="en-US" sz="900"/>
          </a:p>
        </p:txBody>
      </p:sp>
      <p:sp>
        <p:nvSpPr>
          <p:cNvPr id="8" name="Text 6">
            <a:extLst>
              <a:ext uri="{FF2B5EF4-FFF2-40B4-BE49-F238E27FC236}">
                <a16:creationId xmlns:a16="http://schemas.microsoft.com/office/drawing/2014/main" id="{D7130CD6-6C30-CD2D-C24E-893DCED9BED0}"/>
              </a:ext>
            </a:extLst>
          </p:cNvPr>
          <p:cNvSpPr/>
          <p:nvPr/>
        </p:nvSpPr>
        <p:spPr>
          <a:xfrm>
            <a:off x="502920" y="2286000"/>
            <a:ext cx="2423160" cy="914400"/>
          </a:xfrm>
          <a:prstGeom prst="rect">
            <a:avLst/>
          </a:prstGeom>
          <a:noFill/>
          <a:ln/>
        </p:spPr>
        <p:txBody>
          <a:bodyPr wrap="square" rtlCol="0" anchor="t"/>
          <a:lstStyle/>
          <a:p>
            <a:pPr marL="0" indent="0">
              <a:buNone/>
            </a:pPr>
            <a:r>
              <a:rPr lang="en-US" sz="1050">
                <a:solidFill>
                  <a:srgbClr val="2D3436"/>
                </a:solidFill>
                <a:latin typeface="Calibri" pitchFamily="34" charset="0"/>
                <a:ea typeface="Calibri" pitchFamily="34" charset="-122"/>
                <a:cs typeface="Calibri" pitchFamily="34" charset="-120"/>
              </a:rPr>
              <a:t>1,000 simulated paths, 20 sampled by percentile, P10/P50/P90 band overlay, horizontal target line</a:t>
            </a:r>
            <a:endParaRPr lang="en-US" sz="1050"/>
          </a:p>
        </p:txBody>
      </p:sp>
      <p:sp>
        <p:nvSpPr>
          <p:cNvPr id="9" name="Text 7">
            <a:extLst>
              <a:ext uri="{FF2B5EF4-FFF2-40B4-BE49-F238E27FC236}">
                <a16:creationId xmlns:a16="http://schemas.microsoft.com/office/drawing/2014/main" id="{E3E2ED27-2011-F5A8-F844-DAE84DA8A4D4}"/>
              </a:ext>
            </a:extLst>
          </p:cNvPr>
          <p:cNvSpPr/>
          <p:nvPr/>
        </p:nvSpPr>
        <p:spPr>
          <a:xfrm>
            <a:off x="502920" y="3200400"/>
            <a:ext cx="2423160" cy="228600"/>
          </a:xfrm>
          <a:prstGeom prst="rect">
            <a:avLst/>
          </a:prstGeom>
          <a:noFill/>
          <a:ln/>
        </p:spPr>
        <p:txBody>
          <a:bodyPr wrap="square" rtlCol="0" anchor="ctr"/>
          <a:lstStyle/>
          <a:p>
            <a:pPr marL="0" indent="0">
              <a:buNone/>
            </a:pPr>
            <a:r>
              <a:rPr lang="en-US" sz="900" b="1" kern="0" spc="200">
                <a:solidFill>
                  <a:srgbClr val="C5A55A"/>
                </a:solidFill>
                <a:latin typeface="Calibri" pitchFamily="34" charset="0"/>
                <a:ea typeface="Calibri" pitchFamily="34" charset="-122"/>
                <a:cs typeface="Calibri" pitchFamily="34" charset="-120"/>
              </a:rPr>
              <a:t>WHAT WE LEARNED</a:t>
            </a:r>
            <a:endParaRPr lang="en-US" sz="900"/>
          </a:p>
        </p:txBody>
      </p:sp>
      <p:sp>
        <p:nvSpPr>
          <p:cNvPr id="10" name="Text 8">
            <a:extLst>
              <a:ext uri="{FF2B5EF4-FFF2-40B4-BE49-F238E27FC236}">
                <a16:creationId xmlns:a16="http://schemas.microsoft.com/office/drawing/2014/main" id="{A3630FC0-000C-E848-D756-A02F215A7620}"/>
              </a:ext>
            </a:extLst>
          </p:cNvPr>
          <p:cNvSpPr/>
          <p:nvPr/>
        </p:nvSpPr>
        <p:spPr>
          <a:xfrm>
            <a:off x="502920" y="3429000"/>
            <a:ext cx="2423160" cy="868680"/>
          </a:xfrm>
          <a:prstGeom prst="rect">
            <a:avLst/>
          </a:prstGeom>
          <a:noFill/>
          <a:ln/>
        </p:spPr>
        <p:txBody>
          <a:bodyPr wrap="square" rtlCol="0" anchor="t"/>
          <a:lstStyle/>
          <a:p>
            <a:pPr marL="0" indent="0">
              <a:buNone/>
            </a:pPr>
            <a:r>
              <a:rPr lang="en-US" sz="1050">
                <a:solidFill>
                  <a:srgbClr val="2D3436"/>
                </a:solidFill>
                <a:latin typeface="Calibri" pitchFamily="34" charset="0"/>
                <a:ea typeface="Calibri" pitchFamily="34" charset="-122"/>
                <a:cs typeface="Calibri" pitchFamily="34" charset="-120"/>
              </a:rPr>
              <a:t>Matplotlib gives pixel-level control. Plotly can't render 1,000 overlapping paths without lag. facecolor + spines = dark mode.</a:t>
            </a:r>
            <a:endParaRPr lang="en-US" sz="1050"/>
          </a:p>
        </p:txBody>
      </p:sp>
      <p:sp>
        <p:nvSpPr>
          <p:cNvPr id="11" name="Shape 9">
            <a:extLst>
              <a:ext uri="{FF2B5EF4-FFF2-40B4-BE49-F238E27FC236}">
                <a16:creationId xmlns:a16="http://schemas.microsoft.com/office/drawing/2014/main" id="{BBD03986-37CC-6BE0-E6DC-7751B532A7D6}"/>
              </a:ext>
            </a:extLst>
          </p:cNvPr>
          <p:cNvSpPr/>
          <p:nvPr/>
        </p:nvSpPr>
        <p:spPr>
          <a:xfrm>
            <a:off x="3246120" y="1371600"/>
            <a:ext cx="2697480" cy="30175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2" name="Text 10">
            <a:extLst>
              <a:ext uri="{FF2B5EF4-FFF2-40B4-BE49-F238E27FC236}">
                <a16:creationId xmlns:a16="http://schemas.microsoft.com/office/drawing/2014/main" id="{E7B6B2DF-4EAD-290E-3B4A-BE45285092F0}"/>
              </a:ext>
            </a:extLst>
          </p:cNvPr>
          <p:cNvSpPr/>
          <p:nvPr/>
        </p:nvSpPr>
        <p:spPr>
          <a:xfrm>
            <a:off x="3383280" y="1417320"/>
            <a:ext cx="2423160" cy="365760"/>
          </a:xfrm>
          <a:prstGeom prst="rect">
            <a:avLst/>
          </a:prstGeom>
          <a:noFill/>
          <a:ln/>
        </p:spPr>
        <p:txBody>
          <a:bodyPr wrap="square" rtlCol="0" anchor="ctr"/>
          <a:lstStyle/>
          <a:p>
            <a:pPr marL="0" indent="0">
              <a:buNone/>
            </a:pPr>
            <a:r>
              <a:rPr lang="en-US" sz="1400" b="1">
                <a:solidFill>
                  <a:srgbClr val="1B2A4A"/>
                </a:solidFill>
                <a:latin typeface="Georgia" pitchFamily="34" charset="0"/>
                <a:ea typeface="Georgia" pitchFamily="34" charset="-122"/>
                <a:cs typeface="Georgia" pitchFamily="34" charset="-120"/>
              </a:rPr>
              <a:t>Savings Rate Explorer</a:t>
            </a:r>
            <a:endParaRPr lang="en-US" sz="1400"/>
          </a:p>
        </p:txBody>
      </p:sp>
      <p:sp>
        <p:nvSpPr>
          <p:cNvPr id="13" name="Text 11">
            <a:extLst>
              <a:ext uri="{FF2B5EF4-FFF2-40B4-BE49-F238E27FC236}">
                <a16:creationId xmlns:a16="http://schemas.microsoft.com/office/drawing/2014/main" id="{14E43C00-20F7-A912-782F-84CDC479B440}"/>
              </a:ext>
            </a:extLst>
          </p:cNvPr>
          <p:cNvSpPr/>
          <p:nvPr/>
        </p:nvSpPr>
        <p:spPr>
          <a:xfrm>
            <a:off x="3383280" y="1737360"/>
            <a:ext cx="2423160" cy="274320"/>
          </a:xfrm>
          <a:prstGeom prst="rect">
            <a:avLst/>
          </a:prstGeom>
          <a:noFill/>
          <a:ln/>
        </p:spPr>
        <p:txBody>
          <a:bodyPr wrap="square" rtlCol="0" anchor="ctr"/>
          <a:lstStyle/>
          <a:p>
            <a:pPr marL="0" indent="0">
              <a:buNone/>
            </a:pPr>
            <a:r>
              <a:rPr lang="en-US" sz="1000">
                <a:solidFill>
                  <a:srgbClr val="636E72"/>
                </a:solidFill>
                <a:latin typeface="Consolas" pitchFamily="34" charset="0"/>
                <a:ea typeface="Consolas" pitchFamily="34" charset="-122"/>
                <a:cs typeface="Consolas" pitchFamily="34" charset="-120"/>
              </a:rPr>
              <a:t>Plotly (go.Scatter)</a:t>
            </a:r>
            <a:endParaRPr lang="en-US" sz="1000"/>
          </a:p>
        </p:txBody>
      </p:sp>
      <p:sp>
        <p:nvSpPr>
          <p:cNvPr id="14" name="Text 12">
            <a:extLst>
              <a:ext uri="{FF2B5EF4-FFF2-40B4-BE49-F238E27FC236}">
                <a16:creationId xmlns:a16="http://schemas.microsoft.com/office/drawing/2014/main" id="{B885BD3A-FEEF-6BE5-6AAE-D863577FA260}"/>
              </a:ext>
            </a:extLst>
          </p:cNvPr>
          <p:cNvSpPr/>
          <p:nvPr/>
        </p:nvSpPr>
        <p:spPr>
          <a:xfrm>
            <a:off x="3383280" y="2057400"/>
            <a:ext cx="2423160" cy="228600"/>
          </a:xfrm>
          <a:prstGeom prst="rect">
            <a:avLst/>
          </a:prstGeom>
          <a:noFill/>
          <a:ln/>
        </p:spPr>
        <p:txBody>
          <a:bodyPr wrap="square" rtlCol="0" anchor="ctr"/>
          <a:lstStyle/>
          <a:p>
            <a:pPr marL="0" indent="0">
              <a:buNone/>
            </a:pPr>
            <a:r>
              <a:rPr lang="en-US" sz="900" b="1" kern="0" spc="200">
                <a:solidFill>
                  <a:srgbClr val="C5A55A"/>
                </a:solidFill>
                <a:latin typeface="Calibri" pitchFamily="34" charset="0"/>
                <a:ea typeface="Calibri" pitchFamily="34" charset="-122"/>
                <a:cs typeface="Calibri" pitchFamily="34" charset="-120"/>
              </a:rPr>
              <a:t>WHAT IT SHOWS</a:t>
            </a:r>
            <a:endParaRPr lang="en-US" sz="900"/>
          </a:p>
        </p:txBody>
      </p:sp>
      <p:sp>
        <p:nvSpPr>
          <p:cNvPr id="15" name="Text 13">
            <a:extLst>
              <a:ext uri="{FF2B5EF4-FFF2-40B4-BE49-F238E27FC236}">
                <a16:creationId xmlns:a16="http://schemas.microsoft.com/office/drawing/2014/main" id="{28A0723B-492B-3BCB-DD86-640B774EA2F5}"/>
              </a:ext>
            </a:extLst>
          </p:cNvPr>
          <p:cNvSpPr/>
          <p:nvPr/>
        </p:nvSpPr>
        <p:spPr>
          <a:xfrm>
            <a:off x="3383280" y="2286000"/>
            <a:ext cx="2423160" cy="914400"/>
          </a:xfrm>
          <a:prstGeom prst="rect">
            <a:avLst/>
          </a:prstGeom>
          <a:noFill/>
          <a:ln/>
        </p:spPr>
        <p:txBody>
          <a:bodyPr wrap="square" rtlCol="0" anchor="t"/>
          <a:lstStyle/>
          <a:p>
            <a:pPr marL="0" indent="0">
              <a:buNone/>
            </a:pPr>
            <a:r>
              <a:rPr lang="en-US" sz="1050">
                <a:solidFill>
                  <a:srgbClr val="2D3436"/>
                </a:solidFill>
                <a:latin typeface="Calibri" pitchFamily="34" charset="0"/>
                <a:ea typeface="Calibri" pitchFamily="34" charset="-122"/>
                <a:cs typeface="Calibri" pitchFamily="34" charset="-120"/>
              </a:rPr>
              <a:t>Deterministic growth curve with dashed target. Animated vertical intercept annotation when goal age is found.</a:t>
            </a:r>
            <a:endParaRPr lang="en-US" sz="1050"/>
          </a:p>
        </p:txBody>
      </p:sp>
      <p:sp>
        <p:nvSpPr>
          <p:cNvPr id="16" name="Text 14">
            <a:extLst>
              <a:ext uri="{FF2B5EF4-FFF2-40B4-BE49-F238E27FC236}">
                <a16:creationId xmlns:a16="http://schemas.microsoft.com/office/drawing/2014/main" id="{DC348457-9803-4484-0CE0-E5EB7654A3D8}"/>
              </a:ext>
            </a:extLst>
          </p:cNvPr>
          <p:cNvSpPr/>
          <p:nvPr/>
        </p:nvSpPr>
        <p:spPr>
          <a:xfrm>
            <a:off x="3383280" y="3200400"/>
            <a:ext cx="2423160" cy="228600"/>
          </a:xfrm>
          <a:prstGeom prst="rect">
            <a:avLst/>
          </a:prstGeom>
          <a:noFill/>
          <a:ln/>
        </p:spPr>
        <p:txBody>
          <a:bodyPr wrap="square" rtlCol="0" anchor="ctr"/>
          <a:lstStyle/>
          <a:p>
            <a:pPr marL="0" indent="0">
              <a:buNone/>
            </a:pPr>
            <a:r>
              <a:rPr lang="en-US" sz="900" b="1" kern="0" spc="200">
                <a:solidFill>
                  <a:srgbClr val="C5A55A"/>
                </a:solidFill>
                <a:latin typeface="Calibri" pitchFamily="34" charset="0"/>
                <a:ea typeface="Calibri" pitchFamily="34" charset="-122"/>
                <a:cs typeface="Calibri" pitchFamily="34" charset="-120"/>
              </a:rPr>
              <a:t>WHAT WE LEARNED</a:t>
            </a:r>
            <a:endParaRPr lang="en-US" sz="900"/>
          </a:p>
        </p:txBody>
      </p:sp>
      <p:sp>
        <p:nvSpPr>
          <p:cNvPr id="17" name="Text 15">
            <a:extLst>
              <a:ext uri="{FF2B5EF4-FFF2-40B4-BE49-F238E27FC236}">
                <a16:creationId xmlns:a16="http://schemas.microsoft.com/office/drawing/2014/main" id="{6116C87F-7BDA-8A2C-9509-9AA0C8FC5A52}"/>
              </a:ext>
            </a:extLst>
          </p:cNvPr>
          <p:cNvSpPr/>
          <p:nvPr/>
        </p:nvSpPr>
        <p:spPr>
          <a:xfrm>
            <a:off x="3383280" y="3429000"/>
            <a:ext cx="2423160" cy="868680"/>
          </a:xfrm>
          <a:prstGeom prst="rect">
            <a:avLst/>
          </a:prstGeom>
          <a:noFill/>
          <a:ln/>
        </p:spPr>
        <p:txBody>
          <a:bodyPr wrap="square" rtlCol="0" anchor="t"/>
          <a:lstStyle/>
          <a:p>
            <a:pPr marL="0" indent="0">
              <a:buNone/>
            </a:pPr>
            <a:r>
              <a:rPr lang="en-US" sz="1050">
                <a:solidFill>
                  <a:srgbClr val="2D3436"/>
                </a:solidFill>
                <a:latin typeface="Calibri" pitchFamily="34" charset="0"/>
                <a:ea typeface="Calibri" pitchFamily="34" charset="-122"/>
                <a:cs typeface="Calibri" pitchFamily="34" charset="-120"/>
              </a:rPr>
              <a:t>add_vline() + add_annotation() with ax/ay offsets creates callout arrows. Plotly dark theme via plot_bgcolor.</a:t>
            </a:r>
            <a:endParaRPr lang="en-US" sz="1050"/>
          </a:p>
        </p:txBody>
      </p:sp>
      <p:sp>
        <p:nvSpPr>
          <p:cNvPr id="18" name="Shape 16">
            <a:extLst>
              <a:ext uri="{FF2B5EF4-FFF2-40B4-BE49-F238E27FC236}">
                <a16:creationId xmlns:a16="http://schemas.microsoft.com/office/drawing/2014/main" id="{4CF36F9D-5F80-C65D-88F4-887ACDA90E2C}"/>
              </a:ext>
            </a:extLst>
          </p:cNvPr>
          <p:cNvSpPr/>
          <p:nvPr/>
        </p:nvSpPr>
        <p:spPr>
          <a:xfrm>
            <a:off x="6126480" y="1371600"/>
            <a:ext cx="2697480" cy="30175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9" name="Text 17">
            <a:extLst>
              <a:ext uri="{FF2B5EF4-FFF2-40B4-BE49-F238E27FC236}">
                <a16:creationId xmlns:a16="http://schemas.microsoft.com/office/drawing/2014/main" id="{732A0DB5-0C6C-B602-FBE2-82858D4C83D4}"/>
              </a:ext>
            </a:extLst>
          </p:cNvPr>
          <p:cNvSpPr/>
          <p:nvPr/>
        </p:nvSpPr>
        <p:spPr>
          <a:xfrm>
            <a:off x="6263640" y="1417320"/>
            <a:ext cx="2423160" cy="365760"/>
          </a:xfrm>
          <a:prstGeom prst="rect">
            <a:avLst/>
          </a:prstGeom>
          <a:noFill/>
          <a:ln/>
        </p:spPr>
        <p:txBody>
          <a:bodyPr wrap="square" rtlCol="0" anchor="ctr"/>
          <a:lstStyle/>
          <a:p>
            <a:pPr marL="0" indent="0">
              <a:buNone/>
            </a:pPr>
            <a:r>
              <a:rPr lang="en-US" sz="1400" b="1">
                <a:solidFill>
                  <a:srgbClr val="1B2A4A"/>
                </a:solidFill>
                <a:latin typeface="Georgia" pitchFamily="34" charset="0"/>
                <a:ea typeface="Georgia" pitchFamily="34" charset="-122"/>
                <a:cs typeface="Georgia" pitchFamily="34" charset="-120"/>
              </a:rPr>
              <a:t>Cash Flow Sankey</a:t>
            </a:r>
            <a:endParaRPr lang="en-US" sz="1400"/>
          </a:p>
        </p:txBody>
      </p:sp>
      <p:sp>
        <p:nvSpPr>
          <p:cNvPr id="20" name="Text 18">
            <a:extLst>
              <a:ext uri="{FF2B5EF4-FFF2-40B4-BE49-F238E27FC236}">
                <a16:creationId xmlns:a16="http://schemas.microsoft.com/office/drawing/2014/main" id="{32CEF516-9C63-7936-31FB-2182C36827A6}"/>
              </a:ext>
            </a:extLst>
          </p:cNvPr>
          <p:cNvSpPr/>
          <p:nvPr/>
        </p:nvSpPr>
        <p:spPr>
          <a:xfrm>
            <a:off x="6263640" y="1737360"/>
            <a:ext cx="2423160" cy="274320"/>
          </a:xfrm>
          <a:prstGeom prst="rect">
            <a:avLst/>
          </a:prstGeom>
          <a:noFill/>
          <a:ln/>
        </p:spPr>
        <p:txBody>
          <a:bodyPr wrap="square" rtlCol="0" anchor="ctr"/>
          <a:lstStyle/>
          <a:p>
            <a:pPr marL="0" indent="0">
              <a:buNone/>
            </a:pPr>
            <a:r>
              <a:rPr lang="en-US" sz="1000">
                <a:solidFill>
                  <a:srgbClr val="636E72"/>
                </a:solidFill>
                <a:latin typeface="Consolas" pitchFamily="34" charset="0"/>
                <a:ea typeface="Consolas" pitchFamily="34" charset="-122"/>
                <a:cs typeface="Consolas" pitchFamily="34" charset="-120"/>
              </a:rPr>
              <a:t>Plotly (go.Sankey)</a:t>
            </a:r>
            <a:endParaRPr lang="en-US" sz="1000"/>
          </a:p>
        </p:txBody>
      </p:sp>
      <p:sp>
        <p:nvSpPr>
          <p:cNvPr id="21" name="Text 19">
            <a:extLst>
              <a:ext uri="{FF2B5EF4-FFF2-40B4-BE49-F238E27FC236}">
                <a16:creationId xmlns:a16="http://schemas.microsoft.com/office/drawing/2014/main" id="{EEA2272D-E2CD-C908-7B50-5E01F4869D37}"/>
              </a:ext>
            </a:extLst>
          </p:cNvPr>
          <p:cNvSpPr/>
          <p:nvPr/>
        </p:nvSpPr>
        <p:spPr>
          <a:xfrm>
            <a:off x="6263640" y="2057400"/>
            <a:ext cx="2423160" cy="228600"/>
          </a:xfrm>
          <a:prstGeom prst="rect">
            <a:avLst/>
          </a:prstGeom>
          <a:noFill/>
          <a:ln/>
        </p:spPr>
        <p:txBody>
          <a:bodyPr wrap="square" rtlCol="0" anchor="ctr"/>
          <a:lstStyle/>
          <a:p>
            <a:pPr marL="0" indent="0">
              <a:buNone/>
            </a:pPr>
            <a:r>
              <a:rPr lang="en-US" sz="900" b="1" kern="0" spc="200">
                <a:solidFill>
                  <a:srgbClr val="C5A55A"/>
                </a:solidFill>
                <a:latin typeface="Calibri" pitchFamily="34" charset="0"/>
                <a:ea typeface="Calibri" pitchFamily="34" charset="-122"/>
                <a:cs typeface="Calibri" pitchFamily="34" charset="-120"/>
              </a:rPr>
              <a:t>WHAT IT SHOWS</a:t>
            </a:r>
            <a:endParaRPr lang="en-US" sz="900"/>
          </a:p>
        </p:txBody>
      </p:sp>
      <p:sp>
        <p:nvSpPr>
          <p:cNvPr id="22" name="Text 20">
            <a:extLst>
              <a:ext uri="{FF2B5EF4-FFF2-40B4-BE49-F238E27FC236}">
                <a16:creationId xmlns:a16="http://schemas.microsoft.com/office/drawing/2014/main" id="{A0BBF212-8A6E-44A9-0A24-DB0D6C0F7EF9}"/>
              </a:ext>
            </a:extLst>
          </p:cNvPr>
          <p:cNvSpPr/>
          <p:nvPr/>
        </p:nvSpPr>
        <p:spPr>
          <a:xfrm>
            <a:off x="6263640" y="2286000"/>
            <a:ext cx="2423160" cy="914400"/>
          </a:xfrm>
          <a:prstGeom prst="rect">
            <a:avLst/>
          </a:prstGeom>
          <a:noFill/>
          <a:ln/>
        </p:spPr>
        <p:txBody>
          <a:bodyPr wrap="square" rtlCol="0" anchor="t"/>
          <a:lstStyle/>
          <a:p>
            <a:pPr marL="0" indent="0">
              <a:buNone/>
            </a:pPr>
            <a:r>
              <a:rPr lang="en-US" sz="1050">
                <a:solidFill>
                  <a:srgbClr val="2D3436"/>
                </a:solidFill>
                <a:latin typeface="Calibri" pitchFamily="34" charset="0"/>
                <a:ea typeface="Calibri" pitchFamily="34" charset="-122"/>
                <a:cs typeface="Calibri" pitchFamily="34" charset="-120"/>
              </a:rPr>
              <a:t>Gross → Taxes + Take-Home → Fixed / Invest / Guilt-Free / Surplus. Node width proportional to dollar flow.</a:t>
            </a:r>
            <a:endParaRPr lang="en-US" sz="1050"/>
          </a:p>
        </p:txBody>
      </p:sp>
      <p:sp>
        <p:nvSpPr>
          <p:cNvPr id="23" name="Text 21">
            <a:extLst>
              <a:ext uri="{FF2B5EF4-FFF2-40B4-BE49-F238E27FC236}">
                <a16:creationId xmlns:a16="http://schemas.microsoft.com/office/drawing/2014/main" id="{D0CBB4C5-A04B-9A11-E2B6-B19D62EA0805}"/>
              </a:ext>
            </a:extLst>
          </p:cNvPr>
          <p:cNvSpPr/>
          <p:nvPr/>
        </p:nvSpPr>
        <p:spPr>
          <a:xfrm>
            <a:off x="6263640" y="3200400"/>
            <a:ext cx="2423160" cy="228600"/>
          </a:xfrm>
          <a:prstGeom prst="rect">
            <a:avLst/>
          </a:prstGeom>
          <a:noFill/>
          <a:ln/>
        </p:spPr>
        <p:txBody>
          <a:bodyPr wrap="square" rtlCol="0" anchor="ctr"/>
          <a:lstStyle/>
          <a:p>
            <a:pPr marL="0" indent="0">
              <a:buNone/>
            </a:pPr>
            <a:r>
              <a:rPr lang="en-US" sz="900" b="1" kern="0" spc="200">
                <a:solidFill>
                  <a:srgbClr val="C5A55A"/>
                </a:solidFill>
                <a:latin typeface="Calibri" pitchFamily="34" charset="0"/>
                <a:ea typeface="Calibri" pitchFamily="34" charset="-122"/>
                <a:cs typeface="Calibri" pitchFamily="34" charset="-120"/>
              </a:rPr>
              <a:t>WHAT WE LEARNED</a:t>
            </a:r>
            <a:endParaRPr lang="en-US" sz="900"/>
          </a:p>
        </p:txBody>
      </p:sp>
      <p:sp>
        <p:nvSpPr>
          <p:cNvPr id="24" name="Text 22">
            <a:extLst>
              <a:ext uri="{FF2B5EF4-FFF2-40B4-BE49-F238E27FC236}">
                <a16:creationId xmlns:a16="http://schemas.microsoft.com/office/drawing/2014/main" id="{FC43AB8F-71CC-A336-B401-48356501FC0A}"/>
              </a:ext>
            </a:extLst>
          </p:cNvPr>
          <p:cNvSpPr/>
          <p:nvPr/>
        </p:nvSpPr>
        <p:spPr>
          <a:xfrm>
            <a:off x="6263640" y="3429000"/>
            <a:ext cx="2423160" cy="868680"/>
          </a:xfrm>
          <a:prstGeom prst="rect">
            <a:avLst/>
          </a:prstGeom>
          <a:noFill/>
          <a:ln/>
        </p:spPr>
        <p:txBody>
          <a:bodyPr wrap="square" rtlCol="0" anchor="t"/>
          <a:lstStyle/>
          <a:p>
            <a:pPr marL="0" indent="0">
              <a:buNone/>
            </a:pPr>
            <a:r>
              <a:rPr lang="en-US" sz="1050">
                <a:solidFill>
                  <a:srgbClr val="2D3436"/>
                </a:solidFill>
                <a:latin typeface="Calibri" pitchFamily="34" charset="0"/>
                <a:ea typeface="Calibri" pitchFamily="34" charset="-122"/>
                <a:cs typeface="Calibri" pitchFamily="34" charset="-120"/>
              </a:rPr>
              <a:t>Sankey forces users to confront budget leaks visually — a table never could. template='plotly_dark' essential.</a:t>
            </a:r>
            <a:endParaRPr lang="en-US" sz="1050"/>
          </a:p>
        </p:txBody>
      </p:sp>
      <p:sp>
        <p:nvSpPr>
          <p:cNvPr id="25" name="Text 23">
            <a:extLst>
              <a:ext uri="{FF2B5EF4-FFF2-40B4-BE49-F238E27FC236}">
                <a16:creationId xmlns:a16="http://schemas.microsoft.com/office/drawing/2014/main" id="{F7273665-76D7-5828-19EF-1F8F13D59D18}"/>
              </a:ext>
            </a:extLst>
          </p:cNvPr>
          <p:cNvSpPr/>
          <p:nvPr/>
        </p:nvSpPr>
        <p:spPr>
          <a:xfrm>
            <a:off x="457200" y="4709160"/>
            <a:ext cx="6400800" cy="320040"/>
          </a:xfrm>
          <a:prstGeom prst="rect">
            <a:avLst/>
          </a:prstGeom>
          <a:noFill/>
          <a:ln/>
        </p:spPr>
        <p:txBody>
          <a:bodyPr wrap="square" rtlCol="0" anchor="ctr"/>
          <a:lstStyle/>
          <a:p>
            <a:pPr marL="0" indent="0">
              <a:buNone/>
            </a:pPr>
            <a:r>
              <a:rPr lang="en-US" sz="900">
                <a:solidFill>
                  <a:srgbClr val="636E72"/>
                </a:solidFill>
                <a:latin typeface="Calibri" pitchFamily="34" charset="0"/>
                <a:ea typeface="Calibri" pitchFamily="34" charset="-122"/>
                <a:cs typeface="Calibri" pitchFamily="34" charset="-120"/>
              </a:rPr>
              <a:t>F.I.R.E. for Effect  |  OA3801</a:t>
            </a:r>
            <a:endParaRPr lang="en-US" sz="900"/>
          </a:p>
        </p:txBody>
      </p:sp>
      <p:sp>
        <p:nvSpPr>
          <p:cNvPr id="26" name="Text 24">
            <a:extLst>
              <a:ext uri="{FF2B5EF4-FFF2-40B4-BE49-F238E27FC236}">
                <a16:creationId xmlns:a16="http://schemas.microsoft.com/office/drawing/2014/main" id="{A91154D4-5D88-4CE0-31B7-8946001D9DFB}"/>
              </a:ext>
            </a:extLst>
          </p:cNvPr>
          <p:cNvSpPr/>
          <p:nvPr/>
        </p:nvSpPr>
        <p:spPr>
          <a:xfrm>
            <a:off x="8229600" y="4709160"/>
            <a:ext cx="640080" cy="320040"/>
          </a:xfrm>
          <a:prstGeom prst="rect">
            <a:avLst/>
          </a:prstGeom>
          <a:noFill/>
          <a:ln/>
        </p:spPr>
        <p:txBody>
          <a:bodyPr wrap="square" rtlCol="0" anchor="ctr"/>
          <a:lstStyle/>
          <a:p>
            <a:pPr marL="0" indent="0" algn="r">
              <a:buNone/>
            </a:pPr>
            <a:r>
              <a:rPr lang="en-US" sz="900">
                <a:solidFill>
                  <a:srgbClr val="636E72"/>
                </a:solidFill>
                <a:latin typeface="Calibri" pitchFamily="34" charset="0"/>
                <a:ea typeface="Calibri" pitchFamily="34" charset="-122"/>
                <a:cs typeface="Calibri" pitchFamily="34" charset="-120"/>
              </a:rPr>
              <a:t>9</a:t>
            </a:r>
            <a:endParaRPr lang="en-US" sz="900"/>
          </a:p>
        </p:txBody>
      </p:sp>
    </p:spTree>
    <p:extLst>
      <p:ext uri="{BB962C8B-B14F-4D97-AF65-F5344CB8AC3E}">
        <p14:creationId xmlns:p14="http://schemas.microsoft.com/office/powerpoint/2010/main" val="3638979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5F5F0"/>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rtlCol="0" anchor="ctr"/>
          <a:lstStyle/>
          <a:p>
            <a:pPr marL="0" indent="0">
              <a:buNone/>
            </a:pPr>
            <a:r>
              <a:rPr lang="en-US" sz="3200" b="1">
                <a:solidFill>
                  <a:srgbClr val="1B2A4A"/>
                </a:solidFill>
                <a:latin typeface="Georgia" pitchFamily="34" charset="0"/>
                <a:ea typeface="Georgia" pitchFamily="34" charset="-122"/>
                <a:cs typeface="Georgia" pitchFamily="34" charset="-120"/>
              </a:rPr>
              <a:t>CASH FLOW SANKEY</a:t>
            </a:r>
            <a:endParaRPr lang="en-US" sz="3200"/>
          </a:p>
        </p:txBody>
      </p:sp>
      <p:sp>
        <p:nvSpPr>
          <p:cNvPr id="3" name="Text 1"/>
          <p:cNvSpPr/>
          <p:nvPr/>
        </p:nvSpPr>
        <p:spPr>
          <a:xfrm>
            <a:off x="548640" y="822960"/>
            <a:ext cx="8046720" cy="365760"/>
          </a:xfrm>
          <a:prstGeom prst="rect">
            <a:avLst/>
          </a:prstGeom>
          <a:noFill/>
          <a:ln/>
        </p:spPr>
        <p:txBody>
          <a:bodyPr wrap="square" rtlCol="0" anchor="ctr"/>
          <a:lstStyle/>
          <a:p>
            <a:pPr marL="0" indent="0">
              <a:buNone/>
            </a:pPr>
            <a:r>
              <a:rPr lang="en-US" sz="1400" i="1">
                <a:solidFill>
                  <a:srgbClr val="636E72"/>
                </a:solidFill>
                <a:latin typeface="Calibri" pitchFamily="34" charset="0"/>
                <a:ea typeface="Calibri" pitchFamily="34" charset="-122"/>
                <a:cs typeface="Calibri" pitchFamily="34" charset="-120"/>
              </a:rPr>
              <a:t>Where is your money actually going? A Sankey forces you to confront it.</a:t>
            </a:r>
            <a:endParaRPr lang="en-US" sz="1400"/>
          </a:p>
        </p:txBody>
      </p:sp>
      <p:sp>
        <p:nvSpPr>
          <p:cNvPr id="4" name="Shape 2"/>
          <p:cNvSpPr/>
          <p:nvPr/>
        </p:nvSpPr>
        <p:spPr>
          <a:xfrm>
            <a:off x="365760" y="1280160"/>
            <a:ext cx="5623560" cy="2240280"/>
          </a:xfrm>
          <a:prstGeom prst="rect">
            <a:avLst/>
          </a:prstGeom>
          <a:solidFill>
            <a:srgbClr val="0D0D0D"/>
          </a:solidFill>
          <a:ln/>
          <a:effectLst>
            <a:outerShdw blurRad="50800" dist="25400" dir="8100000" algn="bl" rotWithShape="0">
              <a:srgbClr val="000000">
                <a:alpha val="12000"/>
              </a:srgbClr>
            </a:outerShdw>
          </a:effectLst>
        </p:spPr>
        <p:txBody>
          <a:bodyPr/>
          <a:lstStyle/>
          <a:p>
            <a:endParaRPr lang="en-US"/>
          </a:p>
        </p:txBody>
      </p:sp>
      <p:pic>
        <p:nvPicPr>
          <p:cNvPr id="5" name="Image 0" descr="/home/claude/sankey_screenshot.png"/>
          <p:cNvPicPr>
            <a:picLocks noChangeAspect="1"/>
          </p:cNvPicPr>
          <p:nvPr/>
        </p:nvPicPr>
        <p:blipFill>
          <a:blip r:embed="rId3"/>
          <a:srcRect/>
          <a:stretch/>
        </p:blipFill>
        <p:spPr>
          <a:xfrm>
            <a:off x="548640" y="1381225"/>
            <a:ext cx="5440680" cy="2057400"/>
          </a:xfrm>
          <a:prstGeom prst="rect">
            <a:avLst/>
          </a:prstGeom>
        </p:spPr>
      </p:pic>
      <p:sp>
        <p:nvSpPr>
          <p:cNvPr id="6" name="Shape 3"/>
          <p:cNvSpPr/>
          <p:nvPr/>
        </p:nvSpPr>
        <p:spPr>
          <a:xfrm>
            <a:off x="457200" y="3611880"/>
            <a:ext cx="5504688" cy="868680"/>
          </a:xfrm>
          <a:prstGeom prst="rect">
            <a:avLst/>
          </a:prstGeom>
          <a:solidFill>
            <a:srgbClr val="FFFFFF"/>
          </a:solidFill>
          <a:ln/>
          <a:effectLst>
            <a:outerShdw blurRad="50800" dist="25400" dir="8100000" algn="bl" rotWithShape="0">
              <a:srgbClr val="000000">
                <a:alpha val="12000"/>
              </a:srgbClr>
            </a:outerShdw>
          </a:effectLst>
        </p:spPr>
        <p:txBody>
          <a:bodyPr/>
          <a:lstStyle/>
          <a:p>
            <a:pPr algn="ctr"/>
            <a:endParaRPr lang="en-US" sz="1400"/>
          </a:p>
        </p:txBody>
      </p:sp>
      <p:sp>
        <p:nvSpPr>
          <p:cNvPr id="7" name="Shape 4"/>
          <p:cNvSpPr/>
          <p:nvPr/>
        </p:nvSpPr>
        <p:spPr>
          <a:xfrm>
            <a:off x="457200" y="3611880"/>
            <a:ext cx="64008" cy="868680"/>
          </a:xfrm>
          <a:prstGeom prst="rect">
            <a:avLst/>
          </a:prstGeom>
          <a:solidFill>
            <a:srgbClr val="C5A55A"/>
          </a:solidFill>
          <a:ln/>
        </p:spPr>
        <p:txBody>
          <a:bodyPr/>
          <a:lstStyle/>
          <a:p>
            <a:endParaRPr lang="en-US"/>
          </a:p>
        </p:txBody>
      </p:sp>
      <p:sp>
        <p:nvSpPr>
          <p:cNvPr id="8" name="Text 5"/>
          <p:cNvSpPr/>
          <p:nvPr/>
        </p:nvSpPr>
        <p:spPr>
          <a:xfrm>
            <a:off x="658368" y="3657600"/>
            <a:ext cx="5303520" cy="777240"/>
          </a:xfrm>
          <a:prstGeom prst="rect">
            <a:avLst/>
          </a:prstGeom>
          <a:noFill/>
          <a:ln/>
        </p:spPr>
        <p:txBody>
          <a:bodyPr wrap="square" rtlCol="0" anchor="t"/>
          <a:lstStyle/>
          <a:p>
            <a:pPr marL="0" indent="0">
              <a:buNone/>
            </a:pPr>
            <a:r>
              <a:rPr lang="en-US" sz="1100" b="1">
                <a:solidFill>
                  <a:srgbClr val="1B2A4A"/>
                </a:solidFill>
                <a:latin typeface="Calibri" pitchFamily="34" charset="0"/>
                <a:ea typeface="Calibri" pitchFamily="34" charset="-122"/>
                <a:cs typeface="Calibri" pitchFamily="34" charset="-120"/>
              </a:rPr>
              <a:t>Why a Sankey and not a pie chart?  </a:t>
            </a:r>
            <a:r>
              <a:rPr lang="en-US" sz="1050">
                <a:solidFill>
                  <a:srgbClr val="2D3436"/>
                </a:solidFill>
                <a:latin typeface="Calibri" pitchFamily="34" charset="0"/>
                <a:ea typeface="Calibri" pitchFamily="34" charset="-122"/>
                <a:cs typeface="Calibri" pitchFamily="34" charset="-120"/>
              </a:rPr>
              <a:t>Sankey diagrams show flow and proportion simultaneously. A budget table tells you the numbers — a Sankey makes you feel them. When the "Surplus" node disappears or goes negative, the deficit is viscerally obvious. Built with </a:t>
            </a:r>
            <a:r>
              <a:rPr lang="en-US" sz="1050" err="1">
                <a:solidFill>
                  <a:srgbClr val="2D3436"/>
                </a:solidFill>
                <a:latin typeface="Calibri" pitchFamily="34" charset="0"/>
                <a:ea typeface="Calibri" pitchFamily="34" charset="-122"/>
                <a:cs typeface="Calibri" pitchFamily="34" charset="-120"/>
              </a:rPr>
              <a:t>Plotly</a:t>
            </a:r>
            <a:r>
              <a:rPr lang="en-US" sz="1050">
                <a:solidFill>
                  <a:srgbClr val="2D3436"/>
                </a:solidFill>
                <a:latin typeface="Calibri" pitchFamily="34" charset="0"/>
                <a:ea typeface="Calibri" pitchFamily="34" charset="-122"/>
                <a:cs typeface="Calibri" pitchFamily="34" charset="-120"/>
              </a:rPr>
              <a:t> </a:t>
            </a:r>
            <a:r>
              <a:rPr lang="en-US" sz="1050" err="1">
                <a:solidFill>
                  <a:srgbClr val="2D3436"/>
                </a:solidFill>
                <a:latin typeface="Calibri" pitchFamily="34" charset="0"/>
                <a:ea typeface="Calibri" pitchFamily="34" charset="-122"/>
                <a:cs typeface="Calibri" pitchFamily="34" charset="-120"/>
              </a:rPr>
              <a:t>go.Sankey</a:t>
            </a:r>
            <a:r>
              <a:rPr lang="en-US" sz="1050">
                <a:solidFill>
                  <a:srgbClr val="2D3436"/>
                </a:solidFill>
                <a:latin typeface="Calibri" pitchFamily="34" charset="0"/>
                <a:ea typeface="Calibri" pitchFamily="34" charset="-122"/>
                <a:cs typeface="Calibri" pitchFamily="34" charset="-120"/>
              </a:rPr>
              <a:t> on a dark theme so the colors pop and the flow reads immediately.</a:t>
            </a:r>
            <a:endParaRPr lang="en-US" sz="1100"/>
          </a:p>
        </p:txBody>
      </p:sp>
      <p:sp>
        <p:nvSpPr>
          <p:cNvPr id="9" name="Text 6"/>
          <p:cNvSpPr/>
          <p:nvPr/>
        </p:nvSpPr>
        <p:spPr>
          <a:xfrm>
            <a:off x="457200" y="4709160"/>
            <a:ext cx="6400800" cy="320040"/>
          </a:xfrm>
          <a:prstGeom prst="rect">
            <a:avLst/>
          </a:prstGeom>
          <a:noFill/>
          <a:ln/>
        </p:spPr>
        <p:txBody>
          <a:bodyPr wrap="square" rtlCol="0" anchor="ctr"/>
          <a:lstStyle/>
          <a:p>
            <a:pPr marL="0" indent="0">
              <a:buNone/>
            </a:pPr>
            <a:r>
              <a:rPr lang="en-US" sz="900">
                <a:solidFill>
                  <a:srgbClr val="636E72"/>
                </a:solidFill>
                <a:latin typeface="Calibri" pitchFamily="34" charset="0"/>
                <a:ea typeface="Calibri" pitchFamily="34" charset="-122"/>
                <a:cs typeface="Calibri" pitchFamily="34" charset="-120"/>
              </a:rPr>
              <a:t>F.I.R.E. for Effect  |  OA3801</a:t>
            </a:r>
            <a:endParaRPr lang="en-US" sz="900"/>
          </a:p>
        </p:txBody>
      </p:sp>
      <p:sp>
        <p:nvSpPr>
          <p:cNvPr id="10" name="Text 7"/>
          <p:cNvSpPr/>
          <p:nvPr/>
        </p:nvSpPr>
        <p:spPr>
          <a:xfrm>
            <a:off x="8229600" y="4709160"/>
            <a:ext cx="640080" cy="320040"/>
          </a:xfrm>
          <a:prstGeom prst="rect">
            <a:avLst/>
          </a:prstGeom>
          <a:noFill/>
          <a:ln/>
        </p:spPr>
        <p:txBody>
          <a:bodyPr wrap="square" rtlCol="0" anchor="ctr"/>
          <a:lstStyle/>
          <a:p>
            <a:pPr marL="0" indent="0" algn="r">
              <a:buNone/>
            </a:pPr>
            <a:r>
              <a:rPr lang="en-US" sz="900">
                <a:solidFill>
                  <a:srgbClr val="636E72"/>
                </a:solidFill>
                <a:latin typeface="Calibri" pitchFamily="34" charset="0"/>
                <a:ea typeface="Calibri" pitchFamily="34" charset="-122"/>
                <a:cs typeface="Calibri" pitchFamily="34" charset="-120"/>
              </a:rPr>
              <a:t>7</a:t>
            </a:r>
            <a:endParaRPr lang="en-US" sz="900"/>
          </a:p>
        </p:txBody>
      </p:sp>
      <p:sp>
        <p:nvSpPr>
          <p:cNvPr id="11" name="Shape 10">
            <a:extLst>
              <a:ext uri="{FF2B5EF4-FFF2-40B4-BE49-F238E27FC236}">
                <a16:creationId xmlns:a16="http://schemas.microsoft.com/office/drawing/2014/main" id="{6234F912-A16D-7CE5-06F3-A22EE53DDC3A}"/>
              </a:ext>
            </a:extLst>
          </p:cNvPr>
          <p:cNvSpPr/>
          <p:nvPr/>
        </p:nvSpPr>
        <p:spPr>
          <a:xfrm>
            <a:off x="6126480" y="1188720"/>
            <a:ext cx="2697480" cy="32918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2" name="Shape 11">
            <a:extLst>
              <a:ext uri="{FF2B5EF4-FFF2-40B4-BE49-F238E27FC236}">
                <a16:creationId xmlns:a16="http://schemas.microsoft.com/office/drawing/2014/main" id="{F520AA26-3F50-AF11-9670-5E878507F16D}"/>
              </a:ext>
            </a:extLst>
          </p:cNvPr>
          <p:cNvSpPr/>
          <p:nvPr/>
        </p:nvSpPr>
        <p:spPr>
          <a:xfrm>
            <a:off x="6126480" y="1234440"/>
            <a:ext cx="2697480" cy="640080"/>
          </a:xfrm>
          <a:prstGeom prst="rect">
            <a:avLst/>
          </a:prstGeom>
          <a:solidFill>
            <a:srgbClr val="1B2A4A"/>
          </a:solidFill>
          <a:ln/>
        </p:spPr>
        <p:txBody>
          <a:bodyPr/>
          <a:lstStyle/>
          <a:p>
            <a:endParaRPr lang="en-US"/>
          </a:p>
        </p:txBody>
      </p:sp>
      <p:sp>
        <p:nvSpPr>
          <p:cNvPr id="13" name="Text 12">
            <a:extLst>
              <a:ext uri="{FF2B5EF4-FFF2-40B4-BE49-F238E27FC236}">
                <a16:creationId xmlns:a16="http://schemas.microsoft.com/office/drawing/2014/main" id="{D2860DC4-585D-205B-9CF4-909B3A9A8122}"/>
              </a:ext>
            </a:extLst>
          </p:cNvPr>
          <p:cNvSpPr/>
          <p:nvPr/>
        </p:nvSpPr>
        <p:spPr>
          <a:xfrm>
            <a:off x="6217920" y="1234440"/>
            <a:ext cx="2514600" cy="640080"/>
          </a:xfrm>
          <a:prstGeom prst="rect">
            <a:avLst/>
          </a:prstGeom>
          <a:noFill/>
          <a:ln/>
        </p:spPr>
        <p:txBody>
          <a:bodyPr wrap="square" rtlCol="0" anchor="ctr"/>
          <a:lstStyle/>
          <a:p>
            <a:pPr marL="0" indent="0" algn="ctr">
              <a:buNone/>
            </a:pPr>
            <a:r>
              <a:rPr lang="en-US" sz="1300" b="1">
                <a:solidFill>
                  <a:srgbClr val="FFFFFF"/>
                </a:solidFill>
                <a:latin typeface="Georgia" pitchFamily="34" charset="0"/>
                <a:ea typeface="Georgia" pitchFamily="34" charset="-122"/>
                <a:cs typeface="Georgia" pitchFamily="34" charset="-120"/>
              </a:rPr>
              <a:t>Cash Flow Sankey</a:t>
            </a:r>
            <a:endParaRPr lang="en-US" sz="1300"/>
          </a:p>
        </p:txBody>
      </p:sp>
      <p:sp>
        <p:nvSpPr>
          <p:cNvPr id="14" name="Text 13">
            <a:extLst>
              <a:ext uri="{FF2B5EF4-FFF2-40B4-BE49-F238E27FC236}">
                <a16:creationId xmlns:a16="http://schemas.microsoft.com/office/drawing/2014/main" id="{C62B3BCC-A6F0-EE42-7005-EC316C496427}"/>
              </a:ext>
            </a:extLst>
          </p:cNvPr>
          <p:cNvSpPr/>
          <p:nvPr/>
        </p:nvSpPr>
        <p:spPr>
          <a:xfrm>
            <a:off x="6263640" y="1978429"/>
            <a:ext cx="2423160" cy="3084022"/>
          </a:xfrm>
          <a:prstGeom prst="rect">
            <a:avLst/>
          </a:prstGeom>
          <a:noFill/>
          <a:ln/>
        </p:spPr>
        <p:txBody>
          <a:bodyPr wrap="square" rtlCol="0" anchor="t"/>
          <a:lstStyle/>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Gross → Taxes → Take-Home → Fixed / Invest / Guilt-Free / Surplus</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Node width proportional to actual dollar flow</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LES-mode or formula-mode input</a:t>
            </a:r>
            <a:endParaRPr lang="en-US" sz="1100"/>
          </a:p>
          <a:p>
            <a:pPr marL="342900" indent="-342900">
              <a:spcAft>
                <a:spcPts val="500"/>
              </a:spcAft>
              <a:buSzPct val="100000"/>
              <a:buChar char="•"/>
            </a:pPr>
            <a:r>
              <a:rPr lang="en-US" sz="1100">
                <a:solidFill>
                  <a:srgbClr val="2D3436"/>
                </a:solidFill>
                <a:latin typeface="Calibri" pitchFamily="34" charset="0"/>
                <a:ea typeface="Calibri" pitchFamily="34" charset="-122"/>
                <a:cs typeface="Calibri" pitchFamily="34" charset="-120"/>
              </a:rPr>
              <a:t>Deficit detection with red warning</a:t>
            </a:r>
            <a:endParaRPr lang="en-US" sz="1100"/>
          </a:p>
          <a:p>
            <a:pPr marL="342900" indent="-342900">
              <a:spcAft>
                <a:spcPts val="500"/>
              </a:spcAft>
              <a:buSzPct val="100000"/>
              <a:buChar char="•"/>
            </a:pPr>
            <a:r>
              <a:rPr lang="en-US" sz="1100" err="1">
                <a:solidFill>
                  <a:srgbClr val="2D3436"/>
                </a:solidFill>
                <a:latin typeface="Calibri" pitchFamily="34" charset="0"/>
                <a:ea typeface="Calibri" pitchFamily="34" charset="-122"/>
                <a:cs typeface="Calibri" pitchFamily="34" charset="-120"/>
              </a:rPr>
              <a:t>Plotly</a:t>
            </a:r>
            <a:r>
              <a:rPr lang="en-US" sz="1100">
                <a:solidFill>
                  <a:srgbClr val="2D3436"/>
                </a:solidFill>
                <a:latin typeface="Calibri" pitchFamily="34" charset="0"/>
                <a:ea typeface="Calibri" pitchFamily="34" charset="-122"/>
                <a:cs typeface="Calibri" pitchFamily="34" charset="-120"/>
              </a:rPr>
              <a:t> </a:t>
            </a:r>
            <a:r>
              <a:rPr lang="en-US" sz="1100" err="1">
                <a:solidFill>
                  <a:srgbClr val="2D3436"/>
                </a:solidFill>
                <a:latin typeface="Calibri" pitchFamily="34" charset="0"/>
                <a:ea typeface="Calibri" pitchFamily="34" charset="-122"/>
                <a:cs typeface="Calibri" pitchFamily="34" charset="-120"/>
              </a:rPr>
              <a:t>go.Sankey</a:t>
            </a:r>
            <a:r>
              <a:rPr lang="en-US" sz="1100">
                <a:solidFill>
                  <a:srgbClr val="2D3436"/>
                </a:solidFill>
                <a:latin typeface="Calibri" pitchFamily="34" charset="0"/>
                <a:ea typeface="Calibri" pitchFamily="34" charset="-122"/>
                <a:cs typeface="Calibri" pitchFamily="34" charset="-120"/>
              </a:rPr>
              <a:t>, dark theme</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A30"/>
        </a:solidFill>
        <a:effectLst/>
      </p:bgPr>
    </p:bg>
    <p:spTree>
      <p:nvGrpSpPr>
        <p:cNvPr id="1" name="">
          <a:extLst>
            <a:ext uri="{FF2B5EF4-FFF2-40B4-BE49-F238E27FC236}">
              <a16:creationId xmlns:a16="http://schemas.microsoft.com/office/drawing/2014/main" id="{FEAFEA57-80BA-AB58-E451-0BDF5EAF89E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C719B0A-6D62-2A10-E19E-E000BC47089F}"/>
              </a:ext>
            </a:extLst>
          </p:cNvPr>
          <p:cNvSpPr/>
          <p:nvPr/>
        </p:nvSpPr>
        <p:spPr>
          <a:xfrm>
            <a:off x="0" y="0"/>
            <a:ext cx="9144000" cy="54864"/>
          </a:xfrm>
          <a:prstGeom prst="rect">
            <a:avLst/>
          </a:prstGeom>
          <a:solidFill>
            <a:srgbClr val="C5A55A"/>
          </a:solidFill>
          <a:ln/>
        </p:spPr>
        <p:txBody>
          <a:bodyPr/>
          <a:lstStyle/>
          <a:p>
            <a:endParaRPr lang="en-US"/>
          </a:p>
        </p:txBody>
      </p:sp>
      <p:sp>
        <p:nvSpPr>
          <p:cNvPr id="3" name="Text 1">
            <a:extLst>
              <a:ext uri="{FF2B5EF4-FFF2-40B4-BE49-F238E27FC236}">
                <a16:creationId xmlns:a16="http://schemas.microsoft.com/office/drawing/2014/main" id="{C15A9C5F-5DD7-FD11-3AC0-CA22E24F5A3E}"/>
              </a:ext>
            </a:extLst>
          </p:cNvPr>
          <p:cNvSpPr/>
          <p:nvPr/>
        </p:nvSpPr>
        <p:spPr>
          <a:xfrm>
            <a:off x="548640" y="228600"/>
            <a:ext cx="8046720" cy="640080"/>
          </a:xfrm>
          <a:prstGeom prst="rect">
            <a:avLst/>
          </a:prstGeom>
          <a:noFill/>
          <a:ln/>
        </p:spPr>
        <p:txBody>
          <a:bodyPr wrap="square" rtlCol="0" anchor="ctr"/>
          <a:lstStyle/>
          <a:p>
            <a:pPr marL="0" indent="0">
              <a:buNone/>
            </a:pPr>
            <a:r>
              <a:rPr lang="en-US" sz="3200" b="1">
                <a:solidFill>
                  <a:srgbClr val="FFFFFF"/>
                </a:solidFill>
                <a:latin typeface="Georgia" pitchFamily="34" charset="0"/>
                <a:ea typeface="Georgia" pitchFamily="34" charset="-122"/>
                <a:cs typeface="Georgia" pitchFamily="34" charset="-120"/>
              </a:rPr>
              <a:t>LESSONS LEARNED/NOVELTY</a:t>
            </a:r>
            <a:endParaRPr lang="en-US" sz="3200"/>
          </a:p>
        </p:txBody>
      </p:sp>
      <p:sp>
        <p:nvSpPr>
          <p:cNvPr id="4" name="Text 2">
            <a:extLst>
              <a:ext uri="{FF2B5EF4-FFF2-40B4-BE49-F238E27FC236}">
                <a16:creationId xmlns:a16="http://schemas.microsoft.com/office/drawing/2014/main" id="{8EE96447-77BB-88A4-3A7A-39E2EFAB75C6}"/>
              </a:ext>
            </a:extLst>
          </p:cNvPr>
          <p:cNvSpPr/>
          <p:nvPr/>
        </p:nvSpPr>
        <p:spPr>
          <a:xfrm>
            <a:off x="640080" y="960120"/>
            <a:ext cx="2011680" cy="640080"/>
          </a:xfrm>
          <a:prstGeom prst="rect">
            <a:avLst/>
          </a:prstGeom>
          <a:noFill/>
          <a:ln/>
        </p:spPr>
        <p:txBody>
          <a:bodyPr wrap="square" rtlCol="0" anchor="t"/>
          <a:lstStyle/>
          <a:p>
            <a:pPr marL="0" indent="0">
              <a:buNone/>
            </a:pPr>
            <a:r>
              <a:rPr lang="en-US" sz="1200" b="1">
                <a:solidFill>
                  <a:srgbClr val="C5A55A"/>
                </a:solidFill>
                <a:latin typeface="Georgia" pitchFamily="34" charset="0"/>
                <a:ea typeface="Georgia" pitchFamily="34" charset="-122"/>
                <a:cs typeface="Georgia" pitchFamily="34" charset="-120"/>
              </a:rPr>
              <a:t>Monte Carlo Complexity</a:t>
            </a:r>
            <a:endParaRPr lang="en-US" sz="1200"/>
          </a:p>
        </p:txBody>
      </p:sp>
      <p:sp>
        <p:nvSpPr>
          <p:cNvPr id="6" name="Text 4">
            <a:extLst>
              <a:ext uri="{FF2B5EF4-FFF2-40B4-BE49-F238E27FC236}">
                <a16:creationId xmlns:a16="http://schemas.microsoft.com/office/drawing/2014/main" id="{69FD241A-9CB6-5FD5-4CF9-B948292768C5}"/>
              </a:ext>
            </a:extLst>
          </p:cNvPr>
          <p:cNvSpPr/>
          <p:nvPr/>
        </p:nvSpPr>
        <p:spPr>
          <a:xfrm>
            <a:off x="640080" y="1709928"/>
            <a:ext cx="2011680" cy="640080"/>
          </a:xfrm>
          <a:prstGeom prst="rect">
            <a:avLst/>
          </a:prstGeom>
          <a:noFill/>
          <a:ln/>
        </p:spPr>
        <p:txBody>
          <a:bodyPr wrap="square" rtlCol="0" anchor="t"/>
          <a:lstStyle/>
          <a:p>
            <a:pPr marL="0" indent="0">
              <a:buNone/>
            </a:pPr>
            <a:r>
              <a:rPr lang="en-US" sz="1200" b="1">
                <a:solidFill>
                  <a:srgbClr val="C5A55A"/>
                </a:solidFill>
                <a:latin typeface="Georgia" pitchFamily="34" charset="0"/>
                <a:ea typeface="Georgia" pitchFamily="34" charset="-122"/>
                <a:cs typeface="Georgia" pitchFamily="34" charset="-120"/>
              </a:rPr>
              <a:t>GitHub Collaboration</a:t>
            </a:r>
            <a:endParaRPr lang="en-US" sz="1200"/>
          </a:p>
        </p:txBody>
      </p:sp>
      <p:sp>
        <p:nvSpPr>
          <p:cNvPr id="8" name="Text 6">
            <a:extLst>
              <a:ext uri="{FF2B5EF4-FFF2-40B4-BE49-F238E27FC236}">
                <a16:creationId xmlns:a16="http://schemas.microsoft.com/office/drawing/2014/main" id="{F350D887-A6AA-B05A-F535-C79ADE6B4CBF}"/>
              </a:ext>
            </a:extLst>
          </p:cNvPr>
          <p:cNvSpPr/>
          <p:nvPr/>
        </p:nvSpPr>
        <p:spPr>
          <a:xfrm>
            <a:off x="640080" y="2459736"/>
            <a:ext cx="2011680" cy="640080"/>
          </a:xfrm>
          <a:prstGeom prst="rect">
            <a:avLst/>
          </a:prstGeom>
          <a:noFill/>
          <a:ln/>
        </p:spPr>
        <p:txBody>
          <a:bodyPr wrap="square" rtlCol="0" anchor="t"/>
          <a:lstStyle/>
          <a:p>
            <a:pPr marL="0" indent="0">
              <a:buNone/>
            </a:pPr>
            <a:r>
              <a:rPr lang="en-US" sz="1200" b="1">
                <a:solidFill>
                  <a:srgbClr val="C5A55A"/>
                </a:solidFill>
                <a:latin typeface="Georgia" pitchFamily="34" charset="0"/>
                <a:ea typeface="Georgia" pitchFamily="34" charset="-122"/>
                <a:cs typeface="Georgia" pitchFamily="34" charset="-120"/>
              </a:rPr>
              <a:t>Streamlit Limitations</a:t>
            </a:r>
            <a:endParaRPr lang="en-US" sz="1200"/>
          </a:p>
        </p:txBody>
      </p:sp>
      <p:sp>
        <p:nvSpPr>
          <p:cNvPr id="10" name="Text 8">
            <a:extLst>
              <a:ext uri="{FF2B5EF4-FFF2-40B4-BE49-F238E27FC236}">
                <a16:creationId xmlns:a16="http://schemas.microsoft.com/office/drawing/2014/main" id="{807869BE-90E1-D61B-1F11-80D7B032A233}"/>
              </a:ext>
            </a:extLst>
          </p:cNvPr>
          <p:cNvSpPr/>
          <p:nvPr/>
        </p:nvSpPr>
        <p:spPr>
          <a:xfrm>
            <a:off x="640080" y="3209544"/>
            <a:ext cx="2011680" cy="640080"/>
          </a:xfrm>
          <a:prstGeom prst="rect">
            <a:avLst/>
          </a:prstGeom>
          <a:noFill/>
          <a:ln/>
        </p:spPr>
        <p:txBody>
          <a:bodyPr wrap="square" rtlCol="0" anchor="t"/>
          <a:lstStyle/>
          <a:p>
            <a:pPr marL="0" indent="0">
              <a:buNone/>
            </a:pPr>
            <a:r>
              <a:rPr lang="en-US" sz="1200" b="1">
                <a:solidFill>
                  <a:srgbClr val="C5A55A"/>
                </a:solidFill>
                <a:latin typeface="Georgia" pitchFamily="34" charset="0"/>
                <a:ea typeface="Georgia" pitchFamily="34" charset="-122"/>
                <a:cs typeface="Georgia" pitchFamily="34" charset="-120"/>
              </a:rPr>
              <a:t>Usage Analytics (Google Sheets)</a:t>
            </a:r>
            <a:endParaRPr lang="en-US" sz="1200"/>
          </a:p>
        </p:txBody>
      </p:sp>
      <p:sp>
        <p:nvSpPr>
          <p:cNvPr id="12" name="Text 10">
            <a:extLst>
              <a:ext uri="{FF2B5EF4-FFF2-40B4-BE49-F238E27FC236}">
                <a16:creationId xmlns:a16="http://schemas.microsoft.com/office/drawing/2014/main" id="{E2910BB0-906B-AF62-CF68-2C3D9DD605FB}"/>
              </a:ext>
            </a:extLst>
          </p:cNvPr>
          <p:cNvSpPr/>
          <p:nvPr/>
        </p:nvSpPr>
        <p:spPr>
          <a:xfrm>
            <a:off x="640080" y="3959352"/>
            <a:ext cx="2011680" cy="640080"/>
          </a:xfrm>
          <a:prstGeom prst="rect">
            <a:avLst/>
          </a:prstGeom>
          <a:noFill/>
          <a:ln/>
        </p:spPr>
        <p:txBody>
          <a:bodyPr wrap="square" rtlCol="0" anchor="t"/>
          <a:lstStyle/>
          <a:p>
            <a:pPr marL="0" indent="0">
              <a:buNone/>
            </a:pPr>
            <a:r>
              <a:rPr lang="en-US" sz="1200" b="1">
                <a:solidFill>
                  <a:srgbClr val="C5A55A"/>
                </a:solidFill>
                <a:latin typeface="Georgia" pitchFamily="34" charset="0"/>
                <a:ea typeface="Georgia" pitchFamily="34" charset="-122"/>
                <a:cs typeface="Georgia" pitchFamily="34" charset="-120"/>
              </a:rPr>
              <a:t>TSP API Failure in Production</a:t>
            </a:r>
            <a:endParaRPr lang="en-US" sz="1200"/>
          </a:p>
        </p:txBody>
      </p:sp>
      <p:sp>
        <p:nvSpPr>
          <p:cNvPr id="14" name="Text 12">
            <a:extLst>
              <a:ext uri="{FF2B5EF4-FFF2-40B4-BE49-F238E27FC236}">
                <a16:creationId xmlns:a16="http://schemas.microsoft.com/office/drawing/2014/main" id="{57EF7130-B89F-1A6A-161D-AB7C7C639287}"/>
              </a:ext>
            </a:extLst>
          </p:cNvPr>
          <p:cNvSpPr/>
          <p:nvPr/>
        </p:nvSpPr>
        <p:spPr>
          <a:xfrm>
            <a:off x="457200" y="4709160"/>
            <a:ext cx="6400800" cy="320040"/>
          </a:xfrm>
          <a:prstGeom prst="rect">
            <a:avLst/>
          </a:prstGeom>
          <a:noFill/>
          <a:ln/>
        </p:spPr>
        <p:txBody>
          <a:bodyPr wrap="square" rtlCol="0" anchor="ctr"/>
          <a:lstStyle/>
          <a:p>
            <a:pPr marL="0" indent="0">
              <a:buNone/>
            </a:pPr>
            <a:r>
              <a:rPr lang="en-US" sz="900">
                <a:solidFill>
                  <a:srgbClr val="8899AA"/>
                </a:solidFill>
                <a:latin typeface="Calibri" pitchFamily="34" charset="0"/>
                <a:ea typeface="Calibri" pitchFamily="34" charset="-122"/>
                <a:cs typeface="Calibri" pitchFamily="34" charset="-120"/>
              </a:rPr>
              <a:t>F.I.R.E. for Effect  |  OA3801</a:t>
            </a:r>
            <a:endParaRPr lang="en-US" sz="900"/>
          </a:p>
        </p:txBody>
      </p:sp>
      <p:sp>
        <p:nvSpPr>
          <p:cNvPr id="15" name="Text 13">
            <a:extLst>
              <a:ext uri="{FF2B5EF4-FFF2-40B4-BE49-F238E27FC236}">
                <a16:creationId xmlns:a16="http://schemas.microsoft.com/office/drawing/2014/main" id="{C8E387FB-11F1-DE25-2C43-D595B5290968}"/>
              </a:ext>
            </a:extLst>
          </p:cNvPr>
          <p:cNvSpPr/>
          <p:nvPr/>
        </p:nvSpPr>
        <p:spPr>
          <a:xfrm>
            <a:off x="8229600" y="4709160"/>
            <a:ext cx="640080" cy="320040"/>
          </a:xfrm>
          <a:prstGeom prst="rect">
            <a:avLst/>
          </a:prstGeom>
          <a:noFill/>
          <a:ln/>
        </p:spPr>
        <p:txBody>
          <a:bodyPr wrap="square" rtlCol="0" anchor="ctr"/>
          <a:lstStyle/>
          <a:p>
            <a:pPr marL="0" indent="0" algn="r">
              <a:buNone/>
            </a:pPr>
            <a:r>
              <a:rPr lang="en-US" sz="900">
                <a:solidFill>
                  <a:srgbClr val="8899AA"/>
                </a:solidFill>
                <a:latin typeface="Calibri" pitchFamily="34" charset="0"/>
                <a:ea typeface="Calibri" pitchFamily="34" charset="-122"/>
                <a:cs typeface="Calibri" pitchFamily="34" charset="-120"/>
              </a:rPr>
              <a:t>11</a:t>
            </a:r>
            <a:endParaRPr lang="en-US" sz="900"/>
          </a:p>
        </p:txBody>
      </p:sp>
      <p:pic>
        <p:nvPicPr>
          <p:cNvPr id="17" name="Picture 16" descr="A person in a garment&#10;&#10;AI-generated content may be incorrect.">
            <a:extLst>
              <a:ext uri="{FF2B5EF4-FFF2-40B4-BE49-F238E27FC236}">
                <a16:creationId xmlns:a16="http://schemas.microsoft.com/office/drawing/2014/main" id="{91FEAD1C-FA32-82D4-9C1E-AD9D0AEA1D29}"/>
              </a:ext>
            </a:extLst>
          </p:cNvPr>
          <p:cNvPicPr>
            <a:picLocks noChangeAspect="1"/>
          </p:cNvPicPr>
          <p:nvPr/>
        </p:nvPicPr>
        <p:blipFill>
          <a:blip r:embed="rId3"/>
          <a:stretch>
            <a:fillRect/>
          </a:stretch>
        </p:blipFill>
        <p:spPr>
          <a:xfrm>
            <a:off x="4169228" y="1024128"/>
            <a:ext cx="2852058" cy="1677682"/>
          </a:xfrm>
          <a:prstGeom prst="rect">
            <a:avLst/>
          </a:prstGeom>
        </p:spPr>
      </p:pic>
      <p:pic>
        <p:nvPicPr>
          <p:cNvPr id="19" name="Picture 18" descr="A cartoon character with a rainbow&#10;&#10;AI-generated content may be incorrect.">
            <a:extLst>
              <a:ext uri="{FF2B5EF4-FFF2-40B4-BE49-F238E27FC236}">
                <a16:creationId xmlns:a16="http://schemas.microsoft.com/office/drawing/2014/main" id="{472F1ED7-1311-2F60-2498-018E4A1E9EF9}"/>
              </a:ext>
            </a:extLst>
          </p:cNvPr>
          <p:cNvPicPr>
            <a:picLocks noChangeAspect="1"/>
          </p:cNvPicPr>
          <p:nvPr/>
        </p:nvPicPr>
        <p:blipFill>
          <a:blip r:embed="rId4"/>
          <a:stretch>
            <a:fillRect/>
          </a:stretch>
        </p:blipFill>
        <p:spPr>
          <a:xfrm>
            <a:off x="4169228" y="2888001"/>
            <a:ext cx="2852058" cy="2012243"/>
          </a:xfrm>
          <a:prstGeom prst="rect">
            <a:avLst/>
          </a:prstGeom>
        </p:spPr>
      </p:pic>
    </p:spTree>
    <p:extLst>
      <p:ext uri="{BB962C8B-B14F-4D97-AF65-F5344CB8AC3E}">
        <p14:creationId xmlns:p14="http://schemas.microsoft.com/office/powerpoint/2010/main" val="868609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Slide 11">
    <p:bg>
      <p:bgPr>
        <a:solidFill>
          <a:srgbClr val="0F1A30"/>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C5A55A"/>
          </a:solidFill>
          <a:ln/>
        </p:spPr>
        <p:txBody>
          <a:bodyPr/>
          <a:lstStyle/>
          <a:p>
            <a:endParaRPr lang="en-US"/>
          </a:p>
        </p:txBody>
      </p:sp>
      <p:sp>
        <p:nvSpPr>
          <p:cNvPr id="3" name="Text 1"/>
          <p:cNvSpPr/>
          <p:nvPr/>
        </p:nvSpPr>
        <p:spPr>
          <a:xfrm>
            <a:off x="548640" y="228600"/>
            <a:ext cx="8046720" cy="640080"/>
          </a:xfrm>
          <a:prstGeom prst="rect">
            <a:avLst/>
          </a:prstGeom>
          <a:noFill/>
          <a:ln/>
        </p:spPr>
        <p:txBody>
          <a:bodyPr wrap="square" rtlCol="0" anchor="ctr"/>
          <a:lstStyle/>
          <a:p>
            <a:pPr marL="0" indent="0">
              <a:buNone/>
            </a:pPr>
            <a:r>
              <a:rPr lang="en-US" sz="3200" b="1">
                <a:solidFill>
                  <a:srgbClr val="FFFFFF"/>
                </a:solidFill>
                <a:latin typeface="Georgia" pitchFamily="34" charset="0"/>
                <a:ea typeface="Georgia" pitchFamily="34" charset="-122"/>
                <a:cs typeface="Georgia" pitchFamily="34" charset="-120"/>
              </a:rPr>
              <a:t>LESSONS LEARNED/NOVELTY</a:t>
            </a:r>
            <a:endParaRPr lang="en-US" sz="3200"/>
          </a:p>
        </p:txBody>
      </p:sp>
      <p:sp>
        <p:nvSpPr>
          <p:cNvPr id="4" name="Text 2"/>
          <p:cNvSpPr/>
          <p:nvPr/>
        </p:nvSpPr>
        <p:spPr>
          <a:xfrm>
            <a:off x="640080" y="960120"/>
            <a:ext cx="2011680" cy="640080"/>
          </a:xfrm>
          <a:prstGeom prst="rect">
            <a:avLst/>
          </a:prstGeom>
          <a:noFill/>
          <a:ln/>
        </p:spPr>
        <p:txBody>
          <a:bodyPr wrap="square" rtlCol="0" anchor="t"/>
          <a:lstStyle/>
          <a:p>
            <a:pPr marL="0" indent="0">
              <a:buNone/>
            </a:pPr>
            <a:r>
              <a:rPr lang="en-US" sz="1200" b="1">
                <a:solidFill>
                  <a:srgbClr val="C5A55A"/>
                </a:solidFill>
                <a:latin typeface="Georgia" pitchFamily="34" charset="0"/>
                <a:ea typeface="Georgia" pitchFamily="34" charset="-122"/>
                <a:cs typeface="Georgia" pitchFamily="34" charset="-120"/>
              </a:rPr>
              <a:t>Monte Carlo Complexity</a:t>
            </a:r>
            <a:endParaRPr lang="en-US" sz="1200"/>
          </a:p>
        </p:txBody>
      </p:sp>
      <p:sp>
        <p:nvSpPr>
          <p:cNvPr id="5" name="Text 3"/>
          <p:cNvSpPr/>
          <p:nvPr/>
        </p:nvSpPr>
        <p:spPr>
          <a:xfrm>
            <a:off x="2743200" y="960120"/>
            <a:ext cx="5943600" cy="658368"/>
          </a:xfrm>
          <a:prstGeom prst="rect">
            <a:avLst/>
          </a:prstGeom>
          <a:noFill/>
          <a:ln/>
        </p:spPr>
        <p:txBody>
          <a:bodyPr wrap="square" rtlCol="0" anchor="t"/>
          <a:lstStyle/>
          <a:p>
            <a:pPr marL="0" indent="0">
              <a:buNone/>
            </a:pPr>
            <a:r>
              <a:rPr lang="en-US" sz="1000">
                <a:solidFill>
                  <a:srgbClr val="CCDDEE"/>
                </a:solidFill>
                <a:latin typeface="Calibri" pitchFamily="34" charset="0"/>
                <a:ea typeface="Calibri" pitchFamily="34" charset="-122"/>
                <a:cs typeface="Calibri" pitchFamily="34" charset="-120"/>
              </a:rPr>
              <a:t>Adding promotion-aware contributions, gliding lifecycle allocations, and per-fund parametric draws to an already complex simulation created cascading calibration issues. The seed-bias bug (S-fund at 8.6% vs ~55%) took days to isolate — the fix was switching from pool sampling to fresh Normal draws.</a:t>
            </a:r>
            <a:endParaRPr lang="en-US" sz="1000"/>
          </a:p>
        </p:txBody>
      </p:sp>
      <p:sp>
        <p:nvSpPr>
          <p:cNvPr id="6" name="Text 4"/>
          <p:cNvSpPr/>
          <p:nvPr/>
        </p:nvSpPr>
        <p:spPr>
          <a:xfrm>
            <a:off x="640080" y="1709928"/>
            <a:ext cx="2011680" cy="640080"/>
          </a:xfrm>
          <a:prstGeom prst="rect">
            <a:avLst/>
          </a:prstGeom>
          <a:noFill/>
          <a:ln/>
        </p:spPr>
        <p:txBody>
          <a:bodyPr wrap="square" rtlCol="0" anchor="t"/>
          <a:lstStyle/>
          <a:p>
            <a:pPr marL="0" indent="0">
              <a:buNone/>
            </a:pPr>
            <a:r>
              <a:rPr lang="en-US" sz="1200" b="1">
                <a:solidFill>
                  <a:srgbClr val="C5A55A"/>
                </a:solidFill>
                <a:latin typeface="Georgia" pitchFamily="34" charset="0"/>
                <a:ea typeface="Georgia" pitchFamily="34" charset="-122"/>
                <a:cs typeface="Georgia" pitchFamily="34" charset="-120"/>
              </a:rPr>
              <a:t>GitHub Collaboration</a:t>
            </a:r>
            <a:endParaRPr lang="en-US" sz="1200"/>
          </a:p>
        </p:txBody>
      </p:sp>
      <p:sp>
        <p:nvSpPr>
          <p:cNvPr id="7" name="Text 5"/>
          <p:cNvSpPr/>
          <p:nvPr/>
        </p:nvSpPr>
        <p:spPr>
          <a:xfrm>
            <a:off x="2743200" y="1709928"/>
            <a:ext cx="5943600" cy="658368"/>
          </a:xfrm>
          <a:prstGeom prst="rect">
            <a:avLst/>
          </a:prstGeom>
          <a:noFill/>
          <a:ln/>
        </p:spPr>
        <p:txBody>
          <a:bodyPr wrap="square" lIns="91440" tIns="45720" rIns="91440" bIns="45720" rtlCol="0" anchor="t"/>
          <a:lstStyle/>
          <a:p>
            <a:pPr marL="0" indent="0">
              <a:buNone/>
            </a:pPr>
            <a:r>
              <a:rPr lang="en-US" sz="1000">
                <a:solidFill>
                  <a:srgbClr val="CCDDEE"/>
                </a:solidFill>
                <a:latin typeface="Calibri"/>
                <a:ea typeface="Calibri"/>
                <a:cs typeface="Calibri"/>
              </a:rPr>
              <a:t>Merge conflicts in a 3,000-line+ single-file app were brutal. Learned the hard way to coordinate on sections, use branches, and avoid simultaneous edits to </a:t>
            </a:r>
            <a:r>
              <a:rPr lang="en-US" sz="1000" err="1">
                <a:solidFill>
                  <a:srgbClr val="CCDDEE"/>
                </a:solidFill>
                <a:latin typeface="Calibri"/>
                <a:ea typeface="Calibri"/>
                <a:cs typeface="Calibri"/>
              </a:rPr>
              <a:t>session_state</a:t>
            </a:r>
            <a:r>
              <a:rPr lang="en-US" sz="1000">
                <a:solidFill>
                  <a:srgbClr val="CCDDEE"/>
                </a:solidFill>
                <a:latin typeface="Calibri"/>
                <a:ea typeface="Calibri"/>
                <a:cs typeface="Calibri"/>
              </a:rPr>
              <a:t> keys. Next time: multi-page </a:t>
            </a:r>
            <a:r>
              <a:rPr lang="en-US" sz="1000" err="1">
                <a:solidFill>
                  <a:srgbClr val="CCDDEE"/>
                </a:solidFill>
                <a:latin typeface="Calibri"/>
                <a:ea typeface="Calibri"/>
                <a:cs typeface="Calibri"/>
              </a:rPr>
              <a:t>Streamlit</a:t>
            </a:r>
            <a:r>
              <a:rPr lang="en-US" sz="1000">
                <a:solidFill>
                  <a:srgbClr val="CCDDEE"/>
                </a:solidFill>
                <a:latin typeface="Calibri"/>
                <a:ea typeface="Calibri"/>
                <a:cs typeface="Calibri"/>
              </a:rPr>
              <a:t> architecture from day one.</a:t>
            </a:r>
            <a:endParaRPr lang="en-US" sz="1000">
              <a:latin typeface="Calibri"/>
              <a:ea typeface="Calibri"/>
              <a:cs typeface="Calibri"/>
            </a:endParaRPr>
          </a:p>
        </p:txBody>
      </p:sp>
      <p:sp>
        <p:nvSpPr>
          <p:cNvPr id="8" name="Text 6"/>
          <p:cNvSpPr/>
          <p:nvPr/>
        </p:nvSpPr>
        <p:spPr>
          <a:xfrm>
            <a:off x="640080" y="2459736"/>
            <a:ext cx="2011680" cy="640080"/>
          </a:xfrm>
          <a:prstGeom prst="rect">
            <a:avLst/>
          </a:prstGeom>
          <a:noFill/>
          <a:ln/>
        </p:spPr>
        <p:txBody>
          <a:bodyPr wrap="square" rtlCol="0" anchor="t"/>
          <a:lstStyle/>
          <a:p>
            <a:pPr marL="0" indent="0">
              <a:buNone/>
            </a:pPr>
            <a:r>
              <a:rPr lang="en-US" sz="1200" b="1">
                <a:solidFill>
                  <a:srgbClr val="C5A55A"/>
                </a:solidFill>
                <a:latin typeface="Georgia" pitchFamily="34" charset="0"/>
                <a:ea typeface="Georgia" pitchFamily="34" charset="-122"/>
                <a:cs typeface="Georgia" pitchFamily="34" charset="-120"/>
              </a:rPr>
              <a:t>Streamlit Limitations</a:t>
            </a:r>
            <a:endParaRPr lang="en-US" sz="1200"/>
          </a:p>
        </p:txBody>
      </p:sp>
      <p:sp>
        <p:nvSpPr>
          <p:cNvPr id="9" name="Text 7"/>
          <p:cNvSpPr/>
          <p:nvPr/>
        </p:nvSpPr>
        <p:spPr>
          <a:xfrm>
            <a:off x="2743200" y="2459736"/>
            <a:ext cx="5943600" cy="658368"/>
          </a:xfrm>
          <a:prstGeom prst="rect">
            <a:avLst/>
          </a:prstGeom>
          <a:noFill/>
          <a:ln/>
        </p:spPr>
        <p:txBody>
          <a:bodyPr wrap="square" rtlCol="0" anchor="t"/>
          <a:lstStyle/>
          <a:p>
            <a:pPr marL="0" indent="0">
              <a:buNone/>
            </a:pPr>
            <a:r>
              <a:rPr lang="en-US" sz="1000">
                <a:solidFill>
                  <a:srgbClr val="CCDDEE"/>
                </a:solidFill>
                <a:latin typeface="Calibri" pitchFamily="34" charset="0"/>
                <a:ea typeface="Calibri" pitchFamily="34" charset="-122"/>
                <a:cs typeface="Calibri" pitchFamily="34" charset="-120"/>
              </a:rPr>
              <a:t>Streamlit re-runs the entire script on every widget interaction. No partial re-renders, no component lifecycle. Complex tab interdependencies required careful session_state management and defensive defaults for every variable.</a:t>
            </a:r>
            <a:endParaRPr lang="en-US" sz="1000"/>
          </a:p>
        </p:txBody>
      </p:sp>
      <p:sp>
        <p:nvSpPr>
          <p:cNvPr id="10" name="Text 8"/>
          <p:cNvSpPr/>
          <p:nvPr/>
        </p:nvSpPr>
        <p:spPr>
          <a:xfrm>
            <a:off x="640080" y="3209544"/>
            <a:ext cx="2011680" cy="640080"/>
          </a:xfrm>
          <a:prstGeom prst="rect">
            <a:avLst/>
          </a:prstGeom>
          <a:noFill/>
          <a:ln/>
        </p:spPr>
        <p:txBody>
          <a:bodyPr wrap="square" rtlCol="0" anchor="t"/>
          <a:lstStyle/>
          <a:p>
            <a:pPr marL="0" indent="0">
              <a:buNone/>
            </a:pPr>
            <a:r>
              <a:rPr lang="en-US" sz="1200" b="1">
                <a:solidFill>
                  <a:srgbClr val="C5A55A"/>
                </a:solidFill>
                <a:latin typeface="Georgia" pitchFamily="34" charset="0"/>
                <a:ea typeface="Georgia" pitchFamily="34" charset="-122"/>
                <a:cs typeface="Georgia" pitchFamily="34" charset="-120"/>
              </a:rPr>
              <a:t>Usage Analytics (Google Sheets)</a:t>
            </a:r>
            <a:endParaRPr lang="en-US" sz="1200"/>
          </a:p>
        </p:txBody>
      </p:sp>
      <p:sp>
        <p:nvSpPr>
          <p:cNvPr id="11" name="Text 9"/>
          <p:cNvSpPr/>
          <p:nvPr/>
        </p:nvSpPr>
        <p:spPr>
          <a:xfrm>
            <a:off x="2743200" y="3209544"/>
            <a:ext cx="5943600" cy="658368"/>
          </a:xfrm>
          <a:prstGeom prst="rect">
            <a:avLst/>
          </a:prstGeom>
          <a:noFill/>
          <a:ln/>
        </p:spPr>
        <p:txBody>
          <a:bodyPr wrap="square" rtlCol="0" anchor="t"/>
          <a:lstStyle/>
          <a:p>
            <a:pPr marL="0" indent="0">
              <a:buNone/>
            </a:pPr>
            <a:r>
              <a:rPr lang="en-US" sz="1000">
                <a:solidFill>
                  <a:srgbClr val="CCDDEE"/>
                </a:solidFill>
                <a:latin typeface="Calibri" pitchFamily="34" charset="0"/>
                <a:ea typeface="Calibri" pitchFamily="34" charset="-122"/>
                <a:cs typeface="Calibri" pitchFamily="34" charset="-120"/>
              </a:rPr>
              <a:t>No built-in </a:t>
            </a:r>
            <a:r>
              <a:rPr lang="en-US" sz="1000" err="1">
                <a:solidFill>
                  <a:srgbClr val="CCDDEE"/>
                </a:solidFill>
                <a:latin typeface="Calibri" pitchFamily="34" charset="0"/>
                <a:ea typeface="Calibri" pitchFamily="34" charset="-122"/>
                <a:cs typeface="Calibri" pitchFamily="34" charset="-120"/>
              </a:rPr>
              <a:t>Streamlit</a:t>
            </a:r>
            <a:r>
              <a:rPr lang="en-US" sz="1000">
                <a:solidFill>
                  <a:srgbClr val="CCDDEE"/>
                </a:solidFill>
                <a:latin typeface="Calibri" pitchFamily="34" charset="0"/>
                <a:ea typeface="Calibri" pitchFamily="34" charset="-122"/>
                <a:cs typeface="Calibri" pitchFamily="34" charset="-120"/>
              </a:rPr>
              <a:t> analytics. Built anonymous tracking fingerprinting of User-Agent, logging to Google Sheets via </a:t>
            </a:r>
            <a:r>
              <a:rPr lang="en-US" sz="1000" err="1">
                <a:solidFill>
                  <a:srgbClr val="CCDDEE"/>
                </a:solidFill>
                <a:latin typeface="Calibri" pitchFamily="34" charset="0"/>
                <a:ea typeface="Calibri" pitchFamily="34" charset="-122"/>
                <a:cs typeface="Calibri" pitchFamily="34" charset="-120"/>
              </a:rPr>
              <a:t>gspread</a:t>
            </a:r>
            <a:r>
              <a:rPr lang="en-US" sz="1000">
                <a:solidFill>
                  <a:srgbClr val="CCDDEE"/>
                </a:solidFill>
                <a:latin typeface="Calibri" pitchFamily="34" charset="0"/>
                <a:ea typeface="Calibri" pitchFamily="34" charset="-122"/>
                <a:cs typeface="Calibri" pitchFamily="34" charset="-120"/>
              </a:rPr>
              <a:t> + service account credentials. Tracks: session duration, tabs visited, bounce rate, device type, MC runs, PDF downloads.</a:t>
            </a:r>
            <a:endParaRPr lang="en-US" sz="1000"/>
          </a:p>
        </p:txBody>
      </p:sp>
      <p:sp>
        <p:nvSpPr>
          <p:cNvPr id="12" name="Text 10"/>
          <p:cNvSpPr/>
          <p:nvPr/>
        </p:nvSpPr>
        <p:spPr>
          <a:xfrm>
            <a:off x="640080" y="3959352"/>
            <a:ext cx="2011680" cy="640080"/>
          </a:xfrm>
          <a:prstGeom prst="rect">
            <a:avLst/>
          </a:prstGeom>
          <a:noFill/>
          <a:ln/>
        </p:spPr>
        <p:txBody>
          <a:bodyPr wrap="square" rtlCol="0" anchor="t"/>
          <a:lstStyle/>
          <a:p>
            <a:pPr marL="0" indent="0">
              <a:buNone/>
            </a:pPr>
            <a:r>
              <a:rPr lang="en-US" sz="1200" b="1">
                <a:solidFill>
                  <a:srgbClr val="C5A55A"/>
                </a:solidFill>
                <a:latin typeface="Georgia" pitchFamily="34" charset="0"/>
                <a:ea typeface="Georgia" pitchFamily="34" charset="-122"/>
                <a:cs typeface="Georgia" pitchFamily="34" charset="-120"/>
              </a:rPr>
              <a:t>TSP API Failure in Production</a:t>
            </a:r>
            <a:endParaRPr lang="en-US" sz="1200"/>
          </a:p>
        </p:txBody>
      </p:sp>
      <p:sp>
        <p:nvSpPr>
          <p:cNvPr id="13" name="Text 11"/>
          <p:cNvSpPr/>
          <p:nvPr/>
        </p:nvSpPr>
        <p:spPr>
          <a:xfrm>
            <a:off x="2743200" y="3959352"/>
            <a:ext cx="5943600" cy="658368"/>
          </a:xfrm>
          <a:prstGeom prst="rect">
            <a:avLst/>
          </a:prstGeom>
          <a:noFill/>
          <a:ln/>
        </p:spPr>
        <p:txBody>
          <a:bodyPr wrap="square" rtlCol="0" anchor="t"/>
          <a:lstStyle/>
          <a:p>
            <a:pPr marL="0" indent="0">
              <a:buNone/>
            </a:pPr>
            <a:r>
              <a:rPr lang="en-US" sz="1000" err="1">
                <a:solidFill>
                  <a:srgbClr val="CCDDEE"/>
                </a:solidFill>
                <a:latin typeface="Calibri" pitchFamily="34" charset="0"/>
                <a:ea typeface="Calibri" pitchFamily="34" charset="-122"/>
                <a:cs typeface="Calibri" pitchFamily="34" charset="-120"/>
              </a:rPr>
              <a:t>TSP.gov</a:t>
            </a:r>
            <a:r>
              <a:rPr lang="en-US" sz="1000">
                <a:solidFill>
                  <a:srgbClr val="CCDDEE"/>
                </a:solidFill>
                <a:latin typeface="Calibri" pitchFamily="34" charset="0"/>
                <a:ea typeface="Calibri" pitchFamily="34" charset="-122"/>
                <a:cs typeface="Calibri" pitchFamily="34" charset="-120"/>
              </a:rPr>
              <a:t> blocked scraping when deployed to </a:t>
            </a:r>
            <a:r>
              <a:rPr lang="en-US" sz="1000" err="1">
                <a:solidFill>
                  <a:srgbClr val="CCDDEE"/>
                </a:solidFill>
                <a:latin typeface="Calibri" pitchFamily="34" charset="0"/>
                <a:ea typeface="Calibri" pitchFamily="34" charset="-122"/>
                <a:cs typeface="Calibri" pitchFamily="34" charset="-120"/>
              </a:rPr>
              <a:t>Streamlit</a:t>
            </a:r>
            <a:r>
              <a:rPr lang="en-US" sz="1000">
                <a:solidFill>
                  <a:srgbClr val="CCDDEE"/>
                </a:solidFill>
                <a:latin typeface="Calibri" pitchFamily="34" charset="0"/>
                <a:ea typeface="Calibri" pitchFamily="34" charset="-122"/>
                <a:cs typeface="Calibri" pitchFamily="34" charset="-120"/>
              </a:rPr>
              <a:t> Cloud. Built graceful fallback: calibrated parametric proxy using since-inception CAGR from </a:t>
            </a:r>
            <a:r>
              <a:rPr lang="en-US" sz="1000" err="1">
                <a:solidFill>
                  <a:srgbClr val="CCDDEE"/>
                </a:solidFill>
                <a:latin typeface="Calibri" pitchFamily="34" charset="0"/>
                <a:ea typeface="Calibri" pitchFamily="34" charset="-122"/>
                <a:cs typeface="Calibri" pitchFamily="34" charset="-120"/>
              </a:rPr>
              <a:t>tspfolio.com</a:t>
            </a:r>
            <a:r>
              <a:rPr lang="en-US" sz="1000">
                <a:solidFill>
                  <a:srgbClr val="CCDDEE"/>
                </a:solidFill>
                <a:latin typeface="Calibri" pitchFamily="34" charset="0"/>
                <a:ea typeface="Calibri" pitchFamily="34" charset="-122"/>
                <a:cs typeface="Calibri" pitchFamily="34" charset="-120"/>
              </a:rPr>
              <a:t>. Drift between live returns and FUND_STATS broke solver/MC alignment — removed live API entirely.</a:t>
            </a:r>
            <a:endParaRPr lang="en-US" sz="1000"/>
          </a:p>
        </p:txBody>
      </p:sp>
      <p:sp>
        <p:nvSpPr>
          <p:cNvPr id="14" name="Text 12"/>
          <p:cNvSpPr/>
          <p:nvPr/>
        </p:nvSpPr>
        <p:spPr>
          <a:xfrm>
            <a:off x="457200" y="4709160"/>
            <a:ext cx="6400800" cy="320040"/>
          </a:xfrm>
          <a:prstGeom prst="rect">
            <a:avLst/>
          </a:prstGeom>
          <a:noFill/>
          <a:ln/>
        </p:spPr>
        <p:txBody>
          <a:bodyPr wrap="square" rtlCol="0" anchor="ctr"/>
          <a:lstStyle/>
          <a:p>
            <a:pPr marL="0" indent="0">
              <a:buNone/>
            </a:pPr>
            <a:r>
              <a:rPr lang="en-US" sz="900">
                <a:solidFill>
                  <a:srgbClr val="8899AA"/>
                </a:solidFill>
                <a:latin typeface="Calibri" pitchFamily="34" charset="0"/>
                <a:ea typeface="Calibri" pitchFamily="34" charset="-122"/>
                <a:cs typeface="Calibri" pitchFamily="34" charset="-120"/>
              </a:rPr>
              <a:t>F.I.R.E. for Effect  |  OA3801</a:t>
            </a:r>
            <a:endParaRPr lang="en-US" sz="900"/>
          </a:p>
        </p:txBody>
      </p:sp>
      <p:sp>
        <p:nvSpPr>
          <p:cNvPr id="15" name="Text 13"/>
          <p:cNvSpPr/>
          <p:nvPr/>
        </p:nvSpPr>
        <p:spPr>
          <a:xfrm>
            <a:off x="8229600" y="4709160"/>
            <a:ext cx="640080" cy="320040"/>
          </a:xfrm>
          <a:prstGeom prst="rect">
            <a:avLst/>
          </a:prstGeom>
          <a:noFill/>
          <a:ln/>
        </p:spPr>
        <p:txBody>
          <a:bodyPr wrap="square" rtlCol="0" anchor="ctr"/>
          <a:lstStyle/>
          <a:p>
            <a:pPr marL="0" indent="0" algn="r">
              <a:buNone/>
            </a:pPr>
            <a:r>
              <a:rPr lang="en-US" sz="900">
                <a:solidFill>
                  <a:srgbClr val="8899AA"/>
                </a:solidFill>
                <a:latin typeface="Calibri" pitchFamily="34" charset="0"/>
                <a:ea typeface="Calibri" pitchFamily="34" charset="-122"/>
                <a:cs typeface="Calibri" pitchFamily="34" charset="-120"/>
              </a:rPr>
              <a:t>11</a:t>
            </a:r>
            <a:endParaRPr lang="en-US" sz="9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a:extLst>
            <a:ext uri="{FF2B5EF4-FFF2-40B4-BE49-F238E27FC236}">
              <a16:creationId xmlns:a16="http://schemas.microsoft.com/office/drawing/2014/main" id="{927CE310-9CE6-D047-7D23-0F2E57E4D1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D4A90B9-0C40-28C2-DFD6-E2316C2340FA}"/>
              </a:ext>
            </a:extLst>
          </p:cNvPr>
          <p:cNvSpPr/>
          <p:nvPr/>
        </p:nvSpPr>
        <p:spPr>
          <a:xfrm>
            <a:off x="548640" y="274320"/>
            <a:ext cx="804672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1B2A4A"/>
                </a:solidFill>
                <a:effectLst/>
                <a:uLnTx/>
                <a:uFillTx/>
                <a:latin typeface="Georgia" pitchFamily="34" charset="0"/>
                <a:ea typeface="Georgia" pitchFamily="34" charset="-122"/>
                <a:cs typeface="Georgia" pitchFamily="34" charset="-120"/>
              </a:rPr>
              <a:t>AI vs. Team Army</a:t>
            </a: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E660A0AF-5AFC-D3C0-3F6A-A40B3FDA6127}"/>
              </a:ext>
            </a:extLst>
          </p:cNvPr>
          <p:cNvSpPr/>
          <p:nvPr/>
        </p:nvSpPr>
        <p:spPr>
          <a:xfrm>
            <a:off x="548640" y="795891"/>
            <a:ext cx="8046720" cy="365760"/>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1" u="none" strike="noStrike" kern="1200" cap="none" spc="0" normalizeH="0" baseline="0" noProof="0">
                <a:ln>
                  <a:noFill/>
                </a:ln>
                <a:solidFill>
                  <a:srgbClr val="1B2A4A"/>
                </a:solidFill>
                <a:effectLst/>
                <a:uLnTx/>
                <a:uFillTx/>
                <a:latin typeface="Calibri"/>
                <a:ea typeface="Calibri"/>
                <a:cs typeface="Calibri"/>
              </a:rPr>
              <a:t>AI built a beautiful car: we built the engine. </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b="1" i="1" u="none" strike="noStrike" kern="1200" cap="none" spc="0" normalizeH="0" baseline="0" noProof="0">
                <a:ln>
                  <a:noFill/>
                </a:ln>
                <a:solidFill>
                  <a:srgbClr val="1B2A4A"/>
                </a:solidFill>
                <a:effectLst/>
                <a:uLnTx/>
                <a:uFillTx/>
                <a:latin typeface="Calibri"/>
                <a:ea typeface="Calibri"/>
                <a:cs typeface="Calibri"/>
              </a:rPr>
              <a:t>(but also, we don't know how to put it in the car...)</a:t>
            </a:r>
          </a:p>
        </p:txBody>
      </p:sp>
      <p:sp>
        <p:nvSpPr>
          <p:cNvPr id="4" name="Shape 2">
            <a:extLst>
              <a:ext uri="{FF2B5EF4-FFF2-40B4-BE49-F238E27FC236}">
                <a16:creationId xmlns:a16="http://schemas.microsoft.com/office/drawing/2014/main" id="{BE6D0EA5-46F4-D3CA-2062-B5C2E2E8AA61}"/>
              </a:ext>
            </a:extLst>
          </p:cNvPr>
          <p:cNvSpPr/>
          <p:nvPr/>
        </p:nvSpPr>
        <p:spPr>
          <a:xfrm>
            <a:off x="365760" y="1325880"/>
            <a:ext cx="4114800" cy="3200400"/>
          </a:xfrm>
          <a:prstGeom prst="rect">
            <a:avLst/>
          </a:prstGeom>
          <a:solidFill>
            <a:srgbClr val="FFFFFF"/>
          </a:solidFill>
          <a:ln/>
          <a:effectLst>
            <a:outerShdw blurRad="508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0421771D-F251-6724-54F3-5502C606EA44}"/>
              </a:ext>
            </a:extLst>
          </p:cNvPr>
          <p:cNvSpPr/>
          <p:nvPr/>
        </p:nvSpPr>
        <p:spPr>
          <a:xfrm>
            <a:off x="457200" y="1371600"/>
            <a:ext cx="393192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36E72"/>
                </a:solidFill>
                <a:effectLst/>
                <a:uLnTx/>
                <a:uFillTx/>
                <a:latin typeface="Georgia" pitchFamily="34" charset="0"/>
                <a:ea typeface="Georgia" pitchFamily="34" charset="-122"/>
                <a:cs typeface="Georgia" pitchFamily="34" charset="-120"/>
              </a:rPr>
              <a:t>AI-Generated App </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4">
            <a:extLst>
              <a:ext uri="{FF2B5EF4-FFF2-40B4-BE49-F238E27FC236}">
                <a16:creationId xmlns:a16="http://schemas.microsoft.com/office/drawing/2014/main" id="{65E2CAC4-9763-2415-9CB4-59A609B13273}"/>
              </a:ext>
            </a:extLst>
          </p:cNvPr>
          <p:cNvSpPr/>
          <p:nvPr/>
        </p:nvSpPr>
        <p:spPr>
          <a:xfrm>
            <a:off x="4663440" y="1335205"/>
            <a:ext cx="4114800" cy="3200400"/>
          </a:xfrm>
          <a:prstGeom prst="rect">
            <a:avLst/>
          </a:prstGeom>
          <a:solidFill>
            <a:srgbClr val="FFFFFF"/>
          </a:solidFill>
          <a:ln/>
          <a:effectLst>
            <a:outerShdw blurRad="508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a:extLst>
              <a:ext uri="{FF2B5EF4-FFF2-40B4-BE49-F238E27FC236}">
                <a16:creationId xmlns:a16="http://schemas.microsoft.com/office/drawing/2014/main" id="{4CCA70F0-7732-517B-3B6B-776A23B8820C}"/>
              </a:ext>
            </a:extLst>
          </p:cNvPr>
          <p:cNvSpPr/>
          <p:nvPr/>
        </p:nvSpPr>
        <p:spPr>
          <a:xfrm>
            <a:off x="4663440" y="1325880"/>
            <a:ext cx="64008" cy="3200400"/>
          </a:xfrm>
          <a:prstGeom prst="rect">
            <a:avLst/>
          </a:prstGeom>
          <a:solidFill>
            <a:srgbClr val="C5A5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a:extLst>
              <a:ext uri="{FF2B5EF4-FFF2-40B4-BE49-F238E27FC236}">
                <a16:creationId xmlns:a16="http://schemas.microsoft.com/office/drawing/2014/main" id="{A6199B74-9E2A-CB67-F9A5-38D3CDD5F12D}"/>
              </a:ext>
            </a:extLst>
          </p:cNvPr>
          <p:cNvSpPr/>
          <p:nvPr/>
        </p:nvSpPr>
        <p:spPr>
          <a:xfrm>
            <a:off x="457200" y="4709160"/>
            <a:ext cx="64008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636E72"/>
                </a:solidFill>
                <a:effectLst/>
                <a:uLnTx/>
                <a:uFillTx/>
                <a:latin typeface="Calibri" pitchFamily="34" charset="0"/>
                <a:ea typeface="Calibri" pitchFamily="34" charset="-122"/>
                <a:cs typeface="Calibri" pitchFamily="34" charset="-120"/>
              </a:rPr>
              <a:t>F.I.R.E. for Effect  |  OA3801</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a:extLst>
              <a:ext uri="{FF2B5EF4-FFF2-40B4-BE49-F238E27FC236}">
                <a16:creationId xmlns:a16="http://schemas.microsoft.com/office/drawing/2014/main" id="{485AEECA-FD6D-DD56-4D19-64F7EAFF9B03}"/>
              </a:ext>
            </a:extLst>
          </p:cNvPr>
          <p:cNvSpPr/>
          <p:nvPr/>
        </p:nvSpPr>
        <p:spPr>
          <a:xfrm>
            <a:off x="8229600" y="4709160"/>
            <a:ext cx="64008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636E72"/>
                </a:solidFill>
                <a:effectLst/>
                <a:uLnTx/>
                <a:uFillTx/>
                <a:latin typeface="Calibri" pitchFamily="34" charset="0"/>
                <a:ea typeface="Calibri" pitchFamily="34" charset="-122"/>
                <a:cs typeface="Calibri" pitchFamily="34" charset="-120"/>
              </a:rPr>
              <a:t>10</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3">
            <a:extLst>
              <a:ext uri="{FF2B5EF4-FFF2-40B4-BE49-F238E27FC236}">
                <a16:creationId xmlns:a16="http://schemas.microsoft.com/office/drawing/2014/main" id="{ECEC1591-5212-3CCE-3EA4-7D7A4F8B0CC0}"/>
              </a:ext>
            </a:extLst>
          </p:cNvPr>
          <p:cNvSpPr/>
          <p:nvPr/>
        </p:nvSpPr>
        <p:spPr>
          <a:xfrm>
            <a:off x="4892040" y="1363182"/>
            <a:ext cx="393192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36E72"/>
                </a:solidFill>
                <a:effectLst/>
                <a:uLnTx/>
                <a:uFillTx/>
                <a:latin typeface="Georgia" pitchFamily="34" charset="0"/>
                <a:ea typeface="Georgia" pitchFamily="34" charset="-122"/>
                <a:cs typeface="Georgia" pitchFamily="34" charset="-120"/>
              </a:rPr>
              <a:t>Army-Generated App </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home/claude/ai_app_1.png">
            <a:extLst>
              <a:ext uri="{FF2B5EF4-FFF2-40B4-BE49-F238E27FC236}">
                <a16:creationId xmlns:a16="http://schemas.microsoft.com/office/drawing/2014/main" id="{33020D7D-5F8B-D7DA-CF81-841D5893BCDD}"/>
              </a:ext>
            </a:extLst>
          </p:cNvPr>
          <p:cNvPicPr>
            <a:picLocks noChangeAspect="1"/>
          </p:cNvPicPr>
          <p:nvPr/>
        </p:nvPicPr>
        <p:blipFill>
          <a:blip r:embed="rId3"/>
          <a:srcRect/>
          <a:stretch/>
        </p:blipFill>
        <p:spPr>
          <a:xfrm>
            <a:off x="594360" y="1737360"/>
            <a:ext cx="3200400" cy="2514600"/>
          </a:xfrm>
          <a:prstGeom prst="rect">
            <a:avLst/>
          </a:prstGeom>
        </p:spPr>
      </p:pic>
      <p:pic>
        <p:nvPicPr>
          <p:cNvPr id="9" name="Picture 8">
            <a:extLst>
              <a:ext uri="{FF2B5EF4-FFF2-40B4-BE49-F238E27FC236}">
                <a16:creationId xmlns:a16="http://schemas.microsoft.com/office/drawing/2014/main" id="{7BC7C6DD-7AED-5A53-BCCE-8364911E3E30}"/>
              </a:ext>
            </a:extLst>
          </p:cNvPr>
          <p:cNvPicPr>
            <a:picLocks noChangeAspect="1"/>
          </p:cNvPicPr>
          <p:nvPr/>
        </p:nvPicPr>
        <p:blipFill>
          <a:blip r:embed="rId4"/>
          <a:stretch>
            <a:fillRect/>
          </a:stretch>
        </p:blipFill>
        <p:spPr>
          <a:xfrm>
            <a:off x="5670769" y="1737360"/>
            <a:ext cx="2212777" cy="2736154"/>
          </a:xfrm>
          <a:prstGeom prst="rect">
            <a:avLst/>
          </a:prstGeom>
        </p:spPr>
      </p:pic>
    </p:spTree>
    <p:extLst>
      <p:ext uri="{BB962C8B-B14F-4D97-AF65-F5344CB8AC3E}">
        <p14:creationId xmlns:p14="http://schemas.microsoft.com/office/powerpoint/2010/main" val="8795794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5F0"/>
        </a:solidFill>
        <a:effectLst/>
      </p:bgPr>
    </p:bg>
    <p:spTree>
      <p:nvGrpSpPr>
        <p:cNvPr id="1" name="">
          <a:extLst>
            <a:ext uri="{FF2B5EF4-FFF2-40B4-BE49-F238E27FC236}">
              <a16:creationId xmlns:a16="http://schemas.microsoft.com/office/drawing/2014/main" id="{A4FC3CB4-35D6-ECB2-55AE-EF42DA30036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692A23D-DD47-3417-B866-265BA819D4DD}"/>
              </a:ext>
            </a:extLst>
          </p:cNvPr>
          <p:cNvSpPr/>
          <p:nvPr/>
        </p:nvSpPr>
        <p:spPr>
          <a:xfrm>
            <a:off x="548640" y="274320"/>
            <a:ext cx="8046720" cy="6400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1B2A4A"/>
                </a:solidFill>
                <a:effectLst/>
                <a:uLnTx/>
                <a:uFillTx/>
                <a:latin typeface="Georgia" pitchFamily="34" charset="0"/>
                <a:ea typeface="Georgia" pitchFamily="34" charset="-122"/>
                <a:cs typeface="Georgia" pitchFamily="34" charset="-120"/>
              </a:rPr>
              <a:t>AI vs. Team Army</a:t>
            </a: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D022688E-5D4B-B3E7-A610-A12259562A81}"/>
              </a:ext>
            </a:extLst>
          </p:cNvPr>
          <p:cNvSpPr/>
          <p:nvPr/>
        </p:nvSpPr>
        <p:spPr>
          <a:xfrm>
            <a:off x="548640" y="795891"/>
            <a:ext cx="8046720" cy="365760"/>
          </a:xfrm>
          <a:prstGeom prst="rect">
            <a:avLst/>
          </a:prstGeom>
          <a:noFill/>
          <a:ln/>
        </p:spPr>
        <p:txBody>
          <a:bodyPr wrap="square" lIns="91440" tIns="45720" rIns="91440" bIns="4572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1" u="none" strike="noStrike" kern="1200" cap="none" spc="0" normalizeH="0" baseline="0" noProof="0">
                <a:ln>
                  <a:noFill/>
                </a:ln>
                <a:solidFill>
                  <a:srgbClr val="1B2A4A"/>
                </a:solidFill>
                <a:effectLst/>
                <a:uLnTx/>
                <a:uFillTx/>
                <a:latin typeface="Calibri"/>
                <a:ea typeface="Calibri"/>
                <a:cs typeface="Calibri"/>
              </a:rPr>
              <a:t>AI built a beautiful car: we built the engine. </a:t>
            </a: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00" b="1" i="1" u="none" strike="noStrike" kern="1200" cap="none" spc="0" normalizeH="0" baseline="0" noProof="0">
                <a:ln>
                  <a:noFill/>
                </a:ln>
                <a:solidFill>
                  <a:srgbClr val="1B2A4A"/>
                </a:solidFill>
                <a:effectLst/>
                <a:uLnTx/>
                <a:uFillTx/>
                <a:latin typeface="Calibri"/>
                <a:ea typeface="Calibri"/>
                <a:cs typeface="Calibri"/>
              </a:rPr>
              <a:t>(but also, we don't know how to put it in the car...)</a:t>
            </a:r>
          </a:p>
        </p:txBody>
      </p:sp>
      <p:sp>
        <p:nvSpPr>
          <p:cNvPr id="4" name="Shape 2">
            <a:extLst>
              <a:ext uri="{FF2B5EF4-FFF2-40B4-BE49-F238E27FC236}">
                <a16:creationId xmlns:a16="http://schemas.microsoft.com/office/drawing/2014/main" id="{5D83C73C-933C-958C-140A-3BABA85150F0}"/>
              </a:ext>
            </a:extLst>
          </p:cNvPr>
          <p:cNvSpPr/>
          <p:nvPr/>
        </p:nvSpPr>
        <p:spPr>
          <a:xfrm>
            <a:off x="365760" y="1325880"/>
            <a:ext cx="4114800" cy="3200400"/>
          </a:xfrm>
          <a:prstGeom prst="rect">
            <a:avLst/>
          </a:prstGeom>
          <a:solidFill>
            <a:srgbClr val="FFFFFF"/>
          </a:solidFill>
          <a:ln/>
          <a:effectLst>
            <a:outerShdw blurRad="508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888C9293-F47A-1E82-D4A1-3E3D77CAF575}"/>
              </a:ext>
            </a:extLst>
          </p:cNvPr>
          <p:cNvSpPr/>
          <p:nvPr/>
        </p:nvSpPr>
        <p:spPr>
          <a:xfrm>
            <a:off x="457200" y="1371600"/>
            <a:ext cx="3931920" cy="32004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636E72"/>
                </a:solidFill>
                <a:effectLst/>
                <a:uLnTx/>
                <a:uFillTx/>
                <a:latin typeface="Georgia" pitchFamily="34" charset="0"/>
                <a:ea typeface="Georgia" pitchFamily="34" charset="-122"/>
                <a:cs typeface="Georgia" pitchFamily="34" charset="-120"/>
              </a:rPr>
              <a:t>AI-Generated App </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4">
            <a:extLst>
              <a:ext uri="{FF2B5EF4-FFF2-40B4-BE49-F238E27FC236}">
                <a16:creationId xmlns:a16="http://schemas.microsoft.com/office/drawing/2014/main" id="{46FD34DE-02CB-445E-4697-7437B583F379}"/>
              </a:ext>
            </a:extLst>
          </p:cNvPr>
          <p:cNvSpPr/>
          <p:nvPr/>
        </p:nvSpPr>
        <p:spPr>
          <a:xfrm>
            <a:off x="4663440" y="1335205"/>
            <a:ext cx="4114800" cy="3200400"/>
          </a:xfrm>
          <a:prstGeom prst="rect">
            <a:avLst/>
          </a:prstGeom>
          <a:solidFill>
            <a:srgbClr val="FFFFFF"/>
          </a:solidFill>
          <a:ln/>
          <a:effectLst>
            <a:outerShdw blurRad="508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a:extLst>
              <a:ext uri="{FF2B5EF4-FFF2-40B4-BE49-F238E27FC236}">
                <a16:creationId xmlns:a16="http://schemas.microsoft.com/office/drawing/2014/main" id="{53681DE0-C0E5-24E5-7532-70B0649F1DD6}"/>
              </a:ext>
            </a:extLst>
          </p:cNvPr>
          <p:cNvSpPr/>
          <p:nvPr/>
        </p:nvSpPr>
        <p:spPr>
          <a:xfrm>
            <a:off x="4663440" y="1325880"/>
            <a:ext cx="64008" cy="3200400"/>
          </a:xfrm>
          <a:prstGeom prst="rect">
            <a:avLst/>
          </a:prstGeom>
          <a:solidFill>
            <a:srgbClr val="C5A5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a:extLst>
              <a:ext uri="{FF2B5EF4-FFF2-40B4-BE49-F238E27FC236}">
                <a16:creationId xmlns:a16="http://schemas.microsoft.com/office/drawing/2014/main" id="{97B18AF0-414E-9534-FF76-20B453A213CA}"/>
              </a:ext>
            </a:extLst>
          </p:cNvPr>
          <p:cNvSpPr/>
          <p:nvPr/>
        </p:nvSpPr>
        <p:spPr>
          <a:xfrm>
            <a:off x="4910328" y="1695849"/>
            <a:ext cx="3867912" cy="2651760"/>
          </a:xfrm>
          <a:prstGeom prst="rect">
            <a:avLst/>
          </a:prstGeom>
          <a:noFill/>
          <a:ln/>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1" i="0" u="none" strike="noStrike" kern="1200" cap="none" spc="0" normalizeH="0" baseline="0" noProof="0">
                <a:ln>
                  <a:noFill/>
                </a:ln>
                <a:solidFill>
                  <a:srgbClr val="1B2A4A"/>
                </a:solidFill>
                <a:effectLst/>
                <a:uLnTx/>
                <a:uFillTx/>
                <a:latin typeface="Calibri" pitchFamily="34" charset="0"/>
                <a:ea typeface="Calibri" pitchFamily="34" charset="-122"/>
                <a:cs typeface="Calibri" pitchFamily="34" charset="-120"/>
              </a:rPr>
              <a:t>What it can do:</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a:p>
            <a:pPr>
              <a:buFont typeface="Arial" panose="020B0604020202020204" pitchFamily="34" charset="0"/>
              <a:buChar char="•"/>
              <a:defRPr/>
            </a:pPr>
            <a:r>
              <a:rPr lang="en-US" sz="1100" b="1">
                <a:solidFill>
                  <a:prstClr val="black"/>
                </a:solidFill>
                <a:latin typeface="Calibri" panose="020F0502020204030204"/>
              </a:rPr>
              <a:t>Savings Rate </a:t>
            </a: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solver → required savings rate</a:t>
            </a:r>
            <a:endParaRPr lang="en-US" sz="1100" b="1" i="0" u="none" strike="noStrike" kern="1200" cap="none" spc="0" normalizeH="0" baseline="0" noProof="0">
              <a:ln>
                <a:noFill/>
              </a:ln>
              <a:solidFill>
                <a:prstClr val="black"/>
              </a:solidFill>
              <a:effectLst/>
              <a:uLnTx/>
              <a:uFillTx/>
              <a:latin typeface="Calibri" panose="020F0502020204030204"/>
              <a:ea typeface="Calibri"/>
              <a:cs typeface="Calibri"/>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Promotion-aware, month-by-month income </a:t>
            </a:r>
            <a:r>
              <a:rPr lang="en-US" sz="1100" b="1">
                <a:solidFill>
                  <a:prstClr val="black"/>
                </a:solidFill>
                <a:latin typeface="Calibri" panose="020F0502020204030204"/>
              </a:rPr>
              <a:t>predictor</a:t>
            </a:r>
            <a:endParaRPr lang="en-US" sz="1100" b="1" i="0" u="none" strike="noStrike" kern="1200" cap="none" spc="0" normalizeH="0" baseline="0" noProof="0">
              <a:ln>
                <a:noFill/>
              </a:ln>
              <a:solidFill>
                <a:prstClr val="black"/>
              </a:solidFill>
              <a:effectLst/>
              <a:uLnTx/>
              <a:uFillTx/>
              <a:latin typeface="Calibri" panose="020F0502020204030204"/>
              <a:ea typeface="Calibri"/>
              <a:cs typeface="Calibri"/>
            </a:endParaRPr>
          </a:p>
          <a:p>
            <a:pPr>
              <a:buFont typeface="Arial" panose="020B0604020202020204" pitchFamily="34" charset="0"/>
              <a:buChar char="•"/>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Monte Carlo </a:t>
            </a:r>
            <a:r>
              <a:rPr lang="en-US" sz="1100" b="1">
                <a:solidFill>
                  <a:prstClr val="black"/>
                </a:solidFill>
                <a:latin typeface="Calibri" panose="020F0502020204030204"/>
              </a:rPr>
              <a:t>with varying contributions and interest rates</a:t>
            </a:r>
            <a:endParaRPr lang="en-US" sz="1100" b="1" i="0" u="none" strike="noStrike" kern="1200" cap="none" spc="0" normalizeH="0" baseline="0" noProof="0">
              <a:ln>
                <a:noFill/>
              </a:ln>
              <a:solidFill>
                <a:prstClr val="black"/>
              </a:solidFill>
              <a:effectLst/>
              <a:uLnTx/>
              <a:uFillTx/>
              <a:latin typeface="Calibri" panose="020F0502020204030204"/>
              <a:ea typeface="Calibri"/>
              <a:cs typeface="Calibri"/>
            </a:endParaRPr>
          </a:p>
          <a:p>
            <a:pPr>
              <a:buFont typeface="Arial" panose="020B0604020202020204" pitchFamily="34" charset="0"/>
              <a:buChar char="•"/>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SSA </a:t>
            </a:r>
            <a:r>
              <a:rPr lang="en-US" sz="1100" b="1">
                <a:solidFill>
                  <a:prstClr val="black"/>
                </a:solidFill>
                <a:latin typeface="Calibri" panose="020F0502020204030204"/>
              </a:rPr>
              <a:t>Actuarial Life</a:t>
            </a: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 </a:t>
            </a:r>
            <a:r>
              <a:rPr lang="en-US" sz="1100" b="1">
                <a:solidFill>
                  <a:prstClr val="black"/>
                </a:solidFill>
                <a:latin typeface="Calibri" panose="020F0502020204030204"/>
              </a:rPr>
              <a:t>Tables/SWR for</a:t>
            </a: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 pension valuation</a:t>
            </a:r>
            <a:endParaRPr lang="en-US" sz="1100" b="1" i="0" u="none" strike="noStrike" kern="1200" cap="none" spc="0" normalizeH="0" baseline="0" noProof="0">
              <a:ln>
                <a:noFill/>
              </a:ln>
              <a:solidFill>
                <a:prstClr val="black"/>
              </a:solidFill>
              <a:effectLst/>
              <a:uLnTx/>
              <a:uFillTx/>
              <a:latin typeface="Calibri" panose="020F0502020204030204"/>
              <a:ea typeface="Calibri"/>
              <a:cs typeface="Calibri"/>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Consent-gated anonymous analytics pipeline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a:extLst>
              <a:ext uri="{FF2B5EF4-FFF2-40B4-BE49-F238E27FC236}">
                <a16:creationId xmlns:a16="http://schemas.microsoft.com/office/drawing/2014/main" id="{050A8B0A-AEA9-CEFE-C4F0-AEA880E3C573}"/>
              </a:ext>
            </a:extLst>
          </p:cNvPr>
          <p:cNvSpPr/>
          <p:nvPr/>
        </p:nvSpPr>
        <p:spPr>
          <a:xfrm>
            <a:off x="457200" y="4709160"/>
            <a:ext cx="64008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636E72"/>
                </a:solidFill>
                <a:effectLst/>
                <a:uLnTx/>
                <a:uFillTx/>
                <a:latin typeface="Calibri" pitchFamily="34" charset="0"/>
                <a:ea typeface="Calibri" pitchFamily="34" charset="-122"/>
                <a:cs typeface="Calibri" pitchFamily="34" charset="-120"/>
              </a:rPr>
              <a:t>F.I.R.E. for Effect  |  OA3801</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a:extLst>
              <a:ext uri="{FF2B5EF4-FFF2-40B4-BE49-F238E27FC236}">
                <a16:creationId xmlns:a16="http://schemas.microsoft.com/office/drawing/2014/main" id="{BF4B8DB6-017E-6DD6-741F-DB542418D0DA}"/>
              </a:ext>
            </a:extLst>
          </p:cNvPr>
          <p:cNvSpPr/>
          <p:nvPr/>
        </p:nvSpPr>
        <p:spPr>
          <a:xfrm>
            <a:off x="8229600" y="4709160"/>
            <a:ext cx="640080" cy="32004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636E72"/>
                </a:solidFill>
                <a:effectLst/>
                <a:uLnTx/>
                <a:uFillTx/>
                <a:latin typeface="Calibri" pitchFamily="34" charset="0"/>
                <a:ea typeface="Calibri" pitchFamily="34" charset="-122"/>
                <a:cs typeface="Calibri" pitchFamily="34" charset="-120"/>
              </a:rPr>
              <a:t>10</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7">
            <a:extLst>
              <a:ext uri="{FF2B5EF4-FFF2-40B4-BE49-F238E27FC236}">
                <a16:creationId xmlns:a16="http://schemas.microsoft.com/office/drawing/2014/main" id="{D3F1E7A9-E23D-5EC8-F503-BED8C74ED0F5}"/>
              </a:ext>
            </a:extLst>
          </p:cNvPr>
          <p:cNvSpPr/>
          <p:nvPr/>
        </p:nvSpPr>
        <p:spPr>
          <a:xfrm>
            <a:off x="527981" y="1737360"/>
            <a:ext cx="3867912" cy="2651760"/>
          </a:xfrm>
          <a:prstGeom prst="rect">
            <a:avLst/>
          </a:prstGeom>
          <a:noFill/>
          <a:ln/>
        </p:spPr>
        <p:txBody>
          <a:bodyPr wrap="square" lIns="91440" tIns="45720" rIns="91440" bIns="45720" rtlCol="0" anchor="t"/>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1" i="0" u="none" strike="noStrike" kern="1200" cap="none" spc="0" normalizeH="0" baseline="0" noProof="0">
                <a:ln>
                  <a:noFill/>
                </a:ln>
                <a:solidFill>
                  <a:srgbClr val="1B2A4A"/>
                </a:solidFill>
                <a:effectLst/>
                <a:uLnTx/>
                <a:uFillTx/>
                <a:latin typeface="Calibri" pitchFamily="34" charset="0"/>
                <a:ea typeface="Calibri" pitchFamily="34" charset="-122"/>
                <a:cs typeface="Calibri" pitchFamily="34" charset="-120"/>
              </a:rPr>
              <a:t>What it can do:</a:t>
            </a: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Polished multi-step intake wizard — professional UI</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JavaScript / HTML — designed for web/mobile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CAC authentication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Plaid API for live bank &amp; account linking</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Security scaffolding from day one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Compliance-aware architecture built in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Looks production-ready — fast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a:solidFill>
                  <a:prstClr val="black"/>
                </a:solidFill>
                <a:latin typeface="Calibri" panose="020F0502020204030204"/>
              </a:rPr>
              <a:t>Has Monte-Carlo Visualizations</a:t>
            </a:r>
          </a:p>
          <a:p>
            <a:pPr>
              <a:buFont typeface="Arial" panose="020B0604020202020204" pitchFamily="34" charset="0"/>
              <a:buChar char="•"/>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Tons of Additional Topics: </a:t>
            </a:r>
            <a:r>
              <a:rPr lang="en-US" sz="1100" b="1">
                <a:solidFill>
                  <a:prstClr val="black"/>
                </a:solidFill>
                <a:latin typeface="Calibri" panose="020F0502020204030204"/>
              </a:rPr>
              <a:t>PCS planner, deployment, transition, child considerations</a:t>
            </a:r>
            <a:endParaRPr lang="en-US" sz="1100" b="1" i="0" u="none" strike="noStrike" kern="1200" cap="none" spc="0" normalizeH="0" baseline="0" noProof="0">
              <a:ln>
                <a:noFill/>
              </a:ln>
              <a:solidFill>
                <a:prstClr val="black"/>
              </a:solidFill>
              <a:effectLst/>
              <a:uLnTx/>
              <a:uFillTx/>
              <a:latin typeface="Calibri" panose="020F0502020204030204"/>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endParaRPr kumimoji="0" lang="en-US" sz="11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3">
            <a:extLst>
              <a:ext uri="{FF2B5EF4-FFF2-40B4-BE49-F238E27FC236}">
                <a16:creationId xmlns:a16="http://schemas.microsoft.com/office/drawing/2014/main" id="{52F9529F-8756-D6B3-E35B-78DF40FDA0D8}"/>
              </a:ext>
            </a:extLst>
          </p:cNvPr>
          <p:cNvSpPr/>
          <p:nvPr/>
        </p:nvSpPr>
        <p:spPr>
          <a:xfrm>
            <a:off x="4892040" y="1363182"/>
            <a:ext cx="3931920" cy="320040"/>
          </a:xfrm>
          <a:prstGeom prst="rect">
            <a:avLst/>
          </a:prstGeom>
          <a:noFill/>
          <a:ln/>
        </p:spPr>
        <p:txBody>
          <a:bodyPr wrap="square" rtlCol="0" anchor="ctr"/>
          <a:lstStyle/>
          <a:p>
            <a:pPr marL="0" indent="0" algn="ctr">
              <a:buNone/>
            </a:pPr>
            <a:r>
              <a:rPr lang="en-US" sz="1200" b="1">
                <a:solidFill>
                  <a:srgbClr val="636E72"/>
                </a:solidFill>
                <a:latin typeface="Georgia" pitchFamily="34" charset="0"/>
                <a:ea typeface="Georgia" pitchFamily="34" charset="-122"/>
                <a:cs typeface="Georgia" pitchFamily="34" charset="-120"/>
              </a:rPr>
              <a:t>Army-Generated App </a:t>
            </a:r>
            <a:endParaRPr lang="en-US" sz="1200"/>
          </a:p>
        </p:txBody>
      </p:sp>
    </p:spTree>
    <p:extLst>
      <p:ext uri="{BB962C8B-B14F-4D97-AF65-F5344CB8AC3E}">
        <p14:creationId xmlns:p14="http://schemas.microsoft.com/office/powerpoint/2010/main" val="8385228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A30"/>
        </a:solidFill>
        <a:effectLst/>
      </p:bgPr>
    </p:bg>
    <p:spTree>
      <p:nvGrpSpPr>
        <p:cNvPr id="1" name="">
          <a:extLst>
            <a:ext uri="{FF2B5EF4-FFF2-40B4-BE49-F238E27FC236}">
              <a16:creationId xmlns:a16="http://schemas.microsoft.com/office/drawing/2014/main" id="{AD88A9B4-F3B8-7530-731D-E40B080D65E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003B41A-CEBD-266A-A5A5-4938573956A2}"/>
              </a:ext>
            </a:extLst>
          </p:cNvPr>
          <p:cNvSpPr/>
          <p:nvPr/>
        </p:nvSpPr>
        <p:spPr>
          <a:xfrm>
            <a:off x="0" y="0"/>
            <a:ext cx="9144000" cy="54864"/>
          </a:xfrm>
          <a:prstGeom prst="rect">
            <a:avLst/>
          </a:prstGeom>
          <a:solidFill>
            <a:srgbClr val="C5A5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C95EB5C7-BB75-A96C-C08C-BC24BEEF5BA8}"/>
              </a:ext>
            </a:extLst>
          </p:cNvPr>
          <p:cNvSpPr/>
          <p:nvPr/>
        </p:nvSpPr>
        <p:spPr>
          <a:xfrm>
            <a:off x="731520" y="914400"/>
            <a:ext cx="45720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FFFFFF"/>
                </a:solidFill>
                <a:effectLst/>
                <a:uLnTx/>
                <a:uFillTx/>
                <a:latin typeface="Georgia" pitchFamily="34" charset="0"/>
                <a:ea typeface="Georgia" pitchFamily="34" charset="-122"/>
                <a:cs typeface="Georgia" pitchFamily="34" charset="-120"/>
              </a:rPr>
              <a:t>LIVE DEMO</a:t>
            </a:r>
            <a:endParaRPr kumimoji="0" lang="en-US" sz="4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a:extLst>
              <a:ext uri="{FF2B5EF4-FFF2-40B4-BE49-F238E27FC236}">
                <a16:creationId xmlns:a16="http://schemas.microsoft.com/office/drawing/2014/main" id="{D42B4090-1D75-D887-E783-51EC8EE575E9}"/>
              </a:ext>
            </a:extLst>
          </p:cNvPr>
          <p:cNvSpPr/>
          <p:nvPr/>
        </p:nvSpPr>
        <p:spPr>
          <a:xfrm>
            <a:off x="457200" y="4709160"/>
            <a:ext cx="64008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899AA"/>
                </a:solidFill>
                <a:effectLst/>
                <a:uLnTx/>
                <a:uFillTx/>
                <a:latin typeface="Calibri" pitchFamily="34" charset="0"/>
                <a:ea typeface="Calibri" pitchFamily="34" charset="-122"/>
                <a:cs typeface="Calibri" pitchFamily="34" charset="-120"/>
              </a:rPr>
              <a:t>F.I.R.E. for Effect  |  OA3801</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11872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61B22"/>
          </a:solidFill>
          <a:ln w="12700">
            <a:solidFill>
              <a:srgbClr val="30363D"/>
            </a:solidFill>
            <a:prstDash val="solid"/>
          </a:ln>
        </p:spPr>
        <p:txBody>
          <a:bodyPr/>
          <a:lstStyle/>
          <a:p>
            <a:endParaRPr lang="en-US" sz="2000"/>
          </a:p>
        </p:txBody>
      </p:sp>
      <p:sp>
        <p:nvSpPr>
          <p:cNvPr id="3" name="Shape 1"/>
          <p:cNvSpPr/>
          <p:nvPr/>
        </p:nvSpPr>
        <p:spPr>
          <a:xfrm>
            <a:off x="201168" y="219456"/>
            <a:ext cx="146304" cy="146304"/>
          </a:xfrm>
          <a:prstGeom prst="ellipse">
            <a:avLst/>
          </a:prstGeom>
          <a:solidFill>
            <a:srgbClr val="FF5F57"/>
          </a:solidFill>
          <a:ln w="12700">
            <a:solidFill>
              <a:srgbClr val="FF5F57"/>
            </a:solidFill>
            <a:prstDash val="solid"/>
          </a:ln>
        </p:spPr>
        <p:txBody>
          <a:bodyPr/>
          <a:lstStyle/>
          <a:p>
            <a:endParaRPr lang="en-US"/>
          </a:p>
        </p:txBody>
      </p:sp>
      <p:sp>
        <p:nvSpPr>
          <p:cNvPr id="4" name="Shape 2"/>
          <p:cNvSpPr/>
          <p:nvPr/>
        </p:nvSpPr>
        <p:spPr>
          <a:xfrm>
            <a:off x="457200" y="219456"/>
            <a:ext cx="146304" cy="146304"/>
          </a:xfrm>
          <a:prstGeom prst="ellipse">
            <a:avLst/>
          </a:prstGeom>
          <a:solidFill>
            <a:srgbClr val="FEBC2E"/>
          </a:solidFill>
          <a:ln w="12700">
            <a:solidFill>
              <a:srgbClr val="FEBC2E"/>
            </a:solidFill>
            <a:prstDash val="solid"/>
          </a:ln>
        </p:spPr>
        <p:txBody>
          <a:bodyPr/>
          <a:lstStyle/>
          <a:p>
            <a:endParaRPr lang="en-US"/>
          </a:p>
        </p:txBody>
      </p:sp>
      <p:sp>
        <p:nvSpPr>
          <p:cNvPr id="5" name="Shape 3"/>
          <p:cNvSpPr/>
          <p:nvPr/>
        </p:nvSpPr>
        <p:spPr>
          <a:xfrm>
            <a:off x="713232" y="219456"/>
            <a:ext cx="146304" cy="146304"/>
          </a:xfrm>
          <a:prstGeom prst="ellipse">
            <a:avLst/>
          </a:prstGeom>
          <a:solidFill>
            <a:srgbClr val="28C840"/>
          </a:solidFill>
          <a:ln w="12700">
            <a:solidFill>
              <a:srgbClr val="28C840"/>
            </a:solidFill>
            <a:prstDash val="solid"/>
          </a:ln>
        </p:spPr>
        <p:txBody>
          <a:bodyPr/>
          <a:lstStyle/>
          <a:p>
            <a:endParaRPr lang="en-US"/>
          </a:p>
        </p:txBody>
      </p:sp>
      <p:sp>
        <p:nvSpPr>
          <p:cNvPr id="6" name="Text 4"/>
          <p:cNvSpPr/>
          <p:nvPr/>
        </p:nvSpPr>
        <p:spPr>
          <a:xfrm>
            <a:off x="3474167" y="220636"/>
            <a:ext cx="5486400" cy="502920"/>
          </a:xfrm>
          <a:prstGeom prst="rect">
            <a:avLst/>
          </a:prstGeom>
          <a:noFill/>
          <a:ln/>
        </p:spPr>
        <p:txBody>
          <a:bodyPr wrap="square" lIns="0" tIns="0" rIns="0" bIns="0" rtlCol="0" anchor="ctr"/>
          <a:lstStyle/>
          <a:p>
            <a:pPr>
              <a:defRPr/>
            </a:pPr>
            <a:r>
              <a:rPr lang="en-US" i="1">
                <a:solidFill>
                  <a:srgbClr val="8B949E"/>
                </a:solidFill>
                <a:latin typeface="Calibri"/>
                <a:ea typeface="Calibri"/>
                <a:cs typeface="Calibri"/>
              </a:rPr>
              <a:t>Go to the command line.</a:t>
            </a:r>
            <a:endParaRPr lang="en-US">
              <a:solidFill>
                <a:srgbClr val="000000"/>
              </a:solidFill>
              <a:latin typeface="Calibri"/>
              <a:ea typeface="Calibri"/>
              <a:cs typeface="Calibri"/>
            </a:endParaRPr>
          </a:p>
          <a:p>
            <a:pPr marL="0" marR="0" lvl="0" indent="0" algn="ctr" defTabSz="914400">
              <a:lnSpc>
                <a:spcPct val="100000"/>
              </a:lnSpc>
              <a:spcBef>
                <a:spcPts val="0"/>
              </a:spcBef>
              <a:spcAft>
                <a:spcPts val="0"/>
              </a:spcAft>
              <a:buClrTx/>
              <a:buSzTx/>
              <a:buFontTx/>
              <a:buNone/>
              <a:tabLst/>
              <a:defRPr/>
            </a:pPr>
            <a:endParaRPr lang="en-US" sz="1600" b="0" i="0" u="none" strike="noStrike" kern="1200" cap="none" spc="0" normalizeH="0" baseline="0" noProof="0">
              <a:ln>
                <a:noFill/>
              </a:ln>
              <a:solidFill>
                <a:srgbClr val="8B949E"/>
              </a:solidFill>
              <a:effectLst/>
              <a:uLnTx/>
              <a:uFillTx/>
              <a:latin typeface="Courier New"/>
              <a:cs typeface="Courier New"/>
            </a:endParaRPr>
          </a:p>
        </p:txBody>
      </p:sp>
      <p:sp>
        <p:nvSpPr>
          <p:cNvPr id="9" name="Text 7"/>
          <p:cNvSpPr/>
          <p:nvPr/>
        </p:nvSpPr>
        <p:spPr>
          <a:xfrm>
            <a:off x="320040" y="749808"/>
            <a:ext cx="850392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a:ln>
                  <a:noFill/>
                </a:ln>
                <a:solidFill>
                  <a:srgbClr val="F0F6FC"/>
                </a:solidFill>
                <a:effectLst/>
                <a:uLnTx/>
                <a:uFillTx/>
                <a:latin typeface="Calibri" pitchFamily="34" charset="0"/>
                <a:ea typeface="Calibri" pitchFamily="34" charset="-122"/>
                <a:cs typeface="Calibri" pitchFamily="34" charset="-120"/>
              </a:rPr>
              <a:t>DEMO</a:t>
            </a:r>
            <a:endParaRPr kumimoji="0" lang="en-US" sz="2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320040" y="1170432"/>
            <a:ext cx="85039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1" u="none" strike="noStrike" kern="1200" cap="none" spc="0" normalizeH="0" baseline="0" noProof="0">
              <a:ln>
                <a:noFill/>
              </a:ln>
              <a:solidFill>
                <a:srgbClr val="8B949E"/>
              </a:solidFill>
              <a:effectLst/>
              <a:uLnTx/>
              <a:uFillTx/>
              <a:latin typeface="Calibri" panose="020F0502020204030204"/>
              <a:ea typeface="Calibri"/>
              <a:cs typeface="Calibri"/>
            </a:endParaRPr>
          </a:p>
        </p:txBody>
      </p:sp>
      <p:sp>
        <p:nvSpPr>
          <p:cNvPr id="11" name="Shape 9"/>
          <p:cNvSpPr/>
          <p:nvPr/>
        </p:nvSpPr>
        <p:spPr>
          <a:xfrm>
            <a:off x="320040" y="1545336"/>
            <a:ext cx="384048" cy="384048"/>
          </a:xfrm>
          <a:prstGeom prst="rect">
            <a:avLst/>
          </a:prstGeom>
          <a:solidFill>
            <a:srgbClr val="3FB950">
              <a:alpha val="15000"/>
            </a:srgbClr>
          </a:solidFill>
          <a:ln w="12700">
            <a:solidFill>
              <a:srgbClr val="3FB950"/>
            </a:solidFill>
            <a:prstDash val="solid"/>
          </a:ln>
        </p:spPr>
        <p:txBody>
          <a:bodyPr/>
          <a:lstStyle/>
          <a:p>
            <a:endParaRPr lang="en-US"/>
          </a:p>
        </p:txBody>
      </p:sp>
      <p:sp>
        <p:nvSpPr>
          <p:cNvPr id="12" name="Text 10"/>
          <p:cNvSpPr/>
          <p:nvPr/>
        </p:nvSpPr>
        <p:spPr>
          <a:xfrm>
            <a:off x="320040" y="154533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FB950"/>
                </a:solidFill>
                <a:effectLst/>
                <a:uLnTx/>
                <a:uFillTx/>
                <a:latin typeface="Courier New" pitchFamily="34" charset="0"/>
                <a:ea typeface="Courier New" pitchFamily="34" charset="-122"/>
                <a:cs typeface="Courier New" pitchFamily="34" charset="-120"/>
              </a:rPr>
              <a:t>01</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p:cNvSpPr/>
          <p:nvPr/>
        </p:nvSpPr>
        <p:spPr>
          <a:xfrm>
            <a:off x="804672" y="1665314"/>
            <a:ext cx="3520440" cy="237744"/>
          </a:xfrm>
          <a:prstGeom prst="rect">
            <a:avLst/>
          </a:prstGeom>
          <a:noFill/>
          <a:ln/>
        </p:spPr>
        <p:txBody>
          <a:bodyPr wrap="square" lIns="0" tIns="0" rIns="0" bIns="0" rtlCol="0" anchor="b"/>
          <a:lstStyle/>
          <a:p>
            <a:pPr>
              <a:defRPr/>
            </a:pPr>
            <a:r>
              <a:rPr lang="en-US" sz="1350" b="1">
                <a:solidFill>
                  <a:srgbClr val="F0F6FC"/>
                </a:solidFill>
                <a:latin typeface="Calibri"/>
                <a:ea typeface="Calibri"/>
                <a:cs typeface="Calibri"/>
              </a:rPr>
              <a:t>Clone from my </a:t>
            </a:r>
            <a:r>
              <a:rPr lang="en-US" sz="1350" b="1" err="1">
                <a:solidFill>
                  <a:srgbClr val="F0F6FC"/>
                </a:solidFill>
                <a:latin typeface="Calibri"/>
                <a:ea typeface="Calibri"/>
                <a:cs typeface="Calibri"/>
              </a:rPr>
              <a:t>Github</a:t>
            </a:r>
            <a:r>
              <a:rPr lang="en-US" sz="1350" b="1">
                <a:solidFill>
                  <a:srgbClr val="F0F6FC"/>
                </a:solidFill>
                <a:latin typeface="Calibri"/>
                <a:ea typeface="Calibri"/>
                <a:cs typeface="Calibri"/>
              </a:rPr>
              <a:t> (</a:t>
            </a:r>
            <a:r>
              <a:rPr lang="en-US" sz="1350" b="1" err="1">
                <a:solidFill>
                  <a:srgbClr val="F0F6FC"/>
                </a:solidFill>
                <a:latin typeface="Calibri"/>
                <a:ea typeface="Calibri"/>
                <a:cs typeface="Calibri"/>
              </a:rPr>
              <a:t>ianmoss</a:t>
            </a:r>
            <a:r>
              <a:rPr lang="en-US" sz="1350" b="1">
                <a:solidFill>
                  <a:srgbClr val="F0F6FC"/>
                </a:solidFill>
                <a:latin typeface="Calibri"/>
                <a:ea typeface="Calibri"/>
                <a:cs typeface="Calibri"/>
              </a:rPr>
              <a:t>-dev): repo: fire-for-effect. </a:t>
            </a:r>
            <a:endParaRPr kumimoji="0" lang="en-US" sz="1350" b="0" i="0" u="none" strike="noStrike" kern="1200" cap="none" spc="0" normalizeH="0" baseline="0" noProof="0">
              <a:ln>
                <a:noFill/>
              </a:ln>
              <a:solidFill>
                <a:prstClr val="black"/>
              </a:solidFill>
              <a:effectLst/>
              <a:uLnTx/>
              <a:uFillTx/>
              <a:latin typeface="Calibri"/>
              <a:ea typeface="Calibri"/>
              <a:cs typeface="Calibri"/>
            </a:endParaRPr>
          </a:p>
        </p:txBody>
      </p:sp>
      <p:sp>
        <p:nvSpPr>
          <p:cNvPr id="14" name="Text 12"/>
          <p:cNvSpPr/>
          <p:nvPr/>
        </p:nvSpPr>
        <p:spPr>
          <a:xfrm>
            <a:off x="804672" y="1921346"/>
            <a:ext cx="3520440" cy="256032"/>
          </a:xfrm>
          <a:prstGeom prst="rect">
            <a:avLst/>
          </a:prstGeom>
          <a:noFill/>
          <a:ln/>
        </p:spPr>
        <p:txBody>
          <a:bodyPr wrap="square" lIns="0" tIns="0" rIns="0" bIns="0" rtlCol="0" anchor="t"/>
          <a:lstStyle/>
          <a:p>
            <a:pPr>
              <a:defRPr/>
            </a:pPr>
            <a:r>
              <a:rPr lang="en-US" sz="1000">
                <a:solidFill>
                  <a:srgbClr val="8B949E"/>
                </a:solidFill>
                <a:latin typeface="Courier New"/>
                <a:ea typeface="Courier New" pitchFamily="34" charset="-122"/>
                <a:cs typeface="Courier New"/>
              </a:rPr>
              <a:t> download app</a:t>
            </a:r>
            <a:r>
              <a:rPr kumimoji="0" lang="en-US" sz="1000" b="0" i="0" u="none" strike="noStrike" kern="1200" cap="none" spc="0" normalizeH="0" baseline="0" noProof="0">
                <a:ln>
                  <a:noFill/>
                </a:ln>
                <a:solidFill>
                  <a:srgbClr val="8B949E"/>
                </a:solidFill>
                <a:effectLst/>
                <a:uLnTx/>
                <a:uFillTx/>
                <a:latin typeface="Courier New"/>
                <a:ea typeface="Courier New" pitchFamily="34" charset="-122"/>
                <a:cs typeface="Courier New"/>
              </a:rPr>
              <a:t>.py  +  </a:t>
            </a:r>
            <a:r>
              <a:rPr kumimoji="0" lang="en-US" sz="1000" b="0" i="0" u="none" strike="noStrike" kern="1200" cap="none" spc="0" normalizeH="0" baseline="0" noProof="0" err="1">
                <a:ln>
                  <a:noFill/>
                </a:ln>
                <a:solidFill>
                  <a:srgbClr val="8B949E"/>
                </a:solidFill>
                <a:effectLst/>
                <a:uLnTx/>
                <a:uFillTx/>
                <a:latin typeface="Courier New"/>
                <a:ea typeface="Courier New" pitchFamily="34" charset="-122"/>
                <a:cs typeface="Courier New"/>
              </a:rPr>
              <a:t>military_data.json</a:t>
            </a:r>
            <a:r>
              <a:rPr kumimoji="0" lang="en-US" sz="1000" b="0" i="0" u="none" strike="noStrike" kern="1200" cap="none" spc="0" normalizeH="0" baseline="0" noProof="0">
                <a:ln>
                  <a:noFill/>
                </a:ln>
                <a:solidFill>
                  <a:srgbClr val="8B949E"/>
                </a:solidFill>
                <a:effectLst/>
                <a:uLnTx/>
                <a:uFillTx/>
                <a:latin typeface="Courier New"/>
                <a:ea typeface="Courier New" pitchFamily="34" charset="-122"/>
                <a:cs typeface="Courier New"/>
              </a:rPr>
              <a:t>  — keep them in the same folder</a:t>
            </a:r>
            <a:endParaRPr kumimoji="0" lang="en-US" sz="1000" b="0" i="0" u="none" strike="noStrike" kern="1200" cap="none" spc="0" normalizeH="0" baseline="0" noProof="0">
              <a:ln>
                <a:noFill/>
              </a:ln>
              <a:solidFill>
                <a:prstClr val="black"/>
              </a:solidFill>
              <a:effectLst/>
              <a:uLnTx/>
              <a:uFillTx/>
              <a:latin typeface="Courier New"/>
              <a:cs typeface="Courier New"/>
            </a:endParaRPr>
          </a:p>
        </p:txBody>
      </p:sp>
      <p:sp>
        <p:nvSpPr>
          <p:cNvPr id="15" name="Shape 13"/>
          <p:cNvSpPr/>
          <p:nvPr/>
        </p:nvSpPr>
        <p:spPr>
          <a:xfrm>
            <a:off x="489204" y="1929384"/>
            <a:ext cx="18288" cy="420624"/>
          </a:xfrm>
          <a:prstGeom prst="rect">
            <a:avLst/>
          </a:prstGeom>
          <a:solidFill>
            <a:srgbClr val="30363D"/>
          </a:solidFill>
          <a:ln w="12700">
            <a:solidFill>
              <a:srgbClr val="30363D"/>
            </a:solidFill>
            <a:prstDash val="solid"/>
          </a:ln>
        </p:spPr>
        <p:txBody>
          <a:bodyPr/>
          <a:lstStyle/>
          <a:p>
            <a:endParaRPr lang="en-US"/>
          </a:p>
        </p:txBody>
      </p:sp>
      <p:sp>
        <p:nvSpPr>
          <p:cNvPr id="16" name="Shape 14"/>
          <p:cNvSpPr/>
          <p:nvPr/>
        </p:nvSpPr>
        <p:spPr>
          <a:xfrm>
            <a:off x="320040" y="2386584"/>
            <a:ext cx="384048" cy="384048"/>
          </a:xfrm>
          <a:prstGeom prst="rect">
            <a:avLst/>
          </a:prstGeom>
          <a:solidFill>
            <a:srgbClr val="3FB950">
              <a:alpha val="15000"/>
            </a:srgbClr>
          </a:solidFill>
          <a:ln w="12700">
            <a:solidFill>
              <a:srgbClr val="3FB950"/>
            </a:solidFill>
            <a:prstDash val="solid"/>
          </a:ln>
        </p:spPr>
        <p:txBody>
          <a:bodyPr/>
          <a:lstStyle/>
          <a:p>
            <a:endParaRPr lang="en-US"/>
          </a:p>
        </p:txBody>
      </p:sp>
      <p:sp>
        <p:nvSpPr>
          <p:cNvPr id="17" name="Text 15"/>
          <p:cNvSpPr/>
          <p:nvPr/>
        </p:nvSpPr>
        <p:spPr>
          <a:xfrm>
            <a:off x="320040" y="2386584"/>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FB950"/>
                </a:solidFill>
                <a:effectLst/>
                <a:uLnTx/>
                <a:uFillTx/>
                <a:latin typeface="Courier New" pitchFamily="34" charset="0"/>
                <a:ea typeface="Courier New" pitchFamily="34" charset="-122"/>
                <a:cs typeface="Courier New" pitchFamily="34" charset="-120"/>
              </a:rPr>
              <a:t>02</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p:nvPr/>
        </p:nvSpPr>
        <p:spPr>
          <a:xfrm>
            <a:off x="804672" y="2368296"/>
            <a:ext cx="3520440" cy="237744"/>
          </a:xfrm>
          <a:prstGeom prst="rect">
            <a:avLst/>
          </a:prstGeom>
          <a:noFill/>
          <a:ln/>
        </p:spPr>
        <p:txBody>
          <a:bodyPr wrap="square" lIns="0" tIns="0" rIns="0"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srgbClr val="F0F6FC"/>
                </a:solidFill>
                <a:effectLst/>
                <a:uLnTx/>
                <a:uFillTx/>
                <a:latin typeface="Calibri" pitchFamily="34" charset="0"/>
                <a:ea typeface="Calibri" pitchFamily="34" charset="-122"/>
                <a:cs typeface="Calibri" pitchFamily="34" charset="-120"/>
              </a:rPr>
              <a:t>Open a terminal</a:t>
            </a: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8"/>
          <p:cNvSpPr/>
          <p:nvPr/>
        </p:nvSpPr>
        <p:spPr>
          <a:xfrm>
            <a:off x="489204" y="2770632"/>
            <a:ext cx="18288" cy="420624"/>
          </a:xfrm>
          <a:prstGeom prst="rect">
            <a:avLst/>
          </a:prstGeom>
          <a:solidFill>
            <a:srgbClr val="30363D"/>
          </a:solidFill>
          <a:ln w="12700">
            <a:solidFill>
              <a:srgbClr val="30363D"/>
            </a:solidFill>
            <a:prstDash val="solid"/>
          </a:ln>
        </p:spPr>
        <p:txBody>
          <a:bodyPr/>
          <a:lstStyle/>
          <a:p>
            <a:endParaRPr lang="en-US"/>
          </a:p>
        </p:txBody>
      </p:sp>
      <p:sp>
        <p:nvSpPr>
          <p:cNvPr id="21" name="Shape 19"/>
          <p:cNvSpPr/>
          <p:nvPr/>
        </p:nvSpPr>
        <p:spPr>
          <a:xfrm>
            <a:off x="320040" y="3227832"/>
            <a:ext cx="384048" cy="384048"/>
          </a:xfrm>
          <a:prstGeom prst="rect">
            <a:avLst/>
          </a:prstGeom>
          <a:solidFill>
            <a:srgbClr val="3FB950">
              <a:alpha val="15000"/>
            </a:srgbClr>
          </a:solidFill>
          <a:ln w="12700">
            <a:solidFill>
              <a:srgbClr val="3FB950"/>
            </a:solidFill>
            <a:prstDash val="solid"/>
          </a:ln>
        </p:spPr>
        <p:txBody>
          <a:bodyPr/>
          <a:lstStyle/>
          <a:p>
            <a:endParaRPr lang="en-US"/>
          </a:p>
        </p:txBody>
      </p:sp>
      <p:sp>
        <p:nvSpPr>
          <p:cNvPr id="22" name="Text 20"/>
          <p:cNvSpPr/>
          <p:nvPr/>
        </p:nvSpPr>
        <p:spPr>
          <a:xfrm>
            <a:off x="320040" y="3227832"/>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FB950"/>
                </a:solidFill>
                <a:effectLst/>
                <a:uLnTx/>
                <a:uFillTx/>
                <a:latin typeface="Courier New" pitchFamily="34" charset="0"/>
                <a:ea typeface="Courier New" pitchFamily="34" charset="-122"/>
                <a:cs typeface="Courier New" pitchFamily="34" charset="-120"/>
              </a:rPr>
              <a:t>03</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1"/>
          <p:cNvSpPr/>
          <p:nvPr/>
        </p:nvSpPr>
        <p:spPr>
          <a:xfrm>
            <a:off x="804672" y="3209544"/>
            <a:ext cx="3520440" cy="237744"/>
          </a:xfrm>
          <a:prstGeom prst="rect">
            <a:avLst/>
          </a:prstGeom>
          <a:noFill/>
          <a:ln/>
        </p:spPr>
        <p:txBody>
          <a:bodyPr wrap="square" lIns="0" tIns="0" rIns="0" bIns="0" rtlCol="0" anchor="b"/>
          <a:lstStyle/>
          <a:p>
            <a:pPr>
              <a:defRPr/>
            </a:pPr>
            <a:r>
              <a:rPr lang="en-US" sz="1350" b="1">
                <a:solidFill>
                  <a:srgbClr val="F0F6FC"/>
                </a:solidFill>
                <a:latin typeface="Calibri"/>
                <a:ea typeface="Calibri"/>
                <a:cs typeface="Calibri"/>
              </a:rPr>
              <a:t>Might have to</a:t>
            </a:r>
            <a:r>
              <a:rPr kumimoji="0" lang="en-US" sz="1350" b="1" i="0" u="none" strike="noStrike" kern="1200" cap="none" spc="0" normalizeH="0" baseline="0" noProof="0">
                <a:ln>
                  <a:noFill/>
                </a:ln>
                <a:solidFill>
                  <a:srgbClr val="F0F6FC"/>
                </a:solidFill>
                <a:effectLst/>
                <a:uLnTx/>
                <a:uFillTx/>
                <a:latin typeface="Calibri"/>
                <a:ea typeface="Calibri"/>
                <a:cs typeface="Calibri"/>
              </a:rPr>
              <a:t> pip </a:t>
            </a:r>
            <a:r>
              <a:rPr lang="en-US" sz="1350" b="1">
                <a:solidFill>
                  <a:srgbClr val="F0F6FC"/>
                </a:solidFill>
                <a:latin typeface="Calibri"/>
                <a:ea typeface="Calibri"/>
                <a:cs typeface="Calibri"/>
              </a:rPr>
              <a:t>install</a:t>
            </a:r>
            <a:endParaRPr kumimoji="0" lang="en-US" sz="1350" b="0" i="0" u="none" strike="noStrike" kern="1200" cap="none" spc="0" normalizeH="0" baseline="0" noProof="0">
              <a:ln>
                <a:noFill/>
              </a:ln>
              <a:solidFill>
                <a:prstClr val="black"/>
              </a:solidFill>
              <a:effectLst/>
              <a:uLnTx/>
              <a:uFillTx/>
              <a:latin typeface="Calibri"/>
              <a:ea typeface="Calibri"/>
              <a:cs typeface="Calibri"/>
            </a:endParaRPr>
          </a:p>
        </p:txBody>
      </p:sp>
      <p:sp>
        <p:nvSpPr>
          <p:cNvPr id="25" name="Shape 23"/>
          <p:cNvSpPr/>
          <p:nvPr/>
        </p:nvSpPr>
        <p:spPr>
          <a:xfrm>
            <a:off x="489204" y="3611880"/>
            <a:ext cx="18288" cy="420624"/>
          </a:xfrm>
          <a:prstGeom prst="rect">
            <a:avLst/>
          </a:prstGeom>
          <a:solidFill>
            <a:srgbClr val="30363D"/>
          </a:solidFill>
          <a:ln w="12700">
            <a:solidFill>
              <a:srgbClr val="30363D"/>
            </a:solidFill>
            <a:prstDash val="solid"/>
          </a:ln>
        </p:spPr>
        <p:txBody>
          <a:bodyPr/>
          <a:lstStyle/>
          <a:p>
            <a:endParaRPr lang="en-US"/>
          </a:p>
        </p:txBody>
      </p:sp>
      <p:sp>
        <p:nvSpPr>
          <p:cNvPr id="26" name="Shape 24"/>
          <p:cNvSpPr/>
          <p:nvPr/>
        </p:nvSpPr>
        <p:spPr>
          <a:xfrm>
            <a:off x="320040" y="4069080"/>
            <a:ext cx="384048" cy="384048"/>
          </a:xfrm>
          <a:prstGeom prst="rect">
            <a:avLst/>
          </a:prstGeom>
          <a:solidFill>
            <a:srgbClr val="3FB950">
              <a:alpha val="15000"/>
            </a:srgbClr>
          </a:solidFill>
          <a:ln w="12700">
            <a:solidFill>
              <a:srgbClr val="3FB950"/>
            </a:solidFill>
            <a:prstDash val="solid"/>
          </a:ln>
        </p:spPr>
        <p:txBody>
          <a:bodyPr/>
          <a:lstStyle/>
          <a:p>
            <a:endParaRPr lang="en-US"/>
          </a:p>
        </p:txBody>
      </p:sp>
      <p:sp>
        <p:nvSpPr>
          <p:cNvPr id="27" name="Text 25"/>
          <p:cNvSpPr/>
          <p:nvPr/>
        </p:nvSpPr>
        <p:spPr>
          <a:xfrm>
            <a:off x="320040" y="406908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3FB950"/>
                </a:solidFill>
                <a:effectLst/>
                <a:uLnTx/>
                <a:uFillTx/>
                <a:latin typeface="Courier New" pitchFamily="34" charset="0"/>
                <a:ea typeface="Courier New" pitchFamily="34" charset="-122"/>
                <a:cs typeface="Courier New" pitchFamily="34" charset="-120"/>
              </a:rPr>
              <a:t>04</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6"/>
          <p:cNvSpPr/>
          <p:nvPr/>
        </p:nvSpPr>
        <p:spPr>
          <a:xfrm>
            <a:off x="804672" y="4050792"/>
            <a:ext cx="3520440" cy="237744"/>
          </a:xfrm>
          <a:prstGeom prst="rect">
            <a:avLst/>
          </a:prstGeom>
          <a:noFill/>
          <a:ln/>
        </p:spPr>
        <p:txBody>
          <a:bodyPr wrap="square" lIns="0" tIns="0" rIns="0" bIns="0"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srgbClr val="F0F6FC"/>
                </a:solidFill>
                <a:effectLst/>
                <a:uLnTx/>
                <a:uFillTx/>
                <a:latin typeface="Calibri" pitchFamily="34" charset="0"/>
                <a:ea typeface="Calibri" pitchFamily="34" charset="-122"/>
                <a:cs typeface="Calibri" pitchFamily="34" charset="-120"/>
              </a:rPr>
              <a:t>streamlit run app.py</a:t>
            </a:r>
            <a:endParaRPr kumimoji="0" lang="en-US" sz="13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8"/>
          <p:cNvSpPr/>
          <p:nvPr/>
        </p:nvSpPr>
        <p:spPr>
          <a:xfrm>
            <a:off x="4480560" y="1481328"/>
            <a:ext cx="4480560" cy="3383280"/>
          </a:xfrm>
          <a:prstGeom prst="rect">
            <a:avLst/>
          </a:prstGeom>
          <a:solidFill>
            <a:srgbClr val="161B22"/>
          </a:solidFill>
          <a:ln w="12700">
            <a:solidFill>
              <a:srgbClr val="30363D"/>
            </a:solidFill>
            <a:prstDash val="solid"/>
          </a:ln>
        </p:spPr>
        <p:txBody>
          <a:bodyPr/>
          <a:lstStyle/>
          <a:p>
            <a:endParaRPr lang="en-US"/>
          </a:p>
        </p:txBody>
      </p:sp>
      <p:sp>
        <p:nvSpPr>
          <p:cNvPr id="31" name="Shape 29"/>
          <p:cNvSpPr/>
          <p:nvPr/>
        </p:nvSpPr>
        <p:spPr>
          <a:xfrm>
            <a:off x="4480560" y="1481328"/>
            <a:ext cx="4480560" cy="256032"/>
          </a:xfrm>
          <a:prstGeom prst="rect">
            <a:avLst/>
          </a:prstGeom>
          <a:solidFill>
            <a:srgbClr val="21262D"/>
          </a:solidFill>
          <a:ln w="12700">
            <a:solidFill>
              <a:srgbClr val="30363D"/>
            </a:solidFill>
            <a:prstDash val="solid"/>
          </a:ln>
        </p:spPr>
        <p:txBody>
          <a:bodyPr/>
          <a:lstStyle/>
          <a:p>
            <a:endParaRPr lang="en-US"/>
          </a:p>
        </p:txBody>
      </p:sp>
      <p:sp>
        <p:nvSpPr>
          <p:cNvPr id="32" name="Text 30"/>
          <p:cNvSpPr/>
          <p:nvPr/>
        </p:nvSpPr>
        <p:spPr>
          <a:xfrm>
            <a:off x="4480560" y="1481328"/>
            <a:ext cx="448056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B949E"/>
                </a:solidFill>
                <a:effectLst/>
                <a:uLnTx/>
                <a:uFillTx/>
                <a:latin typeface="Courier New" pitchFamily="34" charset="0"/>
                <a:ea typeface="Courier New" pitchFamily="34" charset="-122"/>
                <a:cs typeface="Courier New" pitchFamily="34" charset="-120"/>
              </a:rPr>
              <a:t>pip install</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Text 31"/>
          <p:cNvSpPr/>
          <p:nvPr/>
        </p:nvSpPr>
        <p:spPr>
          <a:xfrm>
            <a:off x="4645152" y="1810512"/>
            <a:ext cx="2743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3FB950"/>
                </a:solidFill>
                <a:effectLst/>
                <a:uLnTx/>
                <a:uFillTx/>
                <a:latin typeface="Courier New" pitchFamily="34" charset="0"/>
                <a:ea typeface="Courier New" pitchFamily="34" charset="-122"/>
                <a:cs typeface="Courier New" pitchFamily="34" charset="-120"/>
              </a:rPr>
              <a:t>$ </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2"/>
          <p:cNvSpPr/>
          <p:nvPr/>
        </p:nvSpPr>
        <p:spPr>
          <a:xfrm>
            <a:off x="4864608" y="1810512"/>
            <a:ext cx="39776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F0F6FC"/>
                </a:solidFill>
                <a:effectLst/>
                <a:uLnTx/>
                <a:uFillTx/>
                <a:latin typeface="Courier New" pitchFamily="34" charset="0"/>
                <a:ea typeface="Courier New" pitchFamily="34" charset="-122"/>
                <a:cs typeface="Courier New" pitchFamily="34" charset="-120"/>
              </a:rPr>
              <a:t>pip install \</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3"/>
          <p:cNvSpPr/>
          <p:nvPr/>
        </p:nvSpPr>
        <p:spPr>
          <a:xfrm>
            <a:off x="4645152" y="2066544"/>
            <a:ext cx="42062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8B949E"/>
                </a:solidFill>
                <a:effectLst/>
                <a:uLnTx/>
                <a:uFillTx/>
                <a:latin typeface="Courier New" pitchFamily="34" charset="0"/>
                <a:ea typeface="Courier New" pitchFamily="34" charset="-122"/>
                <a:cs typeface="Courier New" pitchFamily="34" charset="-120"/>
              </a:rPr>
              <a:t>  streamlit pandas numpy altair plotly \</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4"/>
          <p:cNvSpPr/>
          <p:nvPr/>
        </p:nvSpPr>
        <p:spPr>
          <a:xfrm>
            <a:off x="4645152" y="2340864"/>
            <a:ext cx="42062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8B949E"/>
                </a:solidFill>
                <a:effectLst/>
                <a:uLnTx/>
                <a:uFillTx/>
                <a:latin typeface="Courier New" pitchFamily="34" charset="0"/>
                <a:ea typeface="Courier New" pitchFamily="34" charset="-122"/>
                <a:cs typeface="Courier New" pitchFamily="34" charset="-120"/>
              </a:rPr>
              <a:t>  matplotlib requests </a:t>
            </a:r>
            <a:r>
              <a:rPr kumimoji="0" lang="en-US" sz="1050" b="1" i="0" u="sng" strike="noStrike" kern="1200" cap="none" spc="0" normalizeH="0" baseline="0" noProof="0">
                <a:ln>
                  <a:noFill/>
                </a:ln>
                <a:solidFill>
                  <a:srgbClr val="FFA657"/>
                </a:solidFill>
                <a:effectLst/>
                <a:uLnTx/>
                <a:uFillTx/>
                <a:latin typeface="Courier New" pitchFamily="34" charset="0"/>
                <a:ea typeface="Courier New" pitchFamily="34" charset="-122"/>
                <a:cs typeface="Courier New" pitchFamily="34" charset="-120"/>
              </a:rPr>
              <a:t>fpdf2 </a:t>
            </a:r>
            <a:r>
              <a:rPr kumimoji="0" lang="en-US" sz="1050" b="0" i="0" u="none" strike="noStrike" kern="1200" cap="none" spc="0" normalizeH="0" baseline="0" noProof="0">
                <a:ln>
                  <a:noFill/>
                </a:ln>
                <a:solidFill>
                  <a:srgbClr val="8B949E"/>
                </a:solidFill>
                <a:effectLst/>
                <a:uLnTx/>
                <a:uFillTx/>
                <a:latin typeface="Courier New" pitchFamily="34" charset="0"/>
                <a:ea typeface="Courier New" pitchFamily="34" charset="-122"/>
                <a:cs typeface="Courier New" pitchFamily="34" charset="-120"/>
              </a:rPr>
              <a:t>\</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Text 35"/>
          <p:cNvSpPr/>
          <p:nvPr/>
        </p:nvSpPr>
        <p:spPr>
          <a:xfrm>
            <a:off x="4645152" y="2615184"/>
            <a:ext cx="42062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sng" strike="noStrike" kern="1200" cap="none" spc="0" normalizeH="0" baseline="0" noProof="0">
                <a:ln>
                  <a:noFill/>
                </a:ln>
                <a:solidFill>
                  <a:srgbClr val="FFA657"/>
                </a:solidFill>
                <a:effectLst/>
                <a:uLnTx/>
                <a:uFillTx/>
                <a:latin typeface="Courier New" pitchFamily="34" charset="0"/>
                <a:ea typeface="Courier New" pitchFamily="34" charset="-122"/>
                <a:cs typeface="Courier New" pitchFamily="34" charset="-120"/>
              </a:rPr>
              <a:t>  gspread google-auth yfinance</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6"/>
          <p:cNvSpPr/>
          <p:nvPr/>
        </p:nvSpPr>
        <p:spPr>
          <a:xfrm>
            <a:off x="4645152" y="2944368"/>
            <a:ext cx="4151376" cy="9144"/>
          </a:xfrm>
          <a:prstGeom prst="rect">
            <a:avLst/>
          </a:prstGeom>
          <a:solidFill>
            <a:srgbClr val="30363D"/>
          </a:solidFill>
          <a:ln w="12700">
            <a:solidFill>
              <a:srgbClr val="30363D"/>
            </a:solidFill>
            <a:prstDash val="solid"/>
          </a:ln>
        </p:spPr>
        <p:txBody>
          <a:bodyPr/>
          <a:lstStyle/>
          <a:p>
            <a:endParaRPr lang="en-US"/>
          </a:p>
        </p:txBody>
      </p:sp>
      <p:sp>
        <p:nvSpPr>
          <p:cNvPr id="39" name="Text 37"/>
          <p:cNvSpPr/>
          <p:nvPr/>
        </p:nvSpPr>
        <p:spPr>
          <a:xfrm>
            <a:off x="4645152" y="3035808"/>
            <a:ext cx="2743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3FB950"/>
                </a:solidFill>
                <a:effectLst/>
                <a:uLnTx/>
                <a:uFillTx/>
                <a:latin typeface="Courier New" pitchFamily="34" charset="0"/>
                <a:ea typeface="Courier New" pitchFamily="34" charset="-122"/>
                <a:cs typeface="Courier New" pitchFamily="34" charset="-120"/>
              </a:rPr>
              <a:t>$ </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Text 38"/>
          <p:cNvSpPr/>
          <p:nvPr/>
        </p:nvSpPr>
        <p:spPr>
          <a:xfrm>
            <a:off x="4864608" y="3035808"/>
            <a:ext cx="39776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8B949E"/>
                </a:solidFill>
                <a:effectLst/>
                <a:uLnTx/>
                <a:uFillTx/>
                <a:latin typeface="Courier New" pitchFamily="34" charset="0"/>
                <a:ea typeface="Courier New" pitchFamily="34" charset="-122"/>
                <a:cs typeface="Courier New" pitchFamily="34" charset="-120"/>
              </a:rPr>
              <a:t># drop the .json credentials file in</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Text 39"/>
          <p:cNvSpPr/>
          <p:nvPr/>
        </p:nvSpPr>
        <p:spPr>
          <a:xfrm>
            <a:off x="4864608" y="3291840"/>
            <a:ext cx="39776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8B949E"/>
                </a:solidFill>
                <a:effectLst/>
                <a:uLnTx/>
                <a:uFillTx/>
                <a:latin typeface="Courier New" pitchFamily="34" charset="0"/>
                <a:ea typeface="Courier New" pitchFamily="34" charset="-122"/>
                <a:cs typeface="Courier New" pitchFamily="34" charset="-120"/>
              </a:rPr>
              <a:t># the same folder as app.py</a:t>
            </a:r>
            <a:endParaRPr kumimoji="0" lang="en-US" sz="10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40"/>
          <p:cNvSpPr/>
          <p:nvPr/>
        </p:nvSpPr>
        <p:spPr>
          <a:xfrm>
            <a:off x="4645152" y="3566160"/>
            <a:ext cx="4151376" cy="9144"/>
          </a:xfrm>
          <a:prstGeom prst="rect">
            <a:avLst/>
          </a:prstGeom>
          <a:solidFill>
            <a:srgbClr val="30363D"/>
          </a:solidFill>
          <a:ln w="12700">
            <a:solidFill>
              <a:srgbClr val="30363D"/>
            </a:solidFill>
            <a:prstDash val="solid"/>
          </a:ln>
        </p:spPr>
        <p:txBody>
          <a:bodyPr/>
          <a:lstStyle/>
          <a:p>
            <a:endParaRPr lang="en-US"/>
          </a:p>
        </p:txBody>
      </p:sp>
      <p:sp>
        <p:nvSpPr>
          <p:cNvPr id="43" name="Text 41"/>
          <p:cNvSpPr/>
          <p:nvPr/>
        </p:nvSpPr>
        <p:spPr>
          <a:xfrm>
            <a:off x="4645152" y="3657600"/>
            <a:ext cx="2743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FB950"/>
                </a:solidFill>
                <a:effectLst/>
                <a:uLnTx/>
                <a:uFillTx/>
                <a:latin typeface="Courier New" pitchFamily="34" charset="0"/>
                <a:ea typeface="Courier New" pitchFamily="34" charset="-122"/>
                <a:cs typeface="Courier New" pitchFamily="34" charset="-120"/>
              </a:rPr>
              <a:t>$ </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Text 42"/>
          <p:cNvSpPr/>
          <p:nvPr/>
        </p:nvSpPr>
        <p:spPr>
          <a:xfrm>
            <a:off x="4864608" y="3657600"/>
            <a:ext cx="397764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0F6FC"/>
                </a:solidFill>
                <a:effectLst/>
                <a:uLnTx/>
                <a:uFillTx/>
                <a:latin typeface="Courier New" pitchFamily="34" charset="0"/>
                <a:ea typeface="Courier New" pitchFamily="34" charset="-122"/>
                <a:cs typeface="Courier New" pitchFamily="34" charset="-120"/>
              </a:rPr>
              <a:t>streamlit run app.py</a:t>
            </a: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3"/>
          <p:cNvSpPr/>
          <p:nvPr/>
        </p:nvSpPr>
        <p:spPr>
          <a:xfrm>
            <a:off x="7242048" y="3694176"/>
            <a:ext cx="91440" cy="182880"/>
          </a:xfrm>
          <a:prstGeom prst="rect">
            <a:avLst/>
          </a:prstGeom>
          <a:solidFill>
            <a:srgbClr val="3FB950"/>
          </a:solidFill>
          <a:ln w="12700">
            <a:solidFill>
              <a:srgbClr val="3FB950"/>
            </a:solidFill>
            <a:prstDash val="solid"/>
          </a:ln>
        </p:spPr>
        <p:txBody>
          <a:bodyPr/>
          <a:lstStyle/>
          <a:p>
            <a:endParaRPr lang="en-US"/>
          </a:p>
        </p:txBody>
      </p:sp>
      <p:sp>
        <p:nvSpPr>
          <p:cNvPr id="46" name="Text 44"/>
          <p:cNvSpPr/>
          <p:nvPr/>
        </p:nvSpPr>
        <p:spPr>
          <a:xfrm>
            <a:off x="4645152" y="3986784"/>
            <a:ext cx="42062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8B949E"/>
                </a:solidFill>
                <a:effectLst/>
                <a:uLnTx/>
                <a:uFillTx/>
                <a:latin typeface="Courier New" pitchFamily="34" charset="0"/>
                <a:ea typeface="Courier New" pitchFamily="34" charset="-122"/>
                <a:cs typeface="Courier New" pitchFamily="34" charset="-120"/>
              </a:rPr>
              <a:t>  You can now view your Streamlit app in your browser.</a:t>
            </a:r>
            <a:endParaRPr kumimoji="0" lang="en-US" sz="9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45"/>
          <p:cNvSpPr/>
          <p:nvPr/>
        </p:nvSpPr>
        <p:spPr>
          <a:xfrm>
            <a:off x="4645152" y="4206240"/>
            <a:ext cx="12344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8B949E"/>
                </a:solidFill>
                <a:effectLst/>
                <a:uLnTx/>
                <a:uFillTx/>
                <a:latin typeface="Courier New" pitchFamily="34" charset="0"/>
                <a:ea typeface="Courier New" pitchFamily="34" charset="-122"/>
                <a:cs typeface="Courier New" pitchFamily="34" charset="-120"/>
              </a:rPr>
              <a:t>  Local URL:  </a:t>
            </a:r>
            <a:endParaRPr kumimoji="0" lang="en-US" sz="9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46"/>
          <p:cNvSpPr/>
          <p:nvPr/>
        </p:nvSpPr>
        <p:spPr>
          <a:xfrm>
            <a:off x="5852160" y="4206240"/>
            <a:ext cx="25603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58A6FF"/>
                </a:solidFill>
                <a:effectLst/>
                <a:uLnTx/>
                <a:uFillTx/>
                <a:latin typeface="Courier New" pitchFamily="34" charset="0"/>
                <a:ea typeface="Courier New" pitchFamily="34" charset="-122"/>
                <a:cs typeface="Courier New" pitchFamily="34" charset="-120"/>
              </a:rPr>
              <a:t>http://localhost:8501</a:t>
            </a:r>
            <a:endParaRPr kumimoji="0" lang="en-US" sz="95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47"/>
          <p:cNvSpPr/>
          <p:nvPr/>
        </p:nvSpPr>
        <p:spPr>
          <a:xfrm>
            <a:off x="4645152" y="4480560"/>
            <a:ext cx="4151376" cy="9144"/>
          </a:xfrm>
          <a:prstGeom prst="rect">
            <a:avLst/>
          </a:prstGeom>
          <a:solidFill>
            <a:srgbClr val="30363D"/>
          </a:solidFill>
          <a:ln w="12700">
            <a:solidFill>
              <a:srgbClr val="30363D"/>
            </a:solidFill>
            <a:prstDash val="solid"/>
          </a:ln>
        </p:spPr>
        <p:txBody>
          <a:bodyPr/>
          <a:lstStyle/>
          <a:p>
            <a:endParaRPr lang="en-US"/>
          </a:p>
        </p:txBody>
      </p:sp>
      <p:sp>
        <p:nvSpPr>
          <p:cNvPr id="50" name="Text 48"/>
          <p:cNvSpPr/>
          <p:nvPr/>
        </p:nvSpPr>
        <p:spPr>
          <a:xfrm>
            <a:off x="4645152" y="4517136"/>
            <a:ext cx="4151376"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A657"/>
                </a:solidFill>
                <a:effectLst/>
                <a:uLnTx/>
                <a:uFillTx/>
                <a:latin typeface="Courier New" pitchFamily="34" charset="0"/>
                <a:ea typeface="Courier New" pitchFamily="34" charset="-122"/>
                <a:cs typeface="Courier New" pitchFamily="34" charset="-120"/>
              </a:rPr>
              <a:t>■ </a:t>
            </a:r>
            <a:r>
              <a:rPr kumimoji="0" lang="en-US" sz="900" b="0" i="0" u="none" strike="noStrike" kern="1200" cap="none" spc="0" normalizeH="0" baseline="0" noProof="0">
                <a:ln>
                  <a:noFill/>
                </a:ln>
                <a:solidFill>
                  <a:srgbClr val="8B949E"/>
                </a:solidFill>
                <a:effectLst/>
                <a:uLnTx/>
                <a:uFillTx/>
                <a:latin typeface="Courier New" pitchFamily="34" charset="0"/>
                <a:ea typeface="Courier New" pitchFamily="34" charset="-122"/>
                <a:cs typeface="Courier New" pitchFamily="34" charset="-120"/>
              </a:rPr>
              <a:t>= new packages not in a typical Streamlit install</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9"/>
          <p:cNvSpPr/>
          <p:nvPr/>
        </p:nvSpPr>
        <p:spPr>
          <a:xfrm>
            <a:off x="0" y="4864608"/>
            <a:ext cx="9144000" cy="278892"/>
          </a:xfrm>
          <a:prstGeom prst="rect">
            <a:avLst/>
          </a:prstGeom>
          <a:solidFill>
            <a:srgbClr val="1C2128"/>
          </a:solidFill>
          <a:ln w="12700">
            <a:solidFill>
              <a:srgbClr val="30363D"/>
            </a:solidFill>
            <a:prstDash val="solid"/>
          </a:ln>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A30"/>
        </a:solidFill>
        <a:effectLst/>
      </p:bgPr>
    </p:bg>
    <p:spTree>
      <p:nvGrpSpPr>
        <p:cNvPr id="1" name="">
          <a:extLst>
            <a:ext uri="{FF2B5EF4-FFF2-40B4-BE49-F238E27FC236}">
              <a16:creationId xmlns:a16="http://schemas.microsoft.com/office/drawing/2014/main" id="{27473084-6476-1364-ACB0-8EEEC48C4E1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A918010-7C90-3CF4-1263-9A74B00EEEE7}"/>
              </a:ext>
            </a:extLst>
          </p:cNvPr>
          <p:cNvSpPr/>
          <p:nvPr/>
        </p:nvSpPr>
        <p:spPr>
          <a:xfrm>
            <a:off x="0" y="0"/>
            <a:ext cx="9144000" cy="54864"/>
          </a:xfrm>
          <a:prstGeom prst="rect">
            <a:avLst/>
          </a:prstGeom>
          <a:solidFill>
            <a:srgbClr val="C5A5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F75DD594-B34D-40B2-387D-47C0C0A12576}"/>
              </a:ext>
            </a:extLst>
          </p:cNvPr>
          <p:cNvSpPr/>
          <p:nvPr/>
        </p:nvSpPr>
        <p:spPr>
          <a:xfrm>
            <a:off x="731520" y="914400"/>
            <a:ext cx="4572000" cy="7315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FFFFFF"/>
                </a:solidFill>
                <a:effectLst/>
                <a:uLnTx/>
                <a:uFillTx/>
                <a:latin typeface="Georgia" pitchFamily="34" charset="0"/>
                <a:ea typeface="Georgia" pitchFamily="34" charset="-122"/>
                <a:cs typeface="Georgia" pitchFamily="34" charset="-120"/>
              </a:rPr>
              <a:t>LIVE DEMO</a:t>
            </a:r>
            <a:endParaRPr kumimoji="0" lang="en-US" sz="4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a:extLst>
              <a:ext uri="{FF2B5EF4-FFF2-40B4-BE49-F238E27FC236}">
                <a16:creationId xmlns:a16="http://schemas.microsoft.com/office/drawing/2014/main" id="{2BECE175-9C8D-3F32-D9F2-E1E260D3B613}"/>
              </a:ext>
            </a:extLst>
          </p:cNvPr>
          <p:cNvSpPr/>
          <p:nvPr/>
        </p:nvSpPr>
        <p:spPr>
          <a:xfrm>
            <a:off x="677274" y="3553261"/>
            <a:ext cx="6844609" cy="1222809"/>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err="1">
                <a:ln>
                  <a:noFill/>
                </a:ln>
                <a:solidFill>
                  <a:srgbClr val="00B4D8"/>
                </a:solidFill>
                <a:effectLst/>
                <a:uLnTx/>
                <a:uFillTx/>
                <a:latin typeface="Consolas" pitchFamily="34" charset="0"/>
                <a:ea typeface="Consolas" pitchFamily="34" charset="-122"/>
                <a:cs typeface="Consolas" pitchFamily="34" charset="-120"/>
              </a:rPr>
              <a:t>fireforeffect.streamlit.app</a:t>
            </a:r>
            <a:endParaRPr kumimoji="0" lang="en-US" sz="3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a:extLst>
              <a:ext uri="{FF2B5EF4-FFF2-40B4-BE49-F238E27FC236}">
                <a16:creationId xmlns:a16="http://schemas.microsoft.com/office/drawing/2014/main" id="{F5E65D52-4237-E72C-8205-35EC1FBAA0E2}"/>
              </a:ext>
            </a:extLst>
          </p:cNvPr>
          <p:cNvSpPr/>
          <p:nvPr/>
        </p:nvSpPr>
        <p:spPr>
          <a:xfrm>
            <a:off x="457200" y="4709160"/>
            <a:ext cx="64008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899AA"/>
                </a:solidFill>
                <a:effectLst/>
                <a:uLnTx/>
                <a:uFillTx/>
                <a:latin typeface="Calibri" pitchFamily="34" charset="0"/>
                <a:ea typeface="Calibri" pitchFamily="34" charset="-122"/>
                <a:cs typeface="Calibri" pitchFamily="34" charset="-120"/>
              </a:rPr>
              <a:t>F.I.R.E. for Effect  |  OA3801</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 name="Image 0" descr="/home/claude/qr.png">
            <a:extLst>
              <a:ext uri="{FF2B5EF4-FFF2-40B4-BE49-F238E27FC236}">
                <a16:creationId xmlns:a16="http://schemas.microsoft.com/office/drawing/2014/main" id="{9A0E4A4D-3BB7-C343-B9A7-3F5103B004B2}"/>
              </a:ext>
            </a:extLst>
          </p:cNvPr>
          <p:cNvPicPr>
            <a:picLocks noChangeAspect="1"/>
          </p:cNvPicPr>
          <p:nvPr/>
        </p:nvPicPr>
        <p:blipFill>
          <a:blip r:embed="rId3"/>
          <a:stretch>
            <a:fillRect/>
          </a:stretch>
        </p:blipFill>
        <p:spPr>
          <a:xfrm>
            <a:off x="5477406" y="1013983"/>
            <a:ext cx="2761188" cy="2761188"/>
          </a:xfrm>
          <a:prstGeom prst="rect">
            <a:avLst/>
          </a:prstGeom>
        </p:spPr>
      </p:pic>
    </p:spTree>
    <p:extLst>
      <p:ext uri="{BB962C8B-B14F-4D97-AF65-F5344CB8AC3E}">
        <p14:creationId xmlns:p14="http://schemas.microsoft.com/office/powerpoint/2010/main" val="41704350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A30"/>
        </a:solidFill>
        <a:effectLst/>
      </p:bgPr>
    </p:bg>
    <p:spTree>
      <p:nvGrpSpPr>
        <p:cNvPr id="1" name="">
          <a:extLst>
            <a:ext uri="{FF2B5EF4-FFF2-40B4-BE49-F238E27FC236}">
              <a16:creationId xmlns:a16="http://schemas.microsoft.com/office/drawing/2014/main" id="{F88BF089-4FBA-47DB-5056-7B46DAD36B6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BF4DE67-111A-3EFD-D6FE-B6E064E5AD97}"/>
              </a:ext>
            </a:extLst>
          </p:cNvPr>
          <p:cNvSpPr/>
          <p:nvPr/>
        </p:nvSpPr>
        <p:spPr>
          <a:xfrm>
            <a:off x="0" y="0"/>
            <a:ext cx="9144000" cy="54864"/>
          </a:xfrm>
          <a:prstGeom prst="rect">
            <a:avLst/>
          </a:prstGeom>
          <a:solidFill>
            <a:srgbClr val="C5A55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home/claude/qr.png">
            <a:extLst>
              <a:ext uri="{FF2B5EF4-FFF2-40B4-BE49-F238E27FC236}">
                <a16:creationId xmlns:a16="http://schemas.microsoft.com/office/drawing/2014/main" id="{5DB4F95C-FBA8-CB06-C7C8-C81B0C8FF38C}"/>
              </a:ext>
            </a:extLst>
          </p:cNvPr>
          <p:cNvPicPr>
            <a:picLocks noChangeAspect="1"/>
          </p:cNvPicPr>
          <p:nvPr/>
        </p:nvPicPr>
        <p:blipFill>
          <a:blip r:embed="rId3"/>
          <a:stretch>
            <a:fillRect/>
          </a:stretch>
        </p:blipFill>
        <p:spPr>
          <a:xfrm>
            <a:off x="914400" y="2377440"/>
            <a:ext cx="1828800" cy="1828800"/>
          </a:xfrm>
          <a:prstGeom prst="rect">
            <a:avLst/>
          </a:prstGeom>
        </p:spPr>
      </p:pic>
      <p:sp>
        <p:nvSpPr>
          <p:cNvPr id="6" name="Text 3">
            <a:extLst>
              <a:ext uri="{FF2B5EF4-FFF2-40B4-BE49-F238E27FC236}">
                <a16:creationId xmlns:a16="http://schemas.microsoft.com/office/drawing/2014/main" id="{68C0B6E0-28F5-8FC1-D996-4165CCDEF38F}"/>
              </a:ext>
            </a:extLst>
          </p:cNvPr>
          <p:cNvSpPr/>
          <p:nvPr/>
        </p:nvSpPr>
        <p:spPr>
          <a:xfrm>
            <a:off x="731520" y="4251960"/>
            <a:ext cx="3657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B4D8"/>
                </a:solidFill>
                <a:effectLst/>
                <a:uLnTx/>
                <a:uFillTx/>
                <a:latin typeface="Consolas" pitchFamily="34" charset="0"/>
                <a:ea typeface="Consolas" pitchFamily="34" charset="-122"/>
                <a:cs typeface="Consolas" pitchFamily="34" charset="-120"/>
              </a:rPr>
              <a:t>fireforeffect.streamlit.app</a:t>
            </a:r>
            <a:endParaRPr kumimoji="0" lang="en-US" sz="1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a:extLst>
              <a:ext uri="{FF2B5EF4-FFF2-40B4-BE49-F238E27FC236}">
                <a16:creationId xmlns:a16="http://schemas.microsoft.com/office/drawing/2014/main" id="{B94B69B0-E613-2F9D-04A4-0F7BB4566415}"/>
              </a:ext>
            </a:extLst>
          </p:cNvPr>
          <p:cNvSpPr/>
          <p:nvPr/>
        </p:nvSpPr>
        <p:spPr>
          <a:xfrm>
            <a:off x="5029200" y="2011680"/>
            <a:ext cx="3657600" cy="7315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C5A55A"/>
                </a:solidFill>
                <a:effectLst/>
                <a:uLnTx/>
                <a:uFillTx/>
                <a:latin typeface="Georgia" pitchFamily="34" charset="0"/>
                <a:ea typeface="Georgia" pitchFamily="34" charset="-122"/>
                <a:cs typeface="Georgia" pitchFamily="34" charset="-120"/>
              </a:rPr>
              <a:t>QUESTIONS?</a:t>
            </a:r>
            <a:endParaRPr kumimoji="0" lang="en-US" sz="3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a:extLst>
              <a:ext uri="{FF2B5EF4-FFF2-40B4-BE49-F238E27FC236}">
                <a16:creationId xmlns:a16="http://schemas.microsoft.com/office/drawing/2014/main" id="{564B0217-F1FB-61B9-F258-3F74D79B7390}"/>
              </a:ext>
            </a:extLst>
          </p:cNvPr>
          <p:cNvSpPr/>
          <p:nvPr/>
        </p:nvSpPr>
        <p:spPr>
          <a:xfrm>
            <a:off x="457200" y="4709160"/>
            <a:ext cx="64008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8899AA"/>
                </a:solidFill>
                <a:effectLst/>
                <a:uLnTx/>
                <a:uFillTx/>
                <a:latin typeface="Calibri" pitchFamily="34" charset="0"/>
                <a:ea typeface="Calibri" pitchFamily="34" charset="-122"/>
                <a:cs typeface="Calibri" pitchFamily="34" charset="-120"/>
              </a:rPr>
              <a:t>F.I.R.E. for Effect  |  OA3801</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4">
            <a:extLst>
              <a:ext uri="{FF2B5EF4-FFF2-40B4-BE49-F238E27FC236}">
                <a16:creationId xmlns:a16="http://schemas.microsoft.com/office/drawing/2014/main" id="{41C7B9A0-D9BD-66E9-68C1-93620CFB2A04}"/>
              </a:ext>
            </a:extLst>
          </p:cNvPr>
          <p:cNvSpPr/>
          <p:nvPr/>
        </p:nvSpPr>
        <p:spPr>
          <a:xfrm>
            <a:off x="5029200" y="2895600"/>
            <a:ext cx="3657600" cy="73152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C5A55A"/>
                </a:solidFill>
                <a:effectLst/>
                <a:uLnTx/>
                <a:uFillTx/>
                <a:latin typeface="Georgia" pitchFamily="34" charset="0"/>
                <a:ea typeface="Georgia" pitchFamily="34" charset="-122"/>
                <a:cs typeface="Georgia" pitchFamily="34" charset="-120"/>
              </a:rPr>
              <a:t>FEEDBACK?</a:t>
            </a:r>
            <a:endParaRPr kumimoji="0" lang="en-US" sz="3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64133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name="Slide 13">
    <p:bg>
      <p:bgPr>
        <a:solidFill>
          <a:srgbClr val="F5F5F0"/>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rtlCol="0" anchor="ctr"/>
          <a:lstStyle/>
          <a:p>
            <a:pPr marL="0" indent="0">
              <a:buNone/>
            </a:pPr>
            <a:r>
              <a:rPr lang="en-US" sz="3200" b="1">
                <a:solidFill>
                  <a:srgbClr val="1B2A4A"/>
                </a:solidFill>
                <a:latin typeface="Georgia" pitchFamily="34" charset="0"/>
                <a:ea typeface="Georgia" pitchFamily="34" charset="-122"/>
                <a:cs typeface="Georgia" pitchFamily="34" charset="-120"/>
              </a:rPr>
              <a:t>DASHBOARD ARCHITECTURE</a:t>
            </a:r>
            <a:endParaRPr lang="en-US" sz="3200"/>
          </a:p>
        </p:txBody>
      </p:sp>
      <p:sp>
        <p:nvSpPr>
          <p:cNvPr id="3" name="Shape 1"/>
          <p:cNvSpPr/>
          <p:nvPr/>
        </p:nvSpPr>
        <p:spPr>
          <a:xfrm>
            <a:off x="320040" y="914400"/>
            <a:ext cx="1051560" cy="594360"/>
          </a:xfrm>
          <a:prstGeom prst="rect">
            <a:avLst/>
          </a:prstGeom>
          <a:solidFill>
            <a:srgbClr val="1B2A4A"/>
          </a:solidFill>
          <a:ln/>
        </p:spPr>
        <p:txBody>
          <a:bodyPr/>
          <a:lstStyle/>
          <a:p>
            <a:endParaRPr lang="en-US"/>
          </a:p>
        </p:txBody>
      </p:sp>
      <p:sp>
        <p:nvSpPr>
          <p:cNvPr id="4" name="Text 2"/>
          <p:cNvSpPr/>
          <p:nvPr/>
        </p:nvSpPr>
        <p:spPr>
          <a:xfrm>
            <a:off x="320040" y="914400"/>
            <a:ext cx="1051560" cy="594360"/>
          </a:xfrm>
          <a:prstGeom prst="rect">
            <a:avLst/>
          </a:prstGeom>
          <a:noFill/>
          <a:ln/>
        </p:spPr>
        <p:txBody>
          <a:bodyPr wrap="square"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Income</a:t>
            </a:r>
            <a:endParaRPr lang="en-US" sz="900"/>
          </a:p>
          <a:p>
            <a:pPr marL="0" indent="0" algn="ctr">
              <a:buNone/>
            </a:pPr>
            <a:r>
              <a:rPr lang="en-US" sz="900" b="1">
                <a:solidFill>
                  <a:srgbClr val="FFFFFF"/>
                </a:solidFill>
                <a:latin typeface="Calibri" pitchFamily="34" charset="0"/>
                <a:ea typeface="Calibri" pitchFamily="34" charset="-122"/>
                <a:cs typeface="Calibri" pitchFamily="34" charset="-120"/>
              </a:rPr>
              <a:t>Calculator</a:t>
            </a:r>
            <a:endParaRPr lang="en-US" sz="900"/>
          </a:p>
        </p:txBody>
      </p:sp>
      <p:sp>
        <p:nvSpPr>
          <p:cNvPr id="5" name="Shape 3"/>
          <p:cNvSpPr/>
          <p:nvPr/>
        </p:nvSpPr>
        <p:spPr>
          <a:xfrm>
            <a:off x="1389888" y="1216152"/>
            <a:ext cx="155448" cy="0"/>
          </a:xfrm>
          <a:prstGeom prst="line">
            <a:avLst/>
          </a:prstGeom>
          <a:noFill/>
          <a:ln w="25400">
            <a:solidFill>
              <a:srgbClr val="C5A55A"/>
            </a:solidFill>
            <a:prstDash val="solid"/>
          </a:ln>
        </p:spPr>
        <p:txBody>
          <a:bodyPr/>
          <a:lstStyle/>
          <a:p>
            <a:endParaRPr lang="en-US"/>
          </a:p>
        </p:txBody>
      </p:sp>
      <p:sp>
        <p:nvSpPr>
          <p:cNvPr id="6" name="Shape 4"/>
          <p:cNvSpPr/>
          <p:nvPr/>
        </p:nvSpPr>
        <p:spPr>
          <a:xfrm>
            <a:off x="1554480" y="914400"/>
            <a:ext cx="1051560" cy="594360"/>
          </a:xfrm>
          <a:prstGeom prst="rect">
            <a:avLst/>
          </a:prstGeom>
          <a:solidFill>
            <a:srgbClr val="1B2A4A"/>
          </a:solidFill>
          <a:ln/>
        </p:spPr>
        <p:txBody>
          <a:bodyPr/>
          <a:lstStyle/>
          <a:p>
            <a:endParaRPr lang="en-US"/>
          </a:p>
        </p:txBody>
      </p:sp>
      <p:sp>
        <p:nvSpPr>
          <p:cNvPr id="7" name="Text 5"/>
          <p:cNvSpPr/>
          <p:nvPr/>
        </p:nvSpPr>
        <p:spPr>
          <a:xfrm>
            <a:off x="1554480" y="914400"/>
            <a:ext cx="1051560" cy="594360"/>
          </a:xfrm>
          <a:prstGeom prst="rect">
            <a:avLst/>
          </a:prstGeom>
          <a:noFill/>
          <a:ln/>
        </p:spPr>
        <p:txBody>
          <a:bodyPr wrap="square"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Retirement</a:t>
            </a:r>
            <a:endParaRPr lang="en-US" sz="900"/>
          </a:p>
          <a:p>
            <a:pPr marL="0" indent="0" algn="ctr">
              <a:buNone/>
            </a:pPr>
            <a:r>
              <a:rPr lang="en-US" sz="900" b="1">
                <a:solidFill>
                  <a:srgbClr val="FFFFFF"/>
                </a:solidFill>
                <a:latin typeface="Calibri" pitchFamily="34" charset="0"/>
                <a:ea typeface="Calibri" pitchFamily="34" charset="-122"/>
                <a:cs typeface="Calibri" pitchFamily="34" charset="-120"/>
              </a:rPr>
              <a:t>Goals</a:t>
            </a:r>
            <a:endParaRPr lang="en-US" sz="900"/>
          </a:p>
        </p:txBody>
      </p:sp>
      <p:sp>
        <p:nvSpPr>
          <p:cNvPr id="8" name="Shape 6"/>
          <p:cNvSpPr/>
          <p:nvPr/>
        </p:nvSpPr>
        <p:spPr>
          <a:xfrm>
            <a:off x="2624328" y="1216152"/>
            <a:ext cx="155448" cy="0"/>
          </a:xfrm>
          <a:prstGeom prst="line">
            <a:avLst/>
          </a:prstGeom>
          <a:noFill/>
          <a:ln w="25400">
            <a:solidFill>
              <a:srgbClr val="C5A55A"/>
            </a:solidFill>
            <a:prstDash val="solid"/>
          </a:ln>
        </p:spPr>
        <p:txBody>
          <a:bodyPr/>
          <a:lstStyle/>
          <a:p>
            <a:endParaRPr lang="en-US"/>
          </a:p>
        </p:txBody>
      </p:sp>
      <p:sp>
        <p:nvSpPr>
          <p:cNvPr id="9" name="Shape 7"/>
          <p:cNvSpPr/>
          <p:nvPr/>
        </p:nvSpPr>
        <p:spPr>
          <a:xfrm>
            <a:off x="2788920" y="914400"/>
            <a:ext cx="1051560" cy="594360"/>
          </a:xfrm>
          <a:prstGeom prst="rect">
            <a:avLst/>
          </a:prstGeom>
          <a:solidFill>
            <a:srgbClr val="1B2A4A"/>
          </a:solidFill>
          <a:ln/>
        </p:spPr>
        <p:txBody>
          <a:bodyPr/>
          <a:lstStyle/>
          <a:p>
            <a:endParaRPr lang="en-US"/>
          </a:p>
        </p:txBody>
      </p:sp>
      <p:sp>
        <p:nvSpPr>
          <p:cNvPr id="10" name="Text 8"/>
          <p:cNvSpPr/>
          <p:nvPr/>
        </p:nvSpPr>
        <p:spPr>
          <a:xfrm>
            <a:off x="2788920" y="914400"/>
            <a:ext cx="1051560" cy="594360"/>
          </a:xfrm>
          <a:prstGeom prst="rect">
            <a:avLst/>
          </a:prstGeom>
          <a:noFill/>
          <a:ln/>
        </p:spPr>
        <p:txBody>
          <a:bodyPr wrap="square"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Budget</a:t>
            </a:r>
            <a:endParaRPr lang="en-US" sz="900"/>
          </a:p>
          <a:p>
            <a:pPr marL="0" indent="0" algn="ctr">
              <a:buNone/>
            </a:pPr>
            <a:r>
              <a:rPr lang="en-US" sz="900" b="1">
                <a:solidFill>
                  <a:srgbClr val="FFFFFF"/>
                </a:solidFill>
                <a:latin typeface="Calibri" pitchFamily="34" charset="0"/>
                <a:ea typeface="Calibri" pitchFamily="34" charset="-122"/>
                <a:cs typeface="Calibri" pitchFamily="34" charset="-120"/>
              </a:rPr>
              <a:t>Allocator</a:t>
            </a:r>
            <a:endParaRPr lang="en-US" sz="900"/>
          </a:p>
        </p:txBody>
      </p:sp>
      <p:sp>
        <p:nvSpPr>
          <p:cNvPr id="11" name="Shape 9"/>
          <p:cNvSpPr/>
          <p:nvPr/>
        </p:nvSpPr>
        <p:spPr>
          <a:xfrm>
            <a:off x="3858768" y="1216152"/>
            <a:ext cx="155448" cy="0"/>
          </a:xfrm>
          <a:prstGeom prst="line">
            <a:avLst/>
          </a:prstGeom>
          <a:noFill/>
          <a:ln w="25400">
            <a:solidFill>
              <a:srgbClr val="C5A55A"/>
            </a:solidFill>
            <a:prstDash val="solid"/>
          </a:ln>
        </p:spPr>
        <p:txBody>
          <a:bodyPr/>
          <a:lstStyle/>
          <a:p>
            <a:endParaRPr lang="en-US"/>
          </a:p>
        </p:txBody>
      </p:sp>
      <p:sp>
        <p:nvSpPr>
          <p:cNvPr id="12" name="Shape 10"/>
          <p:cNvSpPr/>
          <p:nvPr/>
        </p:nvSpPr>
        <p:spPr>
          <a:xfrm>
            <a:off x="4023360" y="914400"/>
            <a:ext cx="1051560" cy="594360"/>
          </a:xfrm>
          <a:prstGeom prst="rect">
            <a:avLst/>
          </a:prstGeom>
          <a:solidFill>
            <a:srgbClr val="1B2A4A"/>
          </a:solidFill>
          <a:ln/>
        </p:spPr>
        <p:txBody>
          <a:bodyPr/>
          <a:lstStyle/>
          <a:p>
            <a:endParaRPr lang="en-US"/>
          </a:p>
        </p:txBody>
      </p:sp>
      <p:sp>
        <p:nvSpPr>
          <p:cNvPr id="13" name="Text 11"/>
          <p:cNvSpPr/>
          <p:nvPr/>
        </p:nvSpPr>
        <p:spPr>
          <a:xfrm>
            <a:off x="4023360" y="914400"/>
            <a:ext cx="1051560" cy="594360"/>
          </a:xfrm>
          <a:prstGeom prst="rect">
            <a:avLst/>
          </a:prstGeom>
          <a:noFill/>
          <a:ln/>
        </p:spPr>
        <p:txBody>
          <a:bodyPr wrap="square"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Readiness</a:t>
            </a:r>
            <a:endParaRPr lang="en-US" sz="900"/>
          </a:p>
          <a:p>
            <a:pPr marL="0" indent="0" algn="ctr">
              <a:buNone/>
            </a:pPr>
            <a:r>
              <a:rPr lang="en-US" sz="900" b="1">
                <a:solidFill>
                  <a:srgbClr val="FFFFFF"/>
                </a:solidFill>
                <a:latin typeface="Calibri" pitchFamily="34" charset="0"/>
                <a:ea typeface="Calibri" pitchFamily="34" charset="-122"/>
                <a:cs typeface="Calibri" pitchFamily="34" charset="-120"/>
              </a:rPr>
              <a:t>Quiz</a:t>
            </a:r>
            <a:endParaRPr lang="en-US" sz="900"/>
          </a:p>
        </p:txBody>
      </p:sp>
      <p:sp>
        <p:nvSpPr>
          <p:cNvPr id="14" name="Shape 12"/>
          <p:cNvSpPr/>
          <p:nvPr/>
        </p:nvSpPr>
        <p:spPr>
          <a:xfrm>
            <a:off x="5093208" y="1216152"/>
            <a:ext cx="155448" cy="0"/>
          </a:xfrm>
          <a:prstGeom prst="line">
            <a:avLst/>
          </a:prstGeom>
          <a:noFill/>
          <a:ln w="25400">
            <a:solidFill>
              <a:srgbClr val="C5A55A"/>
            </a:solidFill>
            <a:prstDash val="solid"/>
          </a:ln>
        </p:spPr>
        <p:txBody>
          <a:bodyPr/>
          <a:lstStyle/>
          <a:p>
            <a:endParaRPr lang="en-US"/>
          </a:p>
        </p:txBody>
      </p:sp>
      <p:sp>
        <p:nvSpPr>
          <p:cNvPr id="15" name="Shape 13"/>
          <p:cNvSpPr/>
          <p:nvPr/>
        </p:nvSpPr>
        <p:spPr>
          <a:xfrm>
            <a:off x="5257800" y="914400"/>
            <a:ext cx="1051560" cy="594360"/>
          </a:xfrm>
          <a:prstGeom prst="rect">
            <a:avLst/>
          </a:prstGeom>
          <a:solidFill>
            <a:srgbClr val="1B2A4A"/>
          </a:solidFill>
          <a:ln/>
        </p:spPr>
        <p:txBody>
          <a:bodyPr/>
          <a:lstStyle/>
          <a:p>
            <a:endParaRPr lang="en-US"/>
          </a:p>
        </p:txBody>
      </p:sp>
      <p:sp>
        <p:nvSpPr>
          <p:cNvPr id="16" name="Text 14"/>
          <p:cNvSpPr/>
          <p:nvPr/>
        </p:nvSpPr>
        <p:spPr>
          <a:xfrm>
            <a:off x="5257800" y="914400"/>
            <a:ext cx="1051560" cy="594360"/>
          </a:xfrm>
          <a:prstGeom prst="rect">
            <a:avLst/>
          </a:prstGeom>
          <a:noFill/>
          <a:ln/>
        </p:spPr>
        <p:txBody>
          <a:bodyPr wrap="square"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Action</a:t>
            </a:r>
            <a:endParaRPr lang="en-US" sz="900"/>
          </a:p>
          <a:p>
            <a:pPr marL="0" indent="0" algn="ctr">
              <a:buNone/>
            </a:pPr>
            <a:r>
              <a:rPr lang="en-US" sz="900" b="1">
                <a:solidFill>
                  <a:srgbClr val="FFFFFF"/>
                </a:solidFill>
                <a:latin typeface="Calibri" pitchFamily="34" charset="0"/>
                <a:ea typeface="Calibri" pitchFamily="34" charset="-122"/>
                <a:cs typeface="Calibri" pitchFamily="34" charset="-120"/>
              </a:rPr>
              <a:t>Plan</a:t>
            </a:r>
            <a:endParaRPr lang="en-US" sz="900"/>
          </a:p>
        </p:txBody>
      </p:sp>
      <p:sp>
        <p:nvSpPr>
          <p:cNvPr id="17" name="Shape 15"/>
          <p:cNvSpPr/>
          <p:nvPr/>
        </p:nvSpPr>
        <p:spPr>
          <a:xfrm>
            <a:off x="6327648" y="1216152"/>
            <a:ext cx="155448" cy="0"/>
          </a:xfrm>
          <a:prstGeom prst="line">
            <a:avLst/>
          </a:prstGeom>
          <a:noFill/>
          <a:ln w="25400">
            <a:solidFill>
              <a:srgbClr val="C5A55A"/>
            </a:solidFill>
            <a:prstDash val="solid"/>
          </a:ln>
        </p:spPr>
        <p:txBody>
          <a:bodyPr/>
          <a:lstStyle/>
          <a:p>
            <a:endParaRPr lang="en-US"/>
          </a:p>
        </p:txBody>
      </p:sp>
      <p:sp>
        <p:nvSpPr>
          <p:cNvPr id="18" name="Shape 16"/>
          <p:cNvSpPr/>
          <p:nvPr/>
        </p:nvSpPr>
        <p:spPr>
          <a:xfrm>
            <a:off x="6492240" y="914400"/>
            <a:ext cx="1051560" cy="594360"/>
          </a:xfrm>
          <a:prstGeom prst="rect">
            <a:avLst/>
          </a:prstGeom>
          <a:solidFill>
            <a:srgbClr val="1B2A4A"/>
          </a:solidFill>
          <a:ln/>
        </p:spPr>
        <p:txBody>
          <a:bodyPr/>
          <a:lstStyle/>
          <a:p>
            <a:endParaRPr lang="en-US"/>
          </a:p>
        </p:txBody>
      </p:sp>
      <p:sp>
        <p:nvSpPr>
          <p:cNvPr id="19" name="Text 17"/>
          <p:cNvSpPr/>
          <p:nvPr/>
        </p:nvSpPr>
        <p:spPr>
          <a:xfrm>
            <a:off x="6492240" y="914400"/>
            <a:ext cx="1051560" cy="594360"/>
          </a:xfrm>
          <a:prstGeom prst="rect">
            <a:avLst/>
          </a:prstGeom>
          <a:noFill/>
          <a:ln/>
        </p:spPr>
        <p:txBody>
          <a:bodyPr wrap="square"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Feedback</a:t>
            </a:r>
            <a:endParaRPr lang="en-US" sz="900"/>
          </a:p>
          <a:p>
            <a:pPr marL="0" indent="0" algn="ctr">
              <a:buNone/>
            </a:pPr>
            <a:r>
              <a:rPr lang="en-US" sz="900" b="1">
                <a:solidFill>
                  <a:srgbClr val="FFFFFF"/>
                </a:solidFill>
                <a:latin typeface="Calibri" pitchFamily="34" charset="0"/>
                <a:ea typeface="Calibri" pitchFamily="34" charset="-122"/>
                <a:cs typeface="Calibri" pitchFamily="34" charset="-120"/>
              </a:rPr>
              <a:t>&amp; AAR</a:t>
            </a:r>
            <a:endParaRPr lang="en-US" sz="900"/>
          </a:p>
        </p:txBody>
      </p:sp>
      <p:sp>
        <p:nvSpPr>
          <p:cNvPr id="20" name="Shape 18"/>
          <p:cNvSpPr/>
          <p:nvPr/>
        </p:nvSpPr>
        <p:spPr>
          <a:xfrm>
            <a:off x="7562088" y="1216152"/>
            <a:ext cx="155448" cy="0"/>
          </a:xfrm>
          <a:prstGeom prst="line">
            <a:avLst/>
          </a:prstGeom>
          <a:noFill/>
          <a:ln w="25400">
            <a:solidFill>
              <a:srgbClr val="C5A55A"/>
            </a:solidFill>
            <a:prstDash val="solid"/>
          </a:ln>
        </p:spPr>
        <p:txBody>
          <a:bodyPr/>
          <a:lstStyle/>
          <a:p>
            <a:endParaRPr lang="en-US"/>
          </a:p>
        </p:txBody>
      </p:sp>
      <p:sp>
        <p:nvSpPr>
          <p:cNvPr id="21" name="Shape 19"/>
          <p:cNvSpPr/>
          <p:nvPr/>
        </p:nvSpPr>
        <p:spPr>
          <a:xfrm>
            <a:off x="7726680" y="914400"/>
            <a:ext cx="1051560" cy="594360"/>
          </a:xfrm>
          <a:prstGeom prst="rect">
            <a:avLst/>
          </a:prstGeom>
          <a:solidFill>
            <a:srgbClr val="1B2A4A"/>
          </a:solidFill>
          <a:ln/>
        </p:spPr>
        <p:txBody>
          <a:bodyPr/>
          <a:lstStyle/>
          <a:p>
            <a:endParaRPr lang="en-US"/>
          </a:p>
        </p:txBody>
      </p:sp>
      <p:sp>
        <p:nvSpPr>
          <p:cNvPr id="22" name="Text 20"/>
          <p:cNvSpPr/>
          <p:nvPr/>
        </p:nvSpPr>
        <p:spPr>
          <a:xfrm>
            <a:off x="7726680" y="914400"/>
            <a:ext cx="1051560" cy="594360"/>
          </a:xfrm>
          <a:prstGeom prst="rect">
            <a:avLst/>
          </a:prstGeom>
          <a:noFill/>
          <a:ln/>
        </p:spPr>
        <p:txBody>
          <a:bodyPr wrap="square"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PDF</a:t>
            </a:r>
            <a:endParaRPr lang="en-US" sz="900"/>
          </a:p>
          <a:p>
            <a:pPr marL="0" indent="0" algn="ctr">
              <a:buNone/>
            </a:pPr>
            <a:r>
              <a:rPr lang="en-US" sz="900" b="1">
                <a:solidFill>
                  <a:srgbClr val="FFFFFF"/>
                </a:solidFill>
                <a:latin typeface="Calibri" pitchFamily="34" charset="0"/>
                <a:ea typeface="Calibri" pitchFamily="34" charset="-122"/>
                <a:cs typeface="Calibri" pitchFamily="34" charset="-120"/>
              </a:rPr>
              <a:t>Export</a:t>
            </a:r>
            <a:endParaRPr lang="en-US" sz="900"/>
          </a:p>
        </p:txBody>
      </p:sp>
      <p:sp>
        <p:nvSpPr>
          <p:cNvPr id="23" name="Shape 21"/>
          <p:cNvSpPr/>
          <p:nvPr/>
        </p:nvSpPr>
        <p:spPr>
          <a:xfrm>
            <a:off x="365760" y="1737360"/>
            <a:ext cx="4023360" cy="24688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502920" y="1783080"/>
            <a:ext cx="3749040" cy="320040"/>
          </a:xfrm>
          <a:prstGeom prst="rect">
            <a:avLst/>
          </a:prstGeom>
          <a:noFill/>
          <a:ln/>
        </p:spPr>
        <p:txBody>
          <a:bodyPr wrap="square" rtlCol="0" anchor="ctr"/>
          <a:lstStyle/>
          <a:p>
            <a:pPr marL="0" indent="0">
              <a:buNone/>
            </a:pPr>
            <a:r>
              <a:rPr lang="en-US" sz="1400" b="1">
                <a:solidFill>
                  <a:srgbClr val="1B2A4A"/>
                </a:solidFill>
                <a:latin typeface="Georgia" pitchFamily="34" charset="0"/>
                <a:ea typeface="Georgia" pitchFamily="34" charset="-122"/>
                <a:cs typeface="Georgia" pitchFamily="34" charset="-120"/>
              </a:rPr>
              <a:t>Technology Stack</a:t>
            </a:r>
            <a:endParaRPr lang="en-US" sz="1400"/>
          </a:p>
        </p:txBody>
      </p:sp>
      <p:sp>
        <p:nvSpPr>
          <p:cNvPr id="25" name="Text 23"/>
          <p:cNvSpPr/>
          <p:nvPr/>
        </p:nvSpPr>
        <p:spPr>
          <a:xfrm>
            <a:off x="502920" y="2103120"/>
            <a:ext cx="3749040" cy="2011680"/>
          </a:xfrm>
          <a:prstGeom prst="rect">
            <a:avLst/>
          </a:prstGeom>
          <a:noFill/>
          <a:ln/>
        </p:spPr>
        <p:txBody>
          <a:bodyPr wrap="square" rtlCol="0" anchor="t"/>
          <a:lstStyle/>
          <a:p>
            <a:pPr marL="342900" indent="-342900">
              <a:spcAft>
                <a:spcPts val="400"/>
              </a:spcAft>
              <a:buSzPct val="100000"/>
              <a:buChar char="•"/>
            </a:pPr>
            <a:r>
              <a:rPr lang="en-US" sz="1050">
                <a:solidFill>
                  <a:srgbClr val="2D3436"/>
                </a:solidFill>
                <a:latin typeface="Calibri" pitchFamily="34" charset="0"/>
                <a:ea typeface="Calibri" pitchFamily="34" charset="-122"/>
                <a:cs typeface="Calibri" pitchFamily="34" charset="-120"/>
              </a:rPr>
              <a:t>Python 3 + Streamlit — interactive web framework</a:t>
            </a:r>
            <a:endParaRPr lang="en-US" sz="1050"/>
          </a:p>
          <a:p>
            <a:pPr marL="342900" indent="-342900">
              <a:spcAft>
                <a:spcPts val="400"/>
              </a:spcAft>
              <a:buSzPct val="100000"/>
              <a:buChar char="•"/>
            </a:pPr>
            <a:r>
              <a:rPr lang="en-US" sz="1050">
                <a:solidFill>
                  <a:srgbClr val="2D3436"/>
                </a:solidFill>
                <a:latin typeface="Calibri" pitchFamily="34" charset="0"/>
                <a:ea typeface="Calibri" pitchFamily="34" charset="-122"/>
                <a:cs typeface="Calibri" pitchFamily="34" charset="-120"/>
              </a:rPr>
              <a:t>Pandas + NumPy — data processing &amp; numerical computation</a:t>
            </a:r>
            <a:endParaRPr lang="en-US" sz="1050"/>
          </a:p>
          <a:p>
            <a:pPr marL="342900" indent="-342900">
              <a:spcAft>
                <a:spcPts val="400"/>
              </a:spcAft>
              <a:buSzPct val="100000"/>
              <a:buChar char="•"/>
            </a:pPr>
            <a:r>
              <a:rPr lang="en-US" sz="1050">
                <a:solidFill>
                  <a:srgbClr val="2D3436"/>
                </a:solidFill>
                <a:latin typeface="Calibri" pitchFamily="34" charset="0"/>
                <a:ea typeface="Calibri" pitchFamily="34" charset="-122"/>
                <a:cs typeface="Calibri" pitchFamily="34" charset="-120"/>
              </a:rPr>
              <a:t>Plotly + Matplotlib — interactive &amp; static charts</a:t>
            </a:r>
            <a:endParaRPr lang="en-US" sz="1050"/>
          </a:p>
          <a:p>
            <a:pPr marL="342900" indent="-342900">
              <a:spcAft>
                <a:spcPts val="400"/>
              </a:spcAft>
              <a:buSzPct val="100000"/>
              <a:buChar char="•"/>
            </a:pPr>
            <a:r>
              <a:rPr lang="en-US" sz="1050">
                <a:solidFill>
                  <a:srgbClr val="2D3436"/>
                </a:solidFill>
                <a:latin typeface="Calibri" pitchFamily="34" charset="0"/>
                <a:ea typeface="Calibri" pitchFamily="34" charset="-122"/>
                <a:cs typeface="Calibri" pitchFamily="34" charset="-120"/>
              </a:rPr>
              <a:t>JSON Data Store — 2026 military pay tables &amp; BAH rates</a:t>
            </a:r>
            <a:endParaRPr lang="en-US" sz="1050"/>
          </a:p>
          <a:p>
            <a:pPr marL="342900" indent="-342900">
              <a:spcAft>
                <a:spcPts val="400"/>
              </a:spcAft>
              <a:buSzPct val="100000"/>
              <a:buChar char="•"/>
            </a:pPr>
            <a:r>
              <a:rPr lang="en-US" sz="1050">
                <a:solidFill>
                  <a:srgbClr val="2D3436"/>
                </a:solidFill>
                <a:latin typeface="Calibri" pitchFamily="34" charset="0"/>
                <a:ea typeface="Calibri" pitchFamily="34" charset="-122"/>
                <a:cs typeface="Calibri" pitchFamily="34" charset="-120"/>
              </a:rPr>
              <a:t>gspread — anonymous analytics logging to Google Sheets</a:t>
            </a:r>
            <a:endParaRPr lang="en-US" sz="1050"/>
          </a:p>
          <a:p>
            <a:pPr marL="342900" indent="-342900">
              <a:spcAft>
                <a:spcPts val="400"/>
              </a:spcAft>
              <a:buSzPct val="100000"/>
              <a:buChar char="•"/>
            </a:pPr>
            <a:r>
              <a:rPr lang="en-US" sz="1050">
                <a:solidFill>
                  <a:srgbClr val="2D3436"/>
                </a:solidFill>
                <a:latin typeface="Calibri" pitchFamily="34" charset="0"/>
                <a:ea typeface="Calibri" pitchFamily="34" charset="-122"/>
                <a:cs typeface="Calibri" pitchFamily="34" charset="-120"/>
              </a:rPr>
              <a:t>FPDF — downloadable PDF financial plan generation</a:t>
            </a:r>
            <a:endParaRPr lang="en-US" sz="1050"/>
          </a:p>
        </p:txBody>
      </p:sp>
      <p:sp>
        <p:nvSpPr>
          <p:cNvPr id="26" name="Shape 24"/>
          <p:cNvSpPr/>
          <p:nvPr/>
        </p:nvSpPr>
        <p:spPr>
          <a:xfrm>
            <a:off x="4709160" y="1737360"/>
            <a:ext cx="4023360" cy="24688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27" name="Text 25"/>
          <p:cNvSpPr/>
          <p:nvPr/>
        </p:nvSpPr>
        <p:spPr>
          <a:xfrm>
            <a:off x="4846320" y="1783080"/>
            <a:ext cx="3749040" cy="320040"/>
          </a:xfrm>
          <a:prstGeom prst="rect">
            <a:avLst/>
          </a:prstGeom>
          <a:noFill/>
          <a:ln/>
        </p:spPr>
        <p:txBody>
          <a:bodyPr wrap="square" rtlCol="0" anchor="ctr"/>
          <a:lstStyle/>
          <a:p>
            <a:pPr marL="0" indent="0">
              <a:buNone/>
            </a:pPr>
            <a:r>
              <a:rPr lang="en-US" sz="1400" b="1">
                <a:solidFill>
                  <a:srgbClr val="1B2A4A"/>
                </a:solidFill>
                <a:latin typeface="Georgia" pitchFamily="34" charset="0"/>
                <a:ea typeface="Georgia" pitchFamily="34" charset="-122"/>
                <a:cs typeface="Georgia" pitchFamily="34" charset="-120"/>
              </a:rPr>
              <a:t>Core Capabilities</a:t>
            </a:r>
            <a:endParaRPr lang="en-US" sz="1400"/>
          </a:p>
        </p:txBody>
      </p:sp>
      <p:sp>
        <p:nvSpPr>
          <p:cNvPr id="28" name="Text 26"/>
          <p:cNvSpPr/>
          <p:nvPr/>
        </p:nvSpPr>
        <p:spPr>
          <a:xfrm>
            <a:off x="4846320" y="2103120"/>
            <a:ext cx="3749040" cy="2011680"/>
          </a:xfrm>
          <a:prstGeom prst="rect">
            <a:avLst/>
          </a:prstGeom>
          <a:noFill/>
          <a:ln/>
        </p:spPr>
        <p:txBody>
          <a:bodyPr wrap="square" rtlCol="0" anchor="t"/>
          <a:lstStyle/>
          <a:p>
            <a:pPr marL="342900" indent="-342900">
              <a:spcAft>
                <a:spcPts val="400"/>
              </a:spcAft>
              <a:buSzPct val="100000"/>
              <a:buChar char="•"/>
            </a:pPr>
            <a:r>
              <a:rPr lang="en-US" sz="1050">
                <a:solidFill>
                  <a:srgbClr val="2D3436"/>
                </a:solidFill>
                <a:latin typeface="Calibri" pitchFamily="34" charset="0"/>
                <a:ea typeface="Calibri" pitchFamily="34" charset="-122"/>
                <a:cs typeface="Calibri" pitchFamily="34" charset="-120"/>
              </a:rPr>
              <a:t>Pay Engine — gross/net from rank, TIS, ZIP, 8+ special pays</a:t>
            </a:r>
            <a:endParaRPr lang="en-US" sz="1050"/>
          </a:p>
          <a:p>
            <a:pPr marL="342900" indent="-342900">
              <a:spcAft>
                <a:spcPts val="400"/>
              </a:spcAft>
              <a:buSzPct val="100000"/>
              <a:buChar char="•"/>
            </a:pPr>
            <a:r>
              <a:rPr lang="en-US" sz="1050">
                <a:solidFill>
                  <a:srgbClr val="2D3436"/>
                </a:solidFill>
                <a:latin typeface="Calibri" pitchFamily="34" charset="0"/>
                <a:ea typeface="Calibri" pitchFamily="34" charset="-122"/>
                <a:cs typeface="Calibri" pitchFamily="34" charset="-120"/>
              </a:rPr>
              <a:t>Monte Carlo — 1,000-trial stochastic TSP projection</a:t>
            </a:r>
            <a:endParaRPr lang="en-US" sz="1050"/>
          </a:p>
          <a:p>
            <a:pPr marL="342900" indent="-342900">
              <a:spcAft>
                <a:spcPts val="400"/>
              </a:spcAft>
              <a:buSzPct val="100000"/>
              <a:buChar char="•"/>
            </a:pPr>
            <a:r>
              <a:rPr lang="en-US" sz="1050">
                <a:solidFill>
                  <a:srgbClr val="2D3436"/>
                </a:solidFill>
                <a:latin typeface="Calibri" pitchFamily="34" charset="0"/>
                <a:ea typeface="Calibri" pitchFamily="34" charset="-122"/>
                <a:cs typeface="Calibri" pitchFamily="34" charset="-120"/>
              </a:rPr>
              <a:t>Savings Solver — binary search for optimal savings rate</a:t>
            </a:r>
            <a:endParaRPr lang="en-US" sz="1050"/>
          </a:p>
          <a:p>
            <a:pPr marL="342900" indent="-342900">
              <a:spcAft>
                <a:spcPts val="400"/>
              </a:spcAft>
              <a:buSzPct val="100000"/>
              <a:buChar char="•"/>
            </a:pPr>
            <a:r>
              <a:rPr lang="en-US" sz="1050">
                <a:solidFill>
                  <a:srgbClr val="2D3436"/>
                </a:solidFill>
                <a:latin typeface="Calibri" pitchFamily="34" charset="0"/>
                <a:ea typeface="Calibri" pitchFamily="34" charset="-122"/>
                <a:cs typeface="Calibri" pitchFamily="34" charset="-120"/>
              </a:rPr>
              <a:t>Promotion Engine — month-by-month across 4 career chains</a:t>
            </a:r>
            <a:endParaRPr lang="en-US" sz="1050"/>
          </a:p>
          <a:p>
            <a:pPr marL="342900" indent="-342900">
              <a:spcAft>
                <a:spcPts val="400"/>
              </a:spcAft>
              <a:buSzPct val="100000"/>
              <a:buChar char="•"/>
            </a:pPr>
            <a:r>
              <a:rPr lang="en-US" sz="1050">
                <a:solidFill>
                  <a:srgbClr val="2D3436"/>
                </a:solidFill>
                <a:latin typeface="Calibri" pitchFamily="34" charset="0"/>
                <a:ea typeface="Calibri" pitchFamily="34" charset="-122"/>
                <a:cs typeface="Calibri" pitchFamily="34" charset="-120"/>
              </a:rPr>
              <a:t>Cash Flow — Sankey: fixed / invest / guilt-free / surplus</a:t>
            </a:r>
            <a:endParaRPr lang="en-US" sz="1050"/>
          </a:p>
          <a:p>
            <a:pPr marL="342900" indent="-342900">
              <a:spcAft>
                <a:spcPts val="400"/>
              </a:spcAft>
              <a:buSzPct val="100000"/>
              <a:buChar char="•"/>
            </a:pPr>
            <a:r>
              <a:rPr lang="en-US" sz="1050">
                <a:solidFill>
                  <a:srgbClr val="2D3436"/>
                </a:solidFill>
                <a:latin typeface="Calibri" pitchFamily="34" charset="0"/>
                <a:ea typeface="Calibri" pitchFamily="34" charset="-122"/>
                <a:cs typeface="Calibri" pitchFamily="34" charset="-120"/>
              </a:rPr>
              <a:t>Action Plan — gamified 9-step checklist with progress</a:t>
            </a:r>
            <a:endParaRPr lang="en-US" sz="1050"/>
          </a:p>
        </p:txBody>
      </p:sp>
      <p:sp>
        <p:nvSpPr>
          <p:cNvPr id="29" name="Shape 27"/>
          <p:cNvSpPr/>
          <p:nvPr/>
        </p:nvSpPr>
        <p:spPr>
          <a:xfrm>
            <a:off x="457200" y="4343400"/>
            <a:ext cx="1828800" cy="502920"/>
          </a:xfrm>
          <a:prstGeom prst="rect">
            <a:avLst/>
          </a:prstGeom>
          <a:solidFill>
            <a:srgbClr val="1B2A4A"/>
          </a:solidFill>
          <a:ln/>
        </p:spPr>
        <p:txBody>
          <a:bodyPr/>
          <a:lstStyle/>
          <a:p>
            <a:endParaRPr lang="en-US"/>
          </a:p>
        </p:txBody>
      </p:sp>
      <p:sp>
        <p:nvSpPr>
          <p:cNvPr id="30" name="Text 28"/>
          <p:cNvSpPr/>
          <p:nvPr/>
        </p:nvSpPr>
        <p:spPr>
          <a:xfrm>
            <a:off x="457200" y="4325112"/>
            <a:ext cx="1828800" cy="274320"/>
          </a:xfrm>
          <a:prstGeom prst="rect">
            <a:avLst/>
          </a:prstGeom>
          <a:noFill/>
          <a:ln/>
        </p:spPr>
        <p:txBody>
          <a:bodyPr wrap="square" rtlCol="0" anchor="ctr"/>
          <a:lstStyle/>
          <a:p>
            <a:pPr marL="0" indent="0" algn="ctr">
              <a:buNone/>
            </a:pPr>
            <a:r>
              <a:rPr lang="en-US" sz="1600" b="1">
                <a:solidFill>
                  <a:srgbClr val="FFFFFF"/>
                </a:solidFill>
                <a:latin typeface="Georgia" pitchFamily="34" charset="0"/>
                <a:ea typeface="Georgia" pitchFamily="34" charset="-122"/>
                <a:cs typeface="Georgia" pitchFamily="34" charset="-120"/>
              </a:rPr>
              <a:t>~2,700</a:t>
            </a:r>
            <a:endParaRPr lang="en-US" sz="1600"/>
          </a:p>
        </p:txBody>
      </p:sp>
      <p:sp>
        <p:nvSpPr>
          <p:cNvPr id="31" name="Text 29"/>
          <p:cNvSpPr/>
          <p:nvPr/>
        </p:nvSpPr>
        <p:spPr>
          <a:xfrm>
            <a:off x="457200" y="4553712"/>
            <a:ext cx="1828800" cy="228600"/>
          </a:xfrm>
          <a:prstGeom prst="rect">
            <a:avLst/>
          </a:prstGeom>
          <a:noFill/>
          <a:ln/>
        </p:spPr>
        <p:txBody>
          <a:bodyPr wrap="square" rtlCol="0" anchor="ctr"/>
          <a:lstStyle/>
          <a:p>
            <a:pPr marL="0" indent="0" algn="ctr">
              <a:buNone/>
            </a:pPr>
            <a:r>
              <a:rPr lang="en-US" sz="900">
                <a:solidFill>
                  <a:srgbClr val="C5A55A"/>
                </a:solidFill>
                <a:latin typeface="Calibri" pitchFamily="34" charset="0"/>
                <a:ea typeface="Calibri" pitchFamily="34" charset="-122"/>
                <a:cs typeface="Calibri" pitchFamily="34" charset="-120"/>
              </a:rPr>
              <a:t>Lines of Python</a:t>
            </a:r>
            <a:endParaRPr lang="en-US" sz="900"/>
          </a:p>
        </p:txBody>
      </p:sp>
      <p:sp>
        <p:nvSpPr>
          <p:cNvPr id="32" name="Shape 30"/>
          <p:cNvSpPr/>
          <p:nvPr/>
        </p:nvSpPr>
        <p:spPr>
          <a:xfrm>
            <a:off x="2560320" y="4343400"/>
            <a:ext cx="1828800" cy="502920"/>
          </a:xfrm>
          <a:prstGeom prst="rect">
            <a:avLst/>
          </a:prstGeom>
          <a:solidFill>
            <a:srgbClr val="1B2A4A"/>
          </a:solidFill>
          <a:ln/>
        </p:spPr>
        <p:txBody>
          <a:bodyPr/>
          <a:lstStyle/>
          <a:p>
            <a:endParaRPr lang="en-US"/>
          </a:p>
        </p:txBody>
      </p:sp>
      <p:sp>
        <p:nvSpPr>
          <p:cNvPr id="33" name="Text 31"/>
          <p:cNvSpPr/>
          <p:nvPr/>
        </p:nvSpPr>
        <p:spPr>
          <a:xfrm>
            <a:off x="2560320" y="4325112"/>
            <a:ext cx="1828800" cy="274320"/>
          </a:xfrm>
          <a:prstGeom prst="rect">
            <a:avLst/>
          </a:prstGeom>
          <a:noFill/>
          <a:ln/>
        </p:spPr>
        <p:txBody>
          <a:bodyPr wrap="square" rtlCol="0" anchor="ctr"/>
          <a:lstStyle/>
          <a:p>
            <a:pPr marL="0" indent="0" algn="ctr">
              <a:buNone/>
            </a:pPr>
            <a:r>
              <a:rPr lang="en-US" sz="1600" b="1">
                <a:solidFill>
                  <a:srgbClr val="FFFFFF"/>
                </a:solidFill>
                <a:latin typeface="Georgia" pitchFamily="34" charset="0"/>
                <a:ea typeface="Georgia" pitchFamily="34" charset="-122"/>
                <a:cs typeface="Georgia" pitchFamily="34" charset="-120"/>
              </a:rPr>
              <a:t>7</a:t>
            </a:r>
            <a:endParaRPr lang="en-US" sz="1600"/>
          </a:p>
        </p:txBody>
      </p:sp>
      <p:sp>
        <p:nvSpPr>
          <p:cNvPr id="34" name="Text 32"/>
          <p:cNvSpPr/>
          <p:nvPr/>
        </p:nvSpPr>
        <p:spPr>
          <a:xfrm>
            <a:off x="2560320" y="4553712"/>
            <a:ext cx="1828800" cy="228600"/>
          </a:xfrm>
          <a:prstGeom prst="rect">
            <a:avLst/>
          </a:prstGeom>
          <a:noFill/>
          <a:ln/>
        </p:spPr>
        <p:txBody>
          <a:bodyPr wrap="square" rtlCol="0" anchor="ctr"/>
          <a:lstStyle/>
          <a:p>
            <a:pPr marL="0" indent="0" algn="ctr">
              <a:buNone/>
            </a:pPr>
            <a:r>
              <a:rPr lang="en-US" sz="900">
                <a:solidFill>
                  <a:srgbClr val="C5A55A"/>
                </a:solidFill>
                <a:latin typeface="Calibri" pitchFamily="34" charset="0"/>
                <a:ea typeface="Calibri" pitchFamily="34" charset="-122"/>
                <a:cs typeface="Calibri" pitchFamily="34" charset="-120"/>
              </a:rPr>
              <a:t>Interactive Tabs</a:t>
            </a:r>
            <a:endParaRPr lang="en-US" sz="900"/>
          </a:p>
        </p:txBody>
      </p:sp>
      <p:sp>
        <p:nvSpPr>
          <p:cNvPr id="35" name="Shape 33"/>
          <p:cNvSpPr/>
          <p:nvPr/>
        </p:nvSpPr>
        <p:spPr>
          <a:xfrm>
            <a:off x="4663440" y="4343400"/>
            <a:ext cx="1828800" cy="502920"/>
          </a:xfrm>
          <a:prstGeom prst="rect">
            <a:avLst/>
          </a:prstGeom>
          <a:solidFill>
            <a:srgbClr val="1B2A4A"/>
          </a:solidFill>
          <a:ln/>
        </p:spPr>
        <p:txBody>
          <a:bodyPr/>
          <a:lstStyle/>
          <a:p>
            <a:endParaRPr lang="en-US"/>
          </a:p>
        </p:txBody>
      </p:sp>
      <p:sp>
        <p:nvSpPr>
          <p:cNvPr id="36" name="Text 34"/>
          <p:cNvSpPr/>
          <p:nvPr/>
        </p:nvSpPr>
        <p:spPr>
          <a:xfrm>
            <a:off x="4663440" y="4325112"/>
            <a:ext cx="1828800" cy="274320"/>
          </a:xfrm>
          <a:prstGeom prst="rect">
            <a:avLst/>
          </a:prstGeom>
          <a:noFill/>
          <a:ln/>
        </p:spPr>
        <p:txBody>
          <a:bodyPr wrap="square" rtlCol="0" anchor="ctr"/>
          <a:lstStyle/>
          <a:p>
            <a:pPr marL="0" indent="0" algn="ctr">
              <a:buNone/>
            </a:pPr>
            <a:r>
              <a:rPr lang="en-US" sz="1600" b="1">
                <a:solidFill>
                  <a:srgbClr val="FFFFFF"/>
                </a:solidFill>
                <a:latin typeface="Georgia" pitchFamily="34" charset="0"/>
                <a:ea typeface="Georgia" pitchFamily="34" charset="-122"/>
                <a:cs typeface="Georgia" pitchFamily="34" charset="-120"/>
              </a:rPr>
              <a:t>19</a:t>
            </a:r>
            <a:endParaRPr lang="en-US" sz="1600"/>
          </a:p>
        </p:txBody>
      </p:sp>
      <p:sp>
        <p:nvSpPr>
          <p:cNvPr id="37" name="Text 35"/>
          <p:cNvSpPr/>
          <p:nvPr/>
        </p:nvSpPr>
        <p:spPr>
          <a:xfrm>
            <a:off x="4663440" y="4553712"/>
            <a:ext cx="1828800" cy="228600"/>
          </a:xfrm>
          <a:prstGeom prst="rect">
            <a:avLst/>
          </a:prstGeom>
          <a:noFill/>
          <a:ln/>
        </p:spPr>
        <p:txBody>
          <a:bodyPr wrap="square" rtlCol="0" anchor="ctr"/>
          <a:lstStyle/>
          <a:p>
            <a:pPr marL="0" indent="0" algn="ctr">
              <a:buNone/>
            </a:pPr>
            <a:r>
              <a:rPr lang="en-US" sz="900">
                <a:solidFill>
                  <a:srgbClr val="C5A55A"/>
                </a:solidFill>
                <a:latin typeface="Calibri" pitchFamily="34" charset="0"/>
                <a:ea typeface="Calibri" pitchFamily="34" charset="-122"/>
                <a:cs typeface="Calibri" pitchFamily="34" charset="-120"/>
              </a:rPr>
              <a:t>Quiz Questions</a:t>
            </a:r>
            <a:endParaRPr lang="en-US" sz="900"/>
          </a:p>
        </p:txBody>
      </p:sp>
      <p:sp>
        <p:nvSpPr>
          <p:cNvPr id="38" name="Shape 36"/>
          <p:cNvSpPr/>
          <p:nvPr/>
        </p:nvSpPr>
        <p:spPr>
          <a:xfrm>
            <a:off x="6766560" y="4343400"/>
            <a:ext cx="1828800" cy="502920"/>
          </a:xfrm>
          <a:prstGeom prst="rect">
            <a:avLst/>
          </a:prstGeom>
          <a:solidFill>
            <a:srgbClr val="1B2A4A"/>
          </a:solidFill>
          <a:ln/>
        </p:spPr>
        <p:txBody>
          <a:bodyPr/>
          <a:lstStyle/>
          <a:p>
            <a:endParaRPr lang="en-US"/>
          </a:p>
        </p:txBody>
      </p:sp>
      <p:sp>
        <p:nvSpPr>
          <p:cNvPr id="39" name="Text 37"/>
          <p:cNvSpPr/>
          <p:nvPr/>
        </p:nvSpPr>
        <p:spPr>
          <a:xfrm>
            <a:off x="6766560" y="4325112"/>
            <a:ext cx="1828800" cy="274320"/>
          </a:xfrm>
          <a:prstGeom prst="rect">
            <a:avLst/>
          </a:prstGeom>
          <a:noFill/>
          <a:ln/>
        </p:spPr>
        <p:txBody>
          <a:bodyPr wrap="square" rtlCol="0" anchor="ctr"/>
          <a:lstStyle/>
          <a:p>
            <a:pPr marL="0" indent="0" algn="ctr">
              <a:buNone/>
            </a:pPr>
            <a:r>
              <a:rPr lang="en-US" sz="1600" b="1">
                <a:solidFill>
                  <a:srgbClr val="FFFFFF"/>
                </a:solidFill>
                <a:latin typeface="Georgia" pitchFamily="34" charset="0"/>
                <a:ea typeface="Georgia" pitchFamily="34" charset="-122"/>
                <a:cs typeface="Georgia" pitchFamily="34" charset="-120"/>
              </a:rPr>
              <a:t>1,000</a:t>
            </a:r>
            <a:endParaRPr lang="en-US" sz="1600"/>
          </a:p>
        </p:txBody>
      </p:sp>
      <p:sp>
        <p:nvSpPr>
          <p:cNvPr id="40" name="Text 38"/>
          <p:cNvSpPr/>
          <p:nvPr/>
        </p:nvSpPr>
        <p:spPr>
          <a:xfrm>
            <a:off x="6766560" y="4553712"/>
            <a:ext cx="1828800" cy="228600"/>
          </a:xfrm>
          <a:prstGeom prst="rect">
            <a:avLst/>
          </a:prstGeom>
          <a:noFill/>
          <a:ln/>
        </p:spPr>
        <p:txBody>
          <a:bodyPr wrap="square" rtlCol="0" anchor="ctr"/>
          <a:lstStyle/>
          <a:p>
            <a:pPr marL="0" indent="0" algn="ctr">
              <a:buNone/>
            </a:pPr>
            <a:r>
              <a:rPr lang="en-US" sz="900">
                <a:solidFill>
                  <a:srgbClr val="C5A55A"/>
                </a:solidFill>
                <a:latin typeface="Calibri" pitchFamily="34" charset="0"/>
                <a:ea typeface="Calibri" pitchFamily="34" charset="-122"/>
                <a:cs typeface="Calibri" pitchFamily="34" charset="-120"/>
              </a:rPr>
              <a:t>Monte Carlo Trials</a:t>
            </a:r>
            <a:endParaRPr lang="en-US" sz="900"/>
          </a:p>
        </p:txBody>
      </p:sp>
      <p:sp>
        <p:nvSpPr>
          <p:cNvPr id="41" name="Text 39"/>
          <p:cNvSpPr/>
          <p:nvPr/>
        </p:nvSpPr>
        <p:spPr>
          <a:xfrm>
            <a:off x="457200" y="4709160"/>
            <a:ext cx="6400800" cy="320040"/>
          </a:xfrm>
          <a:prstGeom prst="rect">
            <a:avLst/>
          </a:prstGeom>
          <a:noFill/>
          <a:ln/>
        </p:spPr>
        <p:txBody>
          <a:bodyPr wrap="square" rtlCol="0" anchor="ctr"/>
          <a:lstStyle/>
          <a:p>
            <a:pPr marL="0" indent="0">
              <a:buNone/>
            </a:pPr>
            <a:r>
              <a:rPr lang="en-US" sz="900">
                <a:solidFill>
                  <a:srgbClr val="636E72"/>
                </a:solidFill>
                <a:latin typeface="Calibri" pitchFamily="34" charset="0"/>
                <a:ea typeface="Calibri" pitchFamily="34" charset="-122"/>
                <a:cs typeface="Calibri" pitchFamily="34" charset="-120"/>
              </a:rPr>
              <a:t>F.I.R.E. for Effect  |  OA3801</a:t>
            </a:r>
            <a:endParaRPr lang="en-US" sz="900"/>
          </a:p>
        </p:txBody>
      </p:sp>
      <p:sp>
        <p:nvSpPr>
          <p:cNvPr id="42" name="Text 40"/>
          <p:cNvSpPr/>
          <p:nvPr/>
        </p:nvSpPr>
        <p:spPr>
          <a:xfrm>
            <a:off x="8229600" y="4709160"/>
            <a:ext cx="640080" cy="320040"/>
          </a:xfrm>
          <a:prstGeom prst="rect">
            <a:avLst/>
          </a:prstGeom>
          <a:noFill/>
          <a:ln/>
        </p:spPr>
        <p:txBody>
          <a:bodyPr wrap="square" rtlCol="0" anchor="ctr"/>
          <a:lstStyle/>
          <a:p>
            <a:pPr marL="0" indent="0" algn="r">
              <a:buNone/>
            </a:pPr>
            <a:r>
              <a:rPr lang="en-US" sz="900">
                <a:solidFill>
                  <a:srgbClr val="636E72"/>
                </a:solidFill>
                <a:latin typeface="Calibri" pitchFamily="34" charset="0"/>
                <a:ea typeface="Calibri" pitchFamily="34" charset="-122"/>
                <a:cs typeface="Calibri" pitchFamily="34" charset="-120"/>
              </a:rPr>
              <a:t>13</a:t>
            </a:r>
            <a:endParaRPr lang="en-US" sz="9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12">
    <p:bg>
      <p:bgPr>
        <a:solidFill>
          <a:srgbClr val="F5F5F0"/>
        </a:solidFill>
        <a:effectLst/>
      </p:bgPr>
    </p:bg>
    <p:spTree>
      <p:nvGrpSpPr>
        <p:cNvPr id="1" name=""/>
        <p:cNvGrpSpPr/>
        <p:nvPr/>
      </p:nvGrpSpPr>
      <p:grpSpPr>
        <a:xfrm>
          <a:off x="0" y="0"/>
          <a:ext cx="0" cy="0"/>
          <a:chOff x="0" y="0"/>
          <a:chExt cx="0" cy="0"/>
        </a:xfrm>
      </p:grpSpPr>
      <p:sp>
        <p:nvSpPr>
          <p:cNvPr id="2" name="Text 0"/>
          <p:cNvSpPr/>
          <p:nvPr/>
        </p:nvSpPr>
        <p:spPr>
          <a:xfrm>
            <a:off x="548640" y="274320"/>
            <a:ext cx="8046720" cy="640080"/>
          </a:xfrm>
          <a:prstGeom prst="rect">
            <a:avLst/>
          </a:prstGeom>
          <a:noFill/>
          <a:ln/>
        </p:spPr>
        <p:txBody>
          <a:bodyPr wrap="square" rtlCol="0" anchor="ctr"/>
          <a:lstStyle/>
          <a:p>
            <a:pPr marL="0" indent="0">
              <a:buNone/>
            </a:pPr>
            <a:r>
              <a:rPr lang="en-US" sz="3200" b="1">
                <a:solidFill>
                  <a:srgbClr val="1B2A4A"/>
                </a:solidFill>
                <a:latin typeface="Georgia" pitchFamily="34" charset="0"/>
                <a:ea typeface="Georgia" pitchFamily="34" charset="-122"/>
                <a:cs typeface="Georgia" pitchFamily="34" charset="-120"/>
              </a:rPr>
              <a:t>KEY FINDINGS</a:t>
            </a:r>
            <a:endParaRPr lang="en-US" sz="3200"/>
          </a:p>
        </p:txBody>
      </p:sp>
      <p:sp>
        <p:nvSpPr>
          <p:cNvPr id="3" name="Text 1"/>
          <p:cNvSpPr/>
          <p:nvPr/>
        </p:nvSpPr>
        <p:spPr>
          <a:xfrm>
            <a:off x="548640" y="822960"/>
            <a:ext cx="8046720" cy="365760"/>
          </a:xfrm>
          <a:prstGeom prst="rect">
            <a:avLst/>
          </a:prstGeom>
          <a:noFill/>
          <a:ln/>
        </p:spPr>
        <p:txBody>
          <a:bodyPr wrap="square" rtlCol="0" anchor="ctr"/>
          <a:lstStyle/>
          <a:p>
            <a:pPr marL="0" indent="0">
              <a:buNone/>
            </a:pPr>
            <a:r>
              <a:rPr lang="en-US" sz="1400" i="1">
                <a:solidFill>
                  <a:srgbClr val="636E72"/>
                </a:solidFill>
                <a:latin typeface="Calibri" pitchFamily="34" charset="0"/>
                <a:ea typeface="Calibri" pitchFamily="34" charset="-122"/>
                <a:cs typeface="Calibri" pitchFamily="34" charset="-120"/>
              </a:rPr>
              <a:t>What the tool reveals — even at MVP stage</a:t>
            </a:r>
            <a:endParaRPr lang="en-US" sz="1400"/>
          </a:p>
        </p:txBody>
      </p:sp>
      <p:sp>
        <p:nvSpPr>
          <p:cNvPr id="4" name="Shape 2"/>
          <p:cNvSpPr/>
          <p:nvPr/>
        </p:nvSpPr>
        <p:spPr>
          <a:xfrm>
            <a:off x="457200" y="1371600"/>
            <a:ext cx="2606040" cy="20116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5" name="Text 3"/>
          <p:cNvSpPr/>
          <p:nvPr/>
        </p:nvSpPr>
        <p:spPr>
          <a:xfrm>
            <a:off x="457200" y="1463040"/>
            <a:ext cx="2606040" cy="731520"/>
          </a:xfrm>
          <a:prstGeom prst="rect">
            <a:avLst/>
          </a:prstGeom>
          <a:noFill/>
          <a:ln/>
        </p:spPr>
        <p:txBody>
          <a:bodyPr wrap="square" rtlCol="0" anchor="ctr"/>
          <a:lstStyle/>
          <a:p>
            <a:pPr marL="0" indent="0" algn="ctr">
              <a:buNone/>
            </a:pPr>
            <a:r>
              <a:rPr lang="en-US" sz="3600" b="1">
                <a:solidFill>
                  <a:srgbClr val="1B2A4A"/>
                </a:solidFill>
                <a:latin typeface="Georgia" pitchFamily="34" charset="0"/>
                <a:ea typeface="Georgia" pitchFamily="34" charset="-122"/>
                <a:cs typeface="Georgia" pitchFamily="34" charset="-120"/>
              </a:rPr>
              <a:t>$2,400+</a:t>
            </a:r>
            <a:endParaRPr lang="en-US" sz="3600"/>
          </a:p>
        </p:txBody>
      </p:sp>
      <p:sp>
        <p:nvSpPr>
          <p:cNvPr id="6" name="Text 4"/>
          <p:cNvSpPr/>
          <p:nvPr/>
        </p:nvSpPr>
        <p:spPr>
          <a:xfrm>
            <a:off x="457200" y="2103120"/>
            <a:ext cx="2606040" cy="274320"/>
          </a:xfrm>
          <a:prstGeom prst="rect">
            <a:avLst/>
          </a:prstGeom>
          <a:noFill/>
          <a:ln/>
        </p:spPr>
        <p:txBody>
          <a:bodyPr wrap="square" rtlCol="0" anchor="ctr"/>
          <a:lstStyle/>
          <a:p>
            <a:pPr marL="0" indent="0" algn="ctr">
              <a:buNone/>
            </a:pPr>
            <a:r>
              <a:rPr lang="en-US" sz="1200" b="1">
                <a:solidFill>
                  <a:srgbClr val="C5A55A"/>
                </a:solidFill>
                <a:latin typeface="Calibri" pitchFamily="34" charset="0"/>
                <a:ea typeface="Calibri" pitchFamily="34" charset="-122"/>
                <a:cs typeface="Calibri" pitchFamily="34" charset="-120"/>
              </a:rPr>
              <a:t>per year</a:t>
            </a:r>
            <a:endParaRPr lang="en-US" sz="1200"/>
          </a:p>
        </p:txBody>
      </p:sp>
      <p:sp>
        <p:nvSpPr>
          <p:cNvPr id="7" name="Text 5"/>
          <p:cNvSpPr/>
          <p:nvPr/>
        </p:nvSpPr>
        <p:spPr>
          <a:xfrm>
            <a:off x="640080" y="2468880"/>
            <a:ext cx="2240280" cy="777240"/>
          </a:xfrm>
          <a:prstGeom prst="rect">
            <a:avLst/>
          </a:prstGeom>
          <a:noFill/>
          <a:ln/>
        </p:spPr>
        <p:txBody>
          <a:bodyPr wrap="square" rtlCol="0" anchor="t"/>
          <a:lstStyle/>
          <a:p>
            <a:pPr marL="0" indent="0" algn="ctr">
              <a:buNone/>
            </a:pPr>
            <a:r>
              <a:rPr lang="en-US" sz="1100">
                <a:solidFill>
                  <a:srgbClr val="2D3436"/>
                </a:solidFill>
                <a:latin typeface="Calibri" pitchFamily="34" charset="0"/>
                <a:ea typeface="Calibri" pitchFamily="34" charset="-122"/>
                <a:cs typeface="Calibri" pitchFamily="34" charset="-120"/>
              </a:rPr>
              <a:t>Average unclaimed BRS match</a:t>
            </a:r>
            <a:endParaRPr lang="en-US" sz="1100"/>
          </a:p>
          <a:p>
            <a:pPr marL="0" indent="0" algn="ctr">
              <a:buNone/>
            </a:pPr>
            <a:r>
              <a:rPr lang="en-US" sz="1100">
                <a:solidFill>
                  <a:srgbClr val="2D3436"/>
                </a:solidFill>
                <a:latin typeface="Calibri" pitchFamily="34" charset="0"/>
                <a:ea typeface="Calibri" pitchFamily="34" charset="-122"/>
                <a:cs typeface="Calibri" pitchFamily="34" charset="-120"/>
              </a:rPr>
              <a:t>for E-5 (3% vs 5%)</a:t>
            </a:r>
            <a:endParaRPr lang="en-US" sz="1100"/>
          </a:p>
        </p:txBody>
      </p:sp>
      <p:sp>
        <p:nvSpPr>
          <p:cNvPr id="8" name="Shape 6"/>
          <p:cNvSpPr/>
          <p:nvPr/>
        </p:nvSpPr>
        <p:spPr>
          <a:xfrm>
            <a:off x="3246120" y="1371600"/>
            <a:ext cx="2606040" cy="20116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9" name="Text 7"/>
          <p:cNvSpPr/>
          <p:nvPr/>
        </p:nvSpPr>
        <p:spPr>
          <a:xfrm>
            <a:off x="3246120" y="1463040"/>
            <a:ext cx="2606040" cy="731520"/>
          </a:xfrm>
          <a:prstGeom prst="rect">
            <a:avLst/>
          </a:prstGeom>
          <a:noFill/>
          <a:ln/>
        </p:spPr>
        <p:txBody>
          <a:bodyPr wrap="square" rtlCol="0" anchor="ctr"/>
          <a:lstStyle/>
          <a:p>
            <a:pPr marL="0" indent="0" algn="ctr">
              <a:buNone/>
            </a:pPr>
            <a:r>
              <a:rPr lang="en-US" sz="3600" b="1">
                <a:solidFill>
                  <a:srgbClr val="1B2A4A"/>
                </a:solidFill>
                <a:latin typeface="Georgia" pitchFamily="34" charset="0"/>
                <a:ea typeface="Georgia" pitchFamily="34" charset="-122"/>
                <a:cs typeface="Georgia" pitchFamily="34" charset="-120"/>
              </a:rPr>
              <a:t>$187K</a:t>
            </a:r>
            <a:endParaRPr lang="en-US" sz="3600"/>
          </a:p>
        </p:txBody>
      </p:sp>
      <p:sp>
        <p:nvSpPr>
          <p:cNvPr id="10" name="Text 8"/>
          <p:cNvSpPr/>
          <p:nvPr/>
        </p:nvSpPr>
        <p:spPr>
          <a:xfrm>
            <a:off x="3246120" y="2103120"/>
            <a:ext cx="2606040" cy="274320"/>
          </a:xfrm>
          <a:prstGeom prst="rect">
            <a:avLst/>
          </a:prstGeom>
          <a:noFill/>
          <a:ln/>
        </p:spPr>
        <p:txBody>
          <a:bodyPr wrap="square" rtlCol="0" anchor="ctr"/>
          <a:lstStyle/>
          <a:p>
            <a:pPr marL="0" indent="0" algn="ctr">
              <a:buNone/>
            </a:pPr>
            <a:r>
              <a:rPr lang="en-US" sz="1200" b="1">
                <a:solidFill>
                  <a:srgbClr val="C5A55A"/>
                </a:solidFill>
                <a:latin typeface="Calibri" pitchFamily="34" charset="0"/>
                <a:ea typeface="Calibri" pitchFamily="34" charset="-122"/>
                <a:cs typeface="Calibri" pitchFamily="34" charset="-120"/>
              </a:rPr>
              <a:t>gap</a:t>
            </a:r>
            <a:endParaRPr lang="en-US" sz="1200"/>
          </a:p>
        </p:txBody>
      </p:sp>
      <p:sp>
        <p:nvSpPr>
          <p:cNvPr id="11" name="Text 9"/>
          <p:cNvSpPr/>
          <p:nvPr/>
        </p:nvSpPr>
        <p:spPr>
          <a:xfrm>
            <a:off x="3429000" y="2468880"/>
            <a:ext cx="2240280" cy="777240"/>
          </a:xfrm>
          <a:prstGeom prst="rect">
            <a:avLst/>
          </a:prstGeom>
          <a:noFill/>
          <a:ln/>
        </p:spPr>
        <p:txBody>
          <a:bodyPr wrap="square" rtlCol="0" anchor="t"/>
          <a:lstStyle/>
          <a:p>
            <a:pPr marL="0" indent="0" algn="ctr">
              <a:buNone/>
            </a:pPr>
            <a:r>
              <a:rPr lang="en-US" sz="1100">
                <a:solidFill>
                  <a:srgbClr val="2D3436"/>
                </a:solidFill>
                <a:latin typeface="Calibri" pitchFamily="34" charset="0"/>
                <a:ea typeface="Calibri" pitchFamily="34" charset="-122"/>
                <a:cs typeface="Calibri" pitchFamily="34" charset="-120"/>
              </a:rPr>
              <a:t>Retirement gap for typical E-6</a:t>
            </a:r>
            <a:endParaRPr lang="en-US" sz="1100"/>
          </a:p>
          <a:p>
            <a:pPr marL="0" indent="0" algn="ctr">
              <a:buNone/>
            </a:pPr>
            <a:r>
              <a:rPr lang="en-US" sz="1100">
                <a:solidFill>
                  <a:srgbClr val="2D3436"/>
                </a:solidFill>
                <a:latin typeface="Calibri" pitchFamily="34" charset="0"/>
                <a:ea typeface="Calibri" pitchFamily="34" charset="-122"/>
                <a:cs typeface="Calibri" pitchFamily="34" charset="-120"/>
              </a:rPr>
              <a:t>at 20 years on BRS pension alone</a:t>
            </a:r>
            <a:endParaRPr lang="en-US" sz="1100"/>
          </a:p>
        </p:txBody>
      </p:sp>
      <p:sp>
        <p:nvSpPr>
          <p:cNvPr id="12" name="Shape 10"/>
          <p:cNvSpPr/>
          <p:nvPr/>
        </p:nvSpPr>
        <p:spPr>
          <a:xfrm>
            <a:off x="6035040" y="1371600"/>
            <a:ext cx="2606040" cy="20116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en-US"/>
          </a:p>
        </p:txBody>
      </p:sp>
      <p:sp>
        <p:nvSpPr>
          <p:cNvPr id="13" name="Text 11"/>
          <p:cNvSpPr/>
          <p:nvPr/>
        </p:nvSpPr>
        <p:spPr>
          <a:xfrm>
            <a:off x="6035040" y="1463040"/>
            <a:ext cx="2606040" cy="731520"/>
          </a:xfrm>
          <a:prstGeom prst="rect">
            <a:avLst/>
          </a:prstGeom>
          <a:noFill/>
          <a:ln/>
        </p:spPr>
        <p:txBody>
          <a:bodyPr wrap="square" rtlCol="0" anchor="ctr"/>
          <a:lstStyle/>
          <a:p>
            <a:pPr marL="0" indent="0" algn="ctr">
              <a:buNone/>
            </a:pPr>
            <a:r>
              <a:rPr lang="en-US" sz="2600" b="1">
                <a:solidFill>
                  <a:srgbClr val="1B2A4A"/>
                </a:solidFill>
                <a:latin typeface="Georgia" pitchFamily="34" charset="0"/>
                <a:ea typeface="Georgia" pitchFamily="34" charset="-122"/>
                <a:cs typeface="Georgia" pitchFamily="34" charset="-120"/>
              </a:rPr>
              <a:t>4.25% vs 10.5%</a:t>
            </a:r>
            <a:endParaRPr lang="en-US" sz="2600"/>
          </a:p>
        </p:txBody>
      </p:sp>
      <p:sp>
        <p:nvSpPr>
          <p:cNvPr id="14" name="Text 12"/>
          <p:cNvSpPr/>
          <p:nvPr/>
        </p:nvSpPr>
        <p:spPr>
          <a:xfrm>
            <a:off x="6035040" y="2103120"/>
            <a:ext cx="2606040" cy="274320"/>
          </a:xfrm>
          <a:prstGeom prst="rect">
            <a:avLst/>
          </a:prstGeom>
          <a:noFill/>
          <a:ln/>
        </p:spPr>
        <p:txBody>
          <a:bodyPr wrap="square" rtlCol="0" anchor="ctr"/>
          <a:lstStyle/>
          <a:p>
            <a:pPr marL="0" indent="0" algn="ctr">
              <a:buNone/>
            </a:pPr>
            <a:r>
              <a:rPr lang="en-US" sz="1200" b="1">
                <a:solidFill>
                  <a:srgbClr val="C5A55A"/>
                </a:solidFill>
                <a:latin typeface="Calibri" pitchFamily="34" charset="0"/>
                <a:ea typeface="Calibri" pitchFamily="34" charset="-122"/>
                <a:cs typeface="Calibri" pitchFamily="34" charset="-120"/>
              </a:rPr>
              <a:t>returns</a:t>
            </a:r>
            <a:endParaRPr lang="en-US" sz="1200"/>
          </a:p>
        </p:txBody>
      </p:sp>
      <p:sp>
        <p:nvSpPr>
          <p:cNvPr id="15" name="Text 13"/>
          <p:cNvSpPr/>
          <p:nvPr/>
        </p:nvSpPr>
        <p:spPr>
          <a:xfrm>
            <a:off x="6217920" y="2468880"/>
            <a:ext cx="2240280" cy="777240"/>
          </a:xfrm>
          <a:prstGeom prst="rect">
            <a:avLst/>
          </a:prstGeom>
          <a:noFill/>
          <a:ln/>
        </p:spPr>
        <p:txBody>
          <a:bodyPr wrap="square" rtlCol="0" anchor="t"/>
          <a:lstStyle/>
          <a:p>
            <a:pPr marL="0" indent="0" algn="ctr">
              <a:buNone/>
            </a:pPr>
            <a:r>
              <a:rPr lang="en-US" sz="1100">
                <a:solidFill>
                  <a:srgbClr val="2D3436"/>
                </a:solidFill>
                <a:latin typeface="Calibri" pitchFamily="34" charset="0"/>
                <a:ea typeface="Calibri" pitchFamily="34" charset="-122"/>
                <a:cs typeface="Calibri" pitchFamily="34" charset="-120"/>
              </a:rPr>
              <a:t>G-Fund vs C-Fund — the cost</a:t>
            </a:r>
            <a:endParaRPr lang="en-US" sz="1100"/>
          </a:p>
          <a:p>
            <a:pPr marL="0" indent="0" algn="ctr">
              <a:buNone/>
            </a:pPr>
            <a:r>
              <a:rPr lang="en-US" sz="1100">
                <a:solidFill>
                  <a:srgbClr val="2D3436"/>
                </a:solidFill>
                <a:latin typeface="Calibri" pitchFamily="34" charset="0"/>
                <a:ea typeface="Calibri" pitchFamily="34" charset="-122"/>
                <a:cs typeface="Calibri" pitchFamily="34" charset="-120"/>
              </a:rPr>
              <a:t>of staying in default TSP</a:t>
            </a:r>
            <a:endParaRPr lang="en-US" sz="1100"/>
          </a:p>
        </p:txBody>
      </p:sp>
      <p:sp>
        <p:nvSpPr>
          <p:cNvPr id="16" name="Shape 14"/>
          <p:cNvSpPr/>
          <p:nvPr/>
        </p:nvSpPr>
        <p:spPr>
          <a:xfrm>
            <a:off x="457200" y="3657600"/>
            <a:ext cx="8229600" cy="731520"/>
          </a:xfrm>
          <a:prstGeom prst="rect">
            <a:avLst/>
          </a:prstGeom>
          <a:solidFill>
            <a:srgbClr val="F5ECD7"/>
          </a:solidFill>
          <a:ln/>
          <a:effectLst>
            <a:outerShdw blurRad="50800" dist="25400" dir="8100000" algn="bl" rotWithShape="0">
              <a:srgbClr val="000000">
                <a:alpha val="12000"/>
              </a:srgbClr>
            </a:outerShdw>
          </a:effectLst>
        </p:spPr>
        <p:txBody>
          <a:bodyPr/>
          <a:lstStyle/>
          <a:p>
            <a:endParaRPr lang="en-US"/>
          </a:p>
        </p:txBody>
      </p:sp>
      <p:sp>
        <p:nvSpPr>
          <p:cNvPr id="17" name="Text 15"/>
          <p:cNvSpPr/>
          <p:nvPr/>
        </p:nvSpPr>
        <p:spPr>
          <a:xfrm>
            <a:off x="640080" y="3703320"/>
            <a:ext cx="7863840" cy="640080"/>
          </a:xfrm>
          <a:prstGeom prst="rect">
            <a:avLst/>
          </a:prstGeom>
          <a:noFill/>
          <a:ln/>
        </p:spPr>
        <p:txBody>
          <a:bodyPr wrap="square" rtlCol="0" anchor="ctr"/>
          <a:lstStyle/>
          <a:p>
            <a:pPr marL="0" indent="0">
              <a:buNone/>
            </a:pPr>
            <a:r>
              <a:rPr lang="en-US" sz="1300" b="1">
                <a:solidFill>
                  <a:srgbClr val="1B2A4A"/>
                </a:solidFill>
                <a:latin typeface="Calibri" pitchFamily="34" charset="0"/>
                <a:ea typeface="Calibri" pitchFamily="34" charset="-122"/>
                <a:cs typeface="Calibri" pitchFamily="34" charset="-120"/>
              </a:rPr>
              <a:t>Key Takeaway:  </a:t>
            </a:r>
            <a:r>
              <a:rPr lang="en-US" sz="1200">
                <a:solidFill>
                  <a:srgbClr val="2D3436"/>
                </a:solidFill>
                <a:latin typeface="Calibri" pitchFamily="34" charset="0"/>
                <a:ea typeface="Calibri" pitchFamily="34" charset="-122"/>
                <a:cs typeface="Calibri" pitchFamily="34" charset="-120"/>
              </a:rPr>
              <a:t>Even basic input exposes thousands of dollars in annual missed value. The problem isn't that servicemembers are bad with money — it's that no tool speaks their language.</a:t>
            </a:r>
            <a:endParaRPr lang="en-US" sz="1300"/>
          </a:p>
        </p:txBody>
      </p:sp>
      <p:sp>
        <p:nvSpPr>
          <p:cNvPr id="18" name="Text 16"/>
          <p:cNvSpPr/>
          <p:nvPr/>
        </p:nvSpPr>
        <p:spPr>
          <a:xfrm>
            <a:off x="457200" y="4709160"/>
            <a:ext cx="6400800" cy="320040"/>
          </a:xfrm>
          <a:prstGeom prst="rect">
            <a:avLst/>
          </a:prstGeom>
          <a:noFill/>
          <a:ln/>
        </p:spPr>
        <p:txBody>
          <a:bodyPr wrap="square" rtlCol="0" anchor="ctr"/>
          <a:lstStyle/>
          <a:p>
            <a:pPr marL="0" indent="0">
              <a:buNone/>
            </a:pPr>
            <a:r>
              <a:rPr lang="en-US" sz="900">
                <a:solidFill>
                  <a:srgbClr val="636E72"/>
                </a:solidFill>
                <a:latin typeface="Calibri" pitchFamily="34" charset="0"/>
                <a:ea typeface="Calibri" pitchFamily="34" charset="-122"/>
                <a:cs typeface="Calibri" pitchFamily="34" charset="-120"/>
              </a:rPr>
              <a:t>F.I.R.E. for Effect  |  OA3801</a:t>
            </a:r>
            <a:endParaRPr lang="en-US" sz="900"/>
          </a:p>
        </p:txBody>
      </p:sp>
      <p:sp>
        <p:nvSpPr>
          <p:cNvPr id="19" name="Text 17"/>
          <p:cNvSpPr/>
          <p:nvPr/>
        </p:nvSpPr>
        <p:spPr>
          <a:xfrm>
            <a:off x="8229600" y="4709160"/>
            <a:ext cx="640080" cy="320040"/>
          </a:xfrm>
          <a:prstGeom prst="rect">
            <a:avLst/>
          </a:prstGeom>
          <a:noFill/>
          <a:ln/>
        </p:spPr>
        <p:txBody>
          <a:bodyPr wrap="square" rtlCol="0" anchor="ctr"/>
          <a:lstStyle/>
          <a:p>
            <a:pPr marL="0" indent="0" algn="r">
              <a:buNone/>
            </a:pPr>
            <a:r>
              <a:rPr lang="en-US" sz="900">
                <a:solidFill>
                  <a:srgbClr val="636E72"/>
                </a:solidFill>
                <a:latin typeface="Calibri" pitchFamily="34" charset="0"/>
                <a:ea typeface="Calibri" pitchFamily="34" charset="-122"/>
                <a:cs typeface="Calibri" pitchFamily="34" charset="-120"/>
              </a:rPr>
              <a:t>12</a:t>
            </a:r>
            <a:endParaRPr lang="en-US" sz="9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952A5E-2FBD-06C3-8B88-E2E0E90C640A}"/>
              </a:ext>
            </a:extLst>
          </p:cNvPr>
          <p:cNvPicPr>
            <a:picLocks noChangeAspect="1"/>
          </p:cNvPicPr>
          <p:nvPr/>
        </p:nvPicPr>
        <p:blipFill>
          <a:blip r:embed="rId2"/>
          <a:stretch>
            <a:fillRect/>
          </a:stretch>
        </p:blipFill>
        <p:spPr>
          <a:xfrm>
            <a:off x="158413" y="0"/>
            <a:ext cx="8827173" cy="5143500"/>
          </a:xfrm>
          <a:prstGeom prst="rect">
            <a:avLst/>
          </a:prstGeom>
        </p:spPr>
      </p:pic>
    </p:spTree>
    <p:extLst>
      <p:ext uri="{BB962C8B-B14F-4D97-AF65-F5344CB8AC3E}">
        <p14:creationId xmlns:p14="http://schemas.microsoft.com/office/powerpoint/2010/main" val="8777290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al9hh6281nsrq15muyi9j1u5nwyv7d4v"/>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2.png"/></Relationships>
</file>

<file path=ppt/webextensions/webextension1.xml><?xml version="1.0" encoding="utf-8"?>
<we:webextension xmlns:we="http://schemas.microsoft.com/office/webextensions/webextension/2010/11" id="{F634EFCD-D650-47CE-9BD0-CE9BD7374A95}">
  <we:reference id="wa104379261" version="4.3.0.0" store="en-US" storeType="OMEX"/>
  <we:alternateReferences>
    <we:reference id="wa104379261" version="4.3.0.0" store="wa104379261" storeType="OMEX"/>
  </we:alternateReferences>
  <we:properties>
    <we:property name="MENTIMETER_QUESTION_ID_KEY" value="&quot;ms49kxu8i4dw&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26</Slides>
  <Notes>23</Notes>
  <HiddenSlides>8</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F.I.R.E. for Effect — OA3801 Final Project</dc:title>
  <dc:subject>PptxGenJS Presentation</dc:subject>
  <dc:creator>Fire for Effect Team</dc:creator>
  <cp:revision>1</cp:revision>
  <dcterms:created xsi:type="dcterms:W3CDTF">2026-03-09T23:52:35Z</dcterms:created>
  <dcterms:modified xsi:type="dcterms:W3CDTF">2026-03-12T20:58:34Z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bbd4a6-dc2f-44d9-ad2c-c28d4679873f_Enabled">
    <vt:lpwstr>true</vt:lpwstr>
  </property>
  <property fmtid="{D5CDD505-2E9C-101B-9397-08002B2CF9AE}" pid="3" name="MSIP_Label_acbbd4a6-dc2f-44d9-ad2c-c28d4679873f_SetDate">
    <vt:lpwstr>2026-03-10T17:22:28Z</vt:lpwstr>
  </property>
  <property fmtid="{D5CDD505-2E9C-101B-9397-08002B2CF9AE}" pid="4" name="MSIP_Label_acbbd4a6-dc2f-44d9-ad2c-c28d4679873f_Method">
    <vt:lpwstr>Standard</vt:lpwstr>
  </property>
  <property fmtid="{D5CDD505-2E9C-101B-9397-08002B2CF9AE}" pid="5" name="MSIP_Label_acbbd4a6-dc2f-44d9-ad2c-c28d4679873f_Name">
    <vt:lpwstr>No Label</vt:lpwstr>
  </property>
  <property fmtid="{D5CDD505-2E9C-101B-9397-08002B2CF9AE}" pid="6" name="MSIP_Label_acbbd4a6-dc2f-44d9-ad2c-c28d4679873f_SiteId">
    <vt:lpwstr>6d936231-a517-40ea-9199-f7578963378e</vt:lpwstr>
  </property>
  <property fmtid="{D5CDD505-2E9C-101B-9397-08002B2CF9AE}" pid="7" name="MSIP_Label_acbbd4a6-dc2f-44d9-ad2c-c28d4679873f_ActionId">
    <vt:lpwstr>ebd0ed1a-040b-43ae-ba52-46c1ef19081e</vt:lpwstr>
  </property>
  <property fmtid="{D5CDD505-2E9C-101B-9397-08002B2CF9AE}" pid="8" name="MSIP_Label_acbbd4a6-dc2f-44d9-ad2c-c28d4679873f_ContentBits">
    <vt:lpwstr>0</vt:lpwstr>
  </property>
  <property fmtid="{D5CDD505-2E9C-101B-9397-08002B2CF9AE}" pid="9" name="MSIP_Label_acbbd4a6-dc2f-44d9-ad2c-c28d4679873f_Tag">
    <vt:lpwstr>10, 3, 0, 1</vt:lpwstr>
  </property>
</Properties>
</file>